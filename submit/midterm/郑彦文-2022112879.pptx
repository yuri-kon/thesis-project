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EF7"/>
          </a:solidFill>
        </a:fill>
      </a:tcStyle>
    </a:wholeTbl>
    <a:band2H>
      <a:tcTxStyle b="def" i="def"/>
      <a:tcStyle>
        <a:tcBdr/>
        <a:fill>
          <a:solidFill>
            <a:srgbClr val="E7E8FB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BF9"/>
          </a:solidFill>
        </a:fill>
      </a:tcStyle>
    </a:wholeTbl>
    <a:band2H>
      <a:tcTxStyle b="def" i="def"/>
      <a:tcStyle>
        <a:tcBdr/>
        <a:fill>
          <a:solidFill>
            <a:srgbClr val="E9EEF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BCA"/>
          </a:solidFill>
        </a:fill>
      </a:tcStyle>
    </a:wholeTbl>
    <a:band2H>
      <a:tcTxStyle b="def" i="def"/>
      <a:tcStyle>
        <a:tcBdr/>
        <a:fill>
          <a:solidFill>
            <a:srgbClr val="FFEE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05"/>
          <c:y val="0.005"/>
          <c:w val="0.99"/>
          <c:h val="0.9875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区域 1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explosion val="0"/>
          <c:dPt>
            <c:idx val="0"/>
            <c:explosion val="0"/>
            <c:spPr>
              <a:solidFill>
                <a:schemeClr val="accent1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</c:dPt>
          <c:dPt>
            <c:idx val="1"/>
            <c:explosion val="0"/>
            <c:spPr>
              <a:solidFill>
                <a:schemeClr val="accent2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</c:dPt>
          <c:dLbls>
            <c:dLbl>
              <c:idx val="0"/>
              <c:numFmt formatCode="#,##0%" sourceLinked="0"/>
              <c:txPr>
                <a:bodyPr/>
                <a:lstStyle/>
                <a:p>
                  <a:pPr>
                    <a:defRPr b="0" i="0" strike="noStrike" sz="1000" u="non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#,##0%" sourceLinked="0"/>
              <c:txPr>
                <a:bodyPr/>
                <a:lstStyle/>
                <a:p>
                  <a:pPr>
                    <a:defRPr b="0" i="0" strike="noStrike" sz="1000" u="non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#,##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noFill/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</c:dLbls>
          <c:cat>
            <c:strRef>
              <c:f>Sheet1!$B$1:$C$1</c:f>
              <c:strCache>
                <c:ptCount val="2"/>
                <c:pt idx="0">
                  <c:v>已完成</c:v>
                </c:pt>
                <c:pt idx="1">
                  <c:v>未完成</c:v>
                </c:pt>
              </c:strCache>
            </c:strRef>
          </c:cat>
          <c:val>
            <c:numRef>
              <c:f>Sheet1!$B$2:$C$2</c:f>
              <c:numCache>
                <c:ptCount val="2"/>
                <c:pt idx="0">
                  <c:v>80.000000</c:v>
                </c:pt>
                <c:pt idx="1">
                  <c:v>20.000000</c:v>
                </c:pt>
              </c:numCache>
            </c:numRef>
          </c:val>
        </c:ser>
        <c:firstSliceAng val="0"/>
        <c:holeSize val="7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Shape 3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78978" y="6232198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chart" Target="../charts/char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2846" t="2254" r="3012" b="8961"/>
          <a:stretch>
            <a:fillRect/>
          </a:stretch>
        </p:blipFill>
        <p:spPr>
          <a:xfrm>
            <a:off x="-21591" y="0"/>
            <a:ext cx="12213592" cy="6870701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Text 0"/>
          <p:cNvSpPr txBox="1"/>
          <p:nvPr/>
        </p:nvSpPr>
        <p:spPr>
          <a:xfrm>
            <a:off x="1758315" y="1534161"/>
            <a:ext cx="8417561" cy="179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4800">
                <a:solidFill>
                  <a:srgbClr val="015DBB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基于大模型驱动的agent协作新一代蛋白质设计系统开发</a:t>
            </a:r>
          </a:p>
        </p:txBody>
      </p:sp>
      <p:sp>
        <p:nvSpPr>
          <p:cNvPr id="43" name="Shape 1"/>
          <p:cNvSpPr/>
          <p:nvPr/>
        </p:nvSpPr>
        <p:spPr>
          <a:xfrm>
            <a:off x="3490595" y="4424045"/>
            <a:ext cx="2311402" cy="502922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" name="Text 2"/>
          <p:cNvSpPr txBox="1"/>
          <p:nvPr/>
        </p:nvSpPr>
        <p:spPr>
          <a:xfrm>
            <a:off x="3453129" y="4476116"/>
            <a:ext cx="229425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汇报人：郑彦文</a:t>
            </a:r>
          </a:p>
        </p:txBody>
      </p:sp>
      <p:sp>
        <p:nvSpPr>
          <p:cNvPr id="45" name="Shape 3"/>
          <p:cNvSpPr/>
          <p:nvPr/>
        </p:nvSpPr>
        <p:spPr>
          <a:xfrm>
            <a:off x="6146165" y="4424045"/>
            <a:ext cx="2311402" cy="502922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6" name="Text 4"/>
          <p:cNvSpPr txBox="1"/>
          <p:nvPr/>
        </p:nvSpPr>
        <p:spPr>
          <a:xfrm>
            <a:off x="6156959" y="4476116"/>
            <a:ext cx="229425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导师：陈源龙</a:t>
            </a:r>
          </a:p>
        </p:txBody>
      </p:sp>
      <p:sp>
        <p:nvSpPr>
          <p:cNvPr id="47" name="Shape 5"/>
          <p:cNvSpPr/>
          <p:nvPr/>
        </p:nvSpPr>
        <p:spPr>
          <a:xfrm>
            <a:off x="892767" y="4728073"/>
            <a:ext cx="1142901" cy="723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79" y="773"/>
                </a:moveTo>
                <a:cubicBezTo>
                  <a:pt x="979" y="1200"/>
                  <a:pt x="760" y="1546"/>
                  <a:pt x="490" y="1546"/>
                </a:cubicBezTo>
                <a:cubicBezTo>
                  <a:pt x="219" y="1546"/>
                  <a:pt x="0" y="1200"/>
                  <a:pt x="0" y="773"/>
                </a:cubicBezTo>
                <a:cubicBezTo>
                  <a:pt x="0" y="346"/>
                  <a:pt x="219" y="0"/>
                  <a:pt x="490" y="0"/>
                </a:cubicBezTo>
                <a:cubicBezTo>
                  <a:pt x="760" y="0"/>
                  <a:pt x="979" y="346"/>
                  <a:pt x="979" y="772"/>
                </a:cubicBezTo>
                <a:cubicBezTo>
                  <a:pt x="979" y="773"/>
                  <a:pt x="979" y="773"/>
                  <a:pt x="979" y="773"/>
                </a:cubicBezTo>
                <a:close/>
                <a:moveTo>
                  <a:pt x="5104" y="773"/>
                </a:moveTo>
                <a:cubicBezTo>
                  <a:pt x="5104" y="1200"/>
                  <a:pt x="4884" y="1546"/>
                  <a:pt x="4614" y="1546"/>
                </a:cubicBezTo>
                <a:cubicBezTo>
                  <a:pt x="4344" y="1546"/>
                  <a:pt x="4124" y="1200"/>
                  <a:pt x="4124" y="773"/>
                </a:cubicBezTo>
                <a:cubicBezTo>
                  <a:pt x="4124" y="346"/>
                  <a:pt x="4344" y="0"/>
                  <a:pt x="4614" y="0"/>
                </a:cubicBezTo>
                <a:cubicBezTo>
                  <a:pt x="4884" y="1"/>
                  <a:pt x="5103" y="347"/>
                  <a:pt x="5104" y="773"/>
                </a:cubicBezTo>
                <a:close/>
                <a:moveTo>
                  <a:pt x="9227" y="773"/>
                </a:moveTo>
                <a:cubicBezTo>
                  <a:pt x="9227" y="1200"/>
                  <a:pt x="9008" y="1546"/>
                  <a:pt x="8737" y="1546"/>
                </a:cubicBezTo>
                <a:cubicBezTo>
                  <a:pt x="8467" y="1546"/>
                  <a:pt x="8248" y="1200"/>
                  <a:pt x="8248" y="773"/>
                </a:cubicBezTo>
                <a:cubicBezTo>
                  <a:pt x="8248" y="346"/>
                  <a:pt x="8467" y="0"/>
                  <a:pt x="8737" y="0"/>
                </a:cubicBezTo>
                <a:cubicBezTo>
                  <a:pt x="9008" y="0"/>
                  <a:pt x="9227" y="346"/>
                  <a:pt x="9227" y="772"/>
                </a:cubicBezTo>
                <a:cubicBezTo>
                  <a:pt x="9227" y="773"/>
                  <a:pt x="9227" y="773"/>
                  <a:pt x="9227" y="773"/>
                </a:cubicBezTo>
                <a:close/>
                <a:moveTo>
                  <a:pt x="13351" y="773"/>
                </a:moveTo>
                <a:cubicBezTo>
                  <a:pt x="13351" y="1200"/>
                  <a:pt x="13132" y="1546"/>
                  <a:pt x="12862" y="1546"/>
                </a:cubicBezTo>
                <a:cubicBezTo>
                  <a:pt x="12591" y="1546"/>
                  <a:pt x="12372" y="1200"/>
                  <a:pt x="12372" y="773"/>
                </a:cubicBezTo>
                <a:cubicBezTo>
                  <a:pt x="12372" y="346"/>
                  <a:pt x="12591" y="0"/>
                  <a:pt x="12862" y="0"/>
                </a:cubicBezTo>
                <a:cubicBezTo>
                  <a:pt x="13132" y="0"/>
                  <a:pt x="13351" y="346"/>
                  <a:pt x="13351" y="772"/>
                </a:cubicBezTo>
                <a:cubicBezTo>
                  <a:pt x="13351" y="773"/>
                  <a:pt x="13351" y="773"/>
                  <a:pt x="13351" y="773"/>
                </a:cubicBezTo>
                <a:close/>
                <a:moveTo>
                  <a:pt x="17476" y="773"/>
                </a:moveTo>
                <a:cubicBezTo>
                  <a:pt x="17476" y="1200"/>
                  <a:pt x="17256" y="1546"/>
                  <a:pt x="16986" y="1546"/>
                </a:cubicBezTo>
                <a:cubicBezTo>
                  <a:pt x="16716" y="1546"/>
                  <a:pt x="16496" y="1200"/>
                  <a:pt x="16496" y="773"/>
                </a:cubicBezTo>
                <a:cubicBezTo>
                  <a:pt x="16496" y="346"/>
                  <a:pt x="16716" y="0"/>
                  <a:pt x="16986" y="0"/>
                </a:cubicBezTo>
                <a:cubicBezTo>
                  <a:pt x="17256" y="0"/>
                  <a:pt x="17476" y="346"/>
                  <a:pt x="17476" y="772"/>
                </a:cubicBezTo>
                <a:cubicBezTo>
                  <a:pt x="17476" y="773"/>
                  <a:pt x="17476" y="773"/>
                  <a:pt x="17476" y="773"/>
                </a:cubicBezTo>
                <a:close/>
                <a:moveTo>
                  <a:pt x="21600" y="773"/>
                </a:moveTo>
                <a:cubicBezTo>
                  <a:pt x="21600" y="1200"/>
                  <a:pt x="21381" y="1546"/>
                  <a:pt x="21110" y="1546"/>
                </a:cubicBezTo>
                <a:cubicBezTo>
                  <a:pt x="20840" y="1546"/>
                  <a:pt x="20621" y="1200"/>
                  <a:pt x="20621" y="773"/>
                </a:cubicBezTo>
                <a:cubicBezTo>
                  <a:pt x="20621" y="346"/>
                  <a:pt x="20840" y="0"/>
                  <a:pt x="21110" y="0"/>
                </a:cubicBezTo>
                <a:cubicBezTo>
                  <a:pt x="21381" y="1"/>
                  <a:pt x="21600" y="347"/>
                  <a:pt x="21600" y="773"/>
                </a:cubicBezTo>
                <a:close/>
                <a:moveTo>
                  <a:pt x="979" y="5787"/>
                </a:moveTo>
                <a:cubicBezTo>
                  <a:pt x="979" y="6214"/>
                  <a:pt x="760" y="6560"/>
                  <a:pt x="490" y="6560"/>
                </a:cubicBezTo>
                <a:cubicBezTo>
                  <a:pt x="219" y="6560"/>
                  <a:pt x="0" y="6214"/>
                  <a:pt x="0" y="5787"/>
                </a:cubicBezTo>
                <a:cubicBezTo>
                  <a:pt x="0" y="5360"/>
                  <a:pt x="219" y="5014"/>
                  <a:pt x="490" y="5014"/>
                </a:cubicBezTo>
                <a:cubicBezTo>
                  <a:pt x="760" y="5013"/>
                  <a:pt x="979" y="5359"/>
                  <a:pt x="979" y="5786"/>
                </a:cubicBezTo>
                <a:cubicBezTo>
                  <a:pt x="979" y="5786"/>
                  <a:pt x="979" y="5786"/>
                  <a:pt x="979" y="5787"/>
                </a:cubicBezTo>
                <a:close/>
                <a:moveTo>
                  <a:pt x="5104" y="5787"/>
                </a:moveTo>
                <a:cubicBezTo>
                  <a:pt x="5104" y="6214"/>
                  <a:pt x="4884" y="6560"/>
                  <a:pt x="4614" y="6560"/>
                </a:cubicBezTo>
                <a:cubicBezTo>
                  <a:pt x="4344" y="6560"/>
                  <a:pt x="4124" y="6214"/>
                  <a:pt x="4124" y="5787"/>
                </a:cubicBezTo>
                <a:cubicBezTo>
                  <a:pt x="4124" y="5360"/>
                  <a:pt x="4344" y="5014"/>
                  <a:pt x="4614" y="5014"/>
                </a:cubicBezTo>
                <a:cubicBezTo>
                  <a:pt x="4884" y="5014"/>
                  <a:pt x="5103" y="5360"/>
                  <a:pt x="5104" y="5787"/>
                </a:cubicBezTo>
                <a:close/>
                <a:moveTo>
                  <a:pt x="9227" y="5787"/>
                </a:moveTo>
                <a:cubicBezTo>
                  <a:pt x="9227" y="6214"/>
                  <a:pt x="9008" y="6560"/>
                  <a:pt x="8737" y="6560"/>
                </a:cubicBezTo>
                <a:cubicBezTo>
                  <a:pt x="8467" y="6560"/>
                  <a:pt x="8248" y="6214"/>
                  <a:pt x="8248" y="5787"/>
                </a:cubicBezTo>
                <a:cubicBezTo>
                  <a:pt x="8248" y="5360"/>
                  <a:pt x="8467" y="5014"/>
                  <a:pt x="8737" y="5014"/>
                </a:cubicBezTo>
                <a:cubicBezTo>
                  <a:pt x="9008" y="5013"/>
                  <a:pt x="9227" y="5359"/>
                  <a:pt x="9227" y="5786"/>
                </a:cubicBezTo>
                <a:cubicBezTo>
                  <a:pt x="9227" y="5786"/>
                  <a:pt x="9227" y="5786"/>
                  <a:pt x="9227" y="5787"/>
                </a:cubicBezTo>
                <a:close/>
                <a:moveTo>
                  <a:pt x="13351" y="5787"/>
                </a:moveTo>
                <a:cubicBezTo>
                  <a:pt x="13351" y="6214"/>
                  <a:pt x="13132" y="6560"/>
                  <a:pt x="12862" y="6560"/>
                </a:cubicBezTo>
                <a:cubicBezTo>
                  <a:pt x="12591" y="6560"/>
                  <a:pt x="12372" y="6214"/>
                  <a:pt x="12372" y="5787"/>
                </a:cubicBezTo>
                <a:cubicBezTo>
                  <a:pt x="12372" y="5360"/>
                  <a:pt x="12591" y="5014"/>
                  <a:pt x="12862" y="5014"/>
                </a:cubicBezTo>
                <a:cubicBezTo>
                  <a:pt x="13132" y="5013"/>
                  <a:pt x="13351" y="5359"/>
                  <a:pt x="13351" y="5786"/>
                </a:cubicBezTo>
                <a:cubicBezTo>
                  <a:pt x="13351" y="5786"/>
                  <a:pt x="13351" y="5786"/>
                  <a:pt x="13351" y="5787"/>
                </a:cubicBezTo>
                <a:close/>
                <a:moveTo>
                  <a:pt x="17476" y="5787"/>
                </a:moveTo>
                <a:cubicBezTo>
                  <a:pt x="17476" y="6214"/>
                  <a:pt x="17256" y="6560"/>
                  <a:pt x="16986" y="6560"/>
                </a:cubicBezTo>
                <a:cubicBezTo>
                  <a:pt x="16716" y="6560"/>
                  <a:pt x="16496" y="6214"/>
                  <a:pt x="16496" y="5787"/>
                </a:cubicBezTo>
                <a:cubicBezTo>
                  <a:pt x="16496" y="5360"/>
                  <a:pt x="16716" y="5014"/>
                  <a:pt x="16986" y="5014"/>
                </a:cubicBezTo>
                <a:cubicBezTo>
                  <a:pt x="17256" y="5013"/>
                  <a:pt x="17476" y="5359"/>
                  <a:pt x="17476" y="5786"/>
                </a:cubicBezTo>
                <a:cubicBezTo>
                  <a:pt x="17476" y="5786"/>
                  <a:pt x="17476" y="5786"/>
                  <a:pt x="17476" y="5787"/>
                </a:cubicBezTo>
                <a:close/>
                <a:moveTo>
                  <a:pt x="21600" y="5787"/>
                </a:moveTo>
                <a:cubicBezTo>
                  <a:pt x="21600" y="6214"/>
                  <a:pt x="21381" y="6560"/>
                  <a:pt x="21110" y="6560"/>
                </a:cubicBezTo>
                <a:cubicBezTo>
                  <a:pt x="20840" y="6560"/>
                  <a:pt x="20621" y="6214"/>
                  <a:pt x="20621" y="5787"/>
                </a:cubicBezTo>
                <a:cubicBezTo>
                  <a:pt x="20621" y="5360"/>
                  <a:pt x="20840" y="5014"/>
                  <a:pt x="21110" y="5014"/>
                </a:cubicBezTo>
                <a:cubicBezTo>
                  <a:pt x="21381" y="5014"/>
                  <a:pt x="21600" y="5360"/>
                  <a:pt x="21600" y="5787"/>
                </a:cubicBezTo>
                <a:close/>
                <a:moveTo>
                  <a:pt x="979" y="10800"/>
                </a:moveTo>
                <a:cubicBezTo>
                  <a:pt x="979" y="11227"/>
                  <a:pt x="760" y="11573"/>
                  <a:pt x="490" y="11573"/>
                </a:cubicBezTo>
                <a:cubicBezTo>
                  <a:pt x="219" y="11573"/>
                  <a:pt x="0" y="11227"/>
                  <a:pt x="0" y="10800"/>
                </a:cubicBezTo>
                <a:cubicBezTo>
                  <a:pt x="0" y="10373"/>
                  <a:pt x="219" y="10027"/>
                  <a:pt x="490" y="10027"/>
                </a:cubicBezTo>
                <a:cubicBezTo>
                  <a:pt x="760" y="10027"/>
                  <a:pt x="979" y="10373"/>
                  <a:pt x="979" y="10799"/>
                </a:cubicBezTo>
                <a:cubicBezTo>
                  <a:pt x="979" y="10800"/>
                  <a:pt x="979" y="10800"/>
                  <a:pt x="979" y="10800"/>
                </a:cubicBezTo>
                <a:close/>
                <a:moveTo>
                  <a:pt x="5104" y="10800"/>
                </a:moveTo>
                <a:cubicBezTo>
                  <a:pt x="5104" y="11227"/>
                  <a:pt x="4884" y="11573"/>
                  <a:pt x="4614" y="11573"/>
                </a:cubicBezTo>
                <a:cubicBezTo>
                  <a:pt x="4344" y="11573"/>
                  <a:pt x="4124" y="11227"/>
                  <a:pt x="4124" y="10800"/>
                </a:cubicBezTo>
                <a:cubicBezTo>
                  <a:pt x="4124" y="10373"/>
                  <a:pt x="4344" y="10027"/>
                  <a:pt x="4614" y="10027"/>
                </a:cubicBezTo>
                <a:cubicBezTo>
                  <a:pt x="4884" y="10028"/>
                  <a:pt x="5103" y="10373"/>
                  <a:pt x="5104" y="10800"/>
                </a:cubicBezTo>
                <a:close/>
                <a:moveTo>
                  <a:pt x="9227" y="10800"/>
                </a:moveTo>
                <a:cubicBezTo>
                  <a:pt x="9227" y="11227"/>
                  <a:pt x="9008" y="11573"/>
                  <a:pt x="8737" y="11573"/>
                </a:cubicBezTo>
                <a:cubicBezTo>
                  <a:pt x="8467" y="11573"/>
                  <a:pt x="8248" y="11227"/>
                  <a:pt x="8248" y="10800"/>
                </a:cubicBezTo>
                <a:cubicBezTo>
                  <a:pt x="8248" y="10373"/>
                  <a:pt x="8467" y="10027"/>
                  <a:pt x="8737" y="10027"/>
                </a:cubicBezTo>
                <a:cubicBezTo>
                  <a:pt x="9008" y="10027"/>
                  <a:pt x="9227" y="10373"/>
                  <a:pt x="9227" y="10799"/>
                </a:cubicBezTo>
                <a:cubicBezTo>
                  <a:pt x="9227" y="10800"/>
                  <a:pt x="9227" y="10800"/>
                  <a:pt x="9227" y="10800"/>
                </a:cubicBezTo>
                <a:close/>
                <a:moveTo>
                  <a:pt x="13351" y="10800"/>
                </a:moveTo>
                <a:cubicBezTo>
                  <a:pt x="13351" y="11227"/>
                  <a:pt x="13132" y="11573"/>
                  <a:pt x="12862" y="11573"/>
                </a:cubicBezTo>
                <a:cubicBezTo>
                  <a:pt x="12591" y="11573"/>
                  <a:pt x="12372" y="11227"/>
                  <a:pt x="12372" y="10800"/>
                </a:cubicBezTo>
                <a:cubicBezTo>
                  <a:pt x="12372" y="10373"/>
                  <a:pt x="12591" y="10027"/>
                  <a:pt x="12862" y="10027"/>
                </a:cubicBezTo>
                <a:cubicBezTo>
                  <a:pt x="13132" y="10027"/>
                  <a:pt x="13351" y="10373"/>
                  <a:pt x="13351" y="10799"/>
                </a:cubicBezTo>
                <a:cubicBezTo>
                  <a:pt x="13351" y="10800"/>
                  <a:pt x="13351" y="10800"/>
                  <a:pt x="13351" y="10800"/>
                </a:cubicBezTo>
                <a:close/>
                <a:moveTo>
                  <a:pt x="17476" y="10800"/>
                </a:moveTo>
                <a:cubicBezTo>
                  <a:pt x="17476" y="11227"/>
                  <a:pt x="17256" y="11573"/>
                  <a:pt x="16986" y="11573"/>
                </a:cubicBezTo>
                <a:cubicBezTo>
                  <a:pt x="16716" y="11573"/>
                  <a:pt x="16496" y="11227"/>
                  <a:pt x="16496" y="10800"/>
                </a:cubicBezTo>
                <a:cubicBezTo>
                  <a:pt x="16496" y="10373"/>
                  <a:pt x="16716" y="10027"/>
                  <a:pt x="16986" y="10027"/>
                </a:cubicBezTo>
                <a:cubicBezTo>
                  <a:pt x="17256" y="10027"/>
                  <a:pt x="17476" y="10373"/>
                  <a:pt x="17476" y="10799"/>
                </a:cubicBezTo>
                <a:cubicBezTo>
                  <a:pt x="17476" y="10800"/>
                  <a:pt x="17476" y="10800"/>
                  <a:pt x="17476" y="10800"/>
                </a:cubicBezTo>
                <a:close/>
                <a:moveTo>
                  <a:pt x="21600" y="10800"/>
                </a:moveTo>
                <a:cubicBezTo>
                  <a:pt x="21600" y="11227"/>
                  <a:pt x="21381" y="11573"/>
                  <a:pt x="21110" y="11573"/>
                </a:cubicBezTo>
                <a:cubicBezTo>
                  <a:pt x="20840" y="11573"/>
                  <a:pt x="20621" y="11227"/>
                  <a:pt x="20621" y="10800"/>
                </a:cubicBezTo>
                <a:cubicBezTo>
                  <a:pt x="20621" y="10373"/>
                  <a:pt x="20840" y="10027"/>
                  <a:pt x="21110" y="10027"/>
                </a:cubicBezTo>
                <a:cubicBezTo>
                  <a:pt x="21381" y="10028"/>
                  <a:pt x="21600" y="10373"/>
                  <a:pt x="21600" y="10800"/>
                </a:cubicBezTo>
                <a:close/>
                <a:moveTo>
                  <a:pt x="979" y="15814"/>
                </a:moveTo>
                <a:cubicBezTo>
                  <a:pt x="979" y="16240"/>
                  <a:pt x="760" y="16587"/>
                  <a:pt x="490" y="16587"/>
                </a:cubicBezTo>
                <a:cubicBezTo>
                  <a:pt x="219" y="16587"/>
                  <a:pt x="0" y="16240"/>
                  <a:pt x="0" y="15814"/>
                </a:cubicBezTo>
                <a:cubicBezTo>
                  <a:pt x="0" y="15387"/>
                  <a:pt x="219" y="15041"/>
                  <a:pt x="490" y="15041"/>
                </a:cubicBezTo>
                <a:cubicBezTo>
                  <a:pt x="760" y="15040"/>
                  <a:pt x="979" y="15386"/>
                  <a:pt x="979" y="15813"/>
                </a:cubicBezTo>
                <a:cubicBezTo>
                  <a:pt x="979" y="15813"/>
                  <a:pt x="979" y="15813"/>
                  <a:pt x="979" y="15814"/>
                </a:cubicBezTo>
                <a:close/>
                <a:moveTo>
                  <a:pt x="5104" y="15814"/>
                </a:moveTo>
                <a:cubicBezTo>
                  <a:pt x="5104" y="16240"/>
                  <a:pt x="4884" y="16587"/>
                  <a:pt x="4614" y="16587"/>
                </a:cubicBezTo>
                <a:cubicBezTo>
                  <a:pt x="4344" y="16587"/>
                  <a:pt x="4124" y="16240"/>
                  <a:pt x="4124" y="15814"/>
                </a:cubicBezTo>
                <a:cubicBezTo>
                  <a:pt x="4124" y="15387"/>
                  <a:pt x="4344" y="15041"/>
                  <a:pt x="4614" y="15041"/>
                </a:cubicBezTo>
                <a:cubicBezTo>
                  <a:pt x="4884" y="15041"/>
                  <a:pt x="5103" y="15387"/>
                  <a:pt x="5104" y="15814"/>
                </a:cubicBezTo>
                <a:close/>
                <a:moveTo>
                  <a:pt x="9227" y="15814"/>
                </a:moveTo>
                <a:cubicBezTo>
                  <a:pt x="9227" y="16240"/>
                  <a:pt x="9008" y="16587"/>
                  <a:pt x="8737" y="16587"/>
                </a:cubicBezTo>
                <a:cubicBezTo>
                  <a:pt x="8467" y="16587"/>
                  <a:pt x="8248" y="16240"/>
                  <a:pt x="8248" y="15814"/>
                </a:cubicBezTo>
                <a:cubicBezTo>
                  <a:pt x="8248" y="15387"/>
                  <a:pt x="8467" y="15041"/>
                  <a:pt x="8737" y="15041"/>
                </a:cubicBezTo>
                <a:cubicBezTo>
                  <a:pt x="9008" y="15040"/>
                  <a:pt x="9227" y="15386"/>
                  <a:pt x="9227" y="15813"/>
                </a:cubicBezTo>
                <a:cubicBezTo>
                  <a:pt x="9227" y="15813"/>
                  <a:pt x="9227" y="15813"/>
                  <a:pt x="9227" y="15814"/>
                </a:cubicBezTo>
                <a:close/>
                <a:moveTo>
                  <a:pt x="13351" y="15814"/>
                </a:moveTo>
                <a:cubicBezTo>
                  <a:pt x="13351" y="16240"/>
                  <a:pt x="13132" y="16587"/>
                  <a:pt x="12862" y="16587"/>
                </a:cubicBezTo>
                <a:cubicBezTo>
                  <a:pt x="12591" y="16587"/>
                  <a:pt x="12372" y="16240"/>
                  <a:pt x="12372" y="15814"/>
                </a:cubicBezTo>
                <a:cubicBezTo>
                  <a:pt x="12372" y="15387"/>
                  <a:pt x="12591" y="15041"/>
                  <a:pt x="12862" y="15041"/>
                </a:cubicBezTo>
                <a:cubicBezTo>
                  <a:pt x="13132" y="15040"/>
                  <a:pt x="13351" y="15386"/>
                  <a:pt x="13351" y="15813"/>
                </a:cubicBezTo>
                <a:cubicBezTo>
                  <a:pt x="13351" y="15813"/>
                  <a:pt x="13351" y="15813"/>
                  <a:pt x="13351" y="15814"/>
                </a:cubicBezTo>
                <a:close/>
                <a:moveTo>
                  <a:pt x="17476" y="15814"/>
                </a:moveTo>
                <a:cubicBezTo>
                  <a:pt x="17476" y="16240"/>
                  <a:pt x="17256" y="16587"/>
                  <a:pt x="16986" y="16587"/>
                </a:cubicBezTo>
                <a:cubicBezTo>
                  <a:pt x="16716" y="16587"/>
                  <a:pt x="16496" y="16240"/>
                  <a:pt x="16496" y="15814"/>
                </a:cubicBezTo>
                <a:cubicBezTo>
                  <a:pt x="16496" y="15387"/>
                  <a:pt x="16716" y="15041"/>
                  <a:pt x="16986" y="15041"/>
                </a:cubicBezTo>
                <a:cubicBezTo>
                  <a:pt x="17256" y="15040"/>
                  <a:pt x="17476" y="15386"/>
                  <a:pt x="17476" y="15813"/>
                </a:cubicBezTo>
                <a:cubicBezTo>
                  <a:pt x="17476" y="15813"/>
                  <a:pt x="17476" y="15813"/>
                  <a:pt x="17476" y="15814"/>
                </a:cubicBezTo>
                <a:close/>
                <a:moveTo>
                  <a:pt x="21600" y="15814"/>
                </a:moveTo>
                <a:cubicBezTo>
                  <a:pt x="21600" y="16240"/>
                  <a:pt x="21381" y="16587"/>
                  <a:pt x="21110" y="16587"/>
                </a:cubicBezTo>
                <a:cubicBezTo>
                  <a:pt x="20840" y="16587"/>
                  <a:pt x="20621" y="16240"/>
                  <a:pt x="20621" y="15814"/>
                </a:cubicBezTo>
                <a:cubicBezTo>
                  <a:pt x="20621" y="15387"/>
                  <a:pt x="20840" y="15041"/>
                  <a:pt x="21110" y="15041"/>
                </a:cubicBezTo>
                <a:cubicBezTo>
                  <a:pt x="21381" y="15041"/>
                  <a:pt x="21600" y="15387"/>
                  <a:pt x="21600" y="15814"/>
                </a:cubicBezTo>
                <a:close/>
                <a:moveTo>
                  <a:pt x="979" y="20827"/>
                </a:moveTo>
                <a:cubicBezTo>
                  <a:pt x="979" y="21254"/>
                  <a:pt x="760" y="21600"/>
                  <a:pt x="490" y="21600"/>
                </a:cubicBezTo>
                <a:cubicBezTo>
                  <a:pt x="219" y="21600"/>
                  <a:pt x="0" y="21254"/>
                  <a:pt x="0" y="20827"/>
                </a:cubicBezTo>
                <a:cubicBezTo>
                  <a:pt x="0" y="20400"/>
                  <a:pt x="219" y="20054"/>
                  <a:pt x="490" y="20054"/>
                </a:cubicBezTo>
                <a:cubicBezTo>
                  <a:pt x="760" y="20054"/>
                  <a:pt x="979" y="20400"/>
                  <a:pt x="979" y="20826"/>
                </a:cubicBezTo>
                <a:cubicBezTo>
                  <a:pt x="979" y="20826"/>
                  <a:pt x="979" y="20827"/>
                  <a:pt x="979" y="20827"/>
                </a:cubicBezTo>
                <a:close/>
                <a:moveTo>
                  <a:pt x="5104" y="20827"/>
                </a:moveTo>
                <a:cubicBezTo>
                  <a:pt x="5104" y="21254"/>
                  <a:pt x="4884" y="21600"/>
                  <a:pt x="4614" y="21600"/>
                </a:cubicBezTo>
                <a:cubicBezTo>
                  <a:pt x="4344" y="21600"/>
                  <a:pt x="4124" y="21254"/>
                  <a:pt x="4124" y="20827"/>
                </a:cubicBezTo>
                <a:cubicBezTo>
                  <a:pt x="4124" y="20400"/>
                  <a:pt x="4344" y="20054"/>
                  <a:pt x="4614" y="20054"/>
                </a:cubicBezTo>
                <a:cubicBezTo>
                  <a:pt x="4884" y="20054"/>
                  <a:pt x="5103" y="20400"/>
                  <a:pt x="5104" y="20827"/>
                </a:cubicBezTo>
                <a:close/>
                <a:moveTo>
                  <a:pt x="9227" y="20827"/>
                </a:moveTo>
                <a:cubicBezTo>
                  <a:pt x="9227" y="21254"/>
                  <a:pt x="9008" y="21600"/>
                  <a:pt x="8737" y="21600"/>
                </a:cubicBezTo>
                <a:cubicBezTo>
                  <a:pt x="8467" y="21600"/>
                  <a:pt x="8248" y="21254"/>
                  <a:pt x="8248" y="20827"/>
                </a:cubicBezTo>
                <a:cubicBezTo>
                  <a:pt x="8248" y="20400"/>
                  <a:pt x="8467" y="20054"/>
                  <a:pt x="8737" y="20054"/>
                </a:cubicBezTo>
                <a:cubicBezTo>
                  <a:pt x="9008" y="20054"/>
                  <a:pt x="9227" y="20400"/>
                  <a:pt x="9227" y="20826"/>
                </a:cubicBezTo>
                <a:cubicBezTo>
                  <a:pt x="9227" y="20826"/>
                  <a:pt x="9227" y="20827"/>
                  <a:pt x="9227" y="20827"/>
                </a:cubicBezTo>
                <a:close/>
                <a:moveTo>
                  <a:pt x="13351" y="20827"/>
                </a:moveTo>
                <a:cubicBezTo>
                  <a:pt x="13351" y="21254"/>
                  <a:pt x="13132" y="21600"/>
                  <a:pt x="12862" y="21600"/>
                </a:cubicBezTo>
                <a:cubicBezTo>
                  <a:pt x="12591" y="21600"/>
                  <a:pt x="12372" y="21254"/>
                  <a:pt x="12372" y="20827"/>
                </a:cubicBezTo>
                <a:cubicBezTo>
                  <a:pt x="12372" y="20400"/>
                  <a:pt x="12591" y="20054"/>
                  <a:pt x="12862" y="20054"/>
                </a:cubicBezTo>
                <a:cubicBezTo>
                  <a:pt x="13132" y="20054"/>
                  <a:pt x="13351" y="20400"/>
                  <a:pt x="13351" y="20826"/>
                </a:cubicBezTo>
                <a:cubicBezTo>
                  <a:pt x="13351" y="20826"/>
                  <a:pt x="13351" y="20827"/>
                  <a:pt x="13351" y="20827"/>
                </a:cubicBezTo>
                <a:close/>
                <a:moveTo>
                  <a:pt x="17476" y="20827"/>
                </a:moveTo>
                <a:cubicBezTo>
                  <a:pt x="17476" y="21254"/>
                  <a:pt x="17256" y="21600"/>
                  <a:pt x="16986" y="21600"/>
                </a:cubicBezTo>
                <a:cubicBezTo>
                  <a:pt x="16716" y="21600"/>
                  <a:pt x="16496" y="21254"/>
                  <a:pt x="16496" y="20827"/>
                </a:cubicBezTo>
                <a:cubicBezTo>
                  <a:pt x="16496" y="20400"/>
                  <a:pt x="16716" y="20054"/>
                  <a:pt x="16986" y="20054"/>
                </a:cubicBezTo>
                <a:cubicBezTo>
                  <a:pt x="17256" y="20054"/>
                  <a:pt x="17476" y="20400"/>
                  <a:pt x="17476" y="20826"/>
                </a:cubicBezTo>
                <a:cubicBezTo>
                  <a:pt x="17476" y="20826"/>
                  <a:pt x="17476" y="20827"/>
                  <a:pt x="17476" y="20827"/>
                </a:cubicBezTo>
                <a:close/>
                <a:moveTo>
                  <a:pt x="21600" y="20827"/>
                </a:moveTo>
                <a:cubicBezTo>
                  <a:pt x="21600" y="21254"/>
                  <a:pt x="21381" y="21600"/>
                  <a:pt x="21110" y="21600"/>
                </a:cubicBezTo>
                <a:cubicBezTo>
                  <a:pt x="20840" y="21600"/>
                  <a:pt x="20621" y="21254"/>
                  <a:pt x="20621" y="20827"/>
                </a:cubicBezTo>
                <a:cubicBezTo>
                  <a:pt x="20621" y="20400"/>
                  <a:pt x="20840" y="20054"/>
                  <a:pt x="21110" y="20054"/>
                </a:cubicBezTo>
                <a:cubicBezTo>
                  <a:pt x="21381" y="20054"/>
                  <a:pt x="21600" y="20400"/>
                  <a:pt x="21600" y="20827"/>
                </a:cubicBezTo>
                <a:close/>
              </a:path>
            </a:pathLst>
          </a:cu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8" name="Shape 6"/>
          <p:cNvSpPr/>
          <p:nvPr/>
        </p:nvSpPr>
        <p:spPr>
          <a:xfrm>
            <a:off x="10229173" y="1569582"/>
            <a:ext cx="1142901" cy="723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79" y="773"/>
                </a:moveTo>
                <a:cubicBezTo>
                  <a:pt x="979" y="1200"/>
                  <a:pt x="760" y="1546"/>
                  <a:pt x="490" y="1546"/>
                </a:cubicBezTo>
                <a:cubicBezTo>
                  <a:pt x="219" y="1546"/>
                  <a:pt x="0" y="1200"/>
                  <a:pt x="0" y="773"/>
                </a:cubicBezTo>
                <a:cubicBezTo>
                  <a:pt x="0" y="346"/>
                  <a:pt x="219" y="0"/>
                  <a:pt x="490" y="0"/>
                </a:cubicBezTo>
                <a:cubicBezTo>
                  <a:pt x="760" y="0"/>
                  <a:pt x="979" y="346"/>
                  <a:pt x="979" y="772"/>
                </a:cubicBezTo>
                <a:cubicBezTo>
                  <a:pt x="979" y="773"/>
                  <a:pt x="979" y="773"/>
                  <a:pt x="979" y="773"/>
                </a:cubicBezTo>
                <a:close/>
                <a:moveTo>
                  <a:pt x="5104" y="773"/>
                </a:moveTo>
                <a:cubicBezTo>
                  <a:pt x="5104" y="1200"/>
                  <a:pt x="4884" y="1546"/>
                  <a:pt x="4614" y="1546"/>
                </a:cubicBezTo>
                <a:cubicBezTo>
                  <a:pt x="4344" y="1546"/>
                  <a:pt x="4124" y="1200"/>
                  <a:pt x="4124" y="773"/>
                </a:cubicBezTo>
                <a:cubicBezTo>
                  <a:pt x="4124" y="346"/>
                  <a:pt x="4344" y="0"/>
                  <a:pt x="4614" y="0"/>
                </a:cubicBezTo>
                <a:cubicBezTo>
                  <a:pt x="4884" y="1"/>
                  <a:pt x="5103" y="347"/>
                  <a:pt x="5104" y="773"/>
                </a:cubicBezTo>
                <a:close/>
                <a:moveTo>
                  <a:pt x="9227" y="773"/>
                </a:moveTo>
                <a:cubicBezTo>
                  <a:pt x="9227" y="1200"/>
                  <a:pt x="9008" y="1546"/>
                  <a:pt x="8737" y="1546"/>
                </a:cubicBezTo>
                <a:cubicBezTo>
                  <a:pt x="8467" y="1546"/>
                  <a:pt x="8248" y="1200"/>
                  <a:pt x="8248" y="773"/>
                </a:cubicBezTo>
                <a:cubicBezTo>
                  <a:pt x="8248" y="346"/>
                  <a:pt x="8467" y="0"/>
                  <a:pt x="8737" y="0"/>
                </a:cubicBezTo>
                <a:cubicBezTo>
                  <a:pt x="9008" y="0"/>
                  <a:pt x="9227" y="346"/>
                  <a:pt x="9227" y="772"/>
                </a:cubicBezTo>
                <a:cubicBezTo>
                  <a:pt x="9227" y="773"/>
                  <a:pt x="9227" y="773"/>
                  <a:pt x="9227" y="773"/>
                </a:cubicBezTo>
                <a:close/>
                <a:moveTo>
                  <a:pt x="13351" y="773"/>
                </a:moveTo>
                <a:cubicBezTo>
                  <a:pt x="13351" y="1200"/>
                  <a:pt x="13132" y="1546"/>
                  <a:pt x="12862" y="1546"/>
                </a:cubicBezTo>
                <a:cubicBezTo>
                  <a:pt x="12591" y="1546"/>
                  <a:pt x="12372" y="1200"/>
                  <a:pt x="12372" y="773"/>
                </a:cubicBezTo>
                <a:cubicBezTo>
                  <a:pt x="12372" y="346"/>
                  <a:pt x="12591" y="0"/>
                  <a:pt x="12862" y="0"/>
                </a:cubicBezTo>
                <a:cubicBezTo>
                  <a:pt x="13132" y="0"/>
                  <a:pt x="13351" y="346"/>
                  <a:pt x="13351" y="772"/>
                </a:cubicBezTo>
                <a:cubicBezTo>
                  <a:pt x="13351" y="773"/>
                  <a:pt x="13351" y="773"/>
                  <a:pt x="13351" y="773"/>
                </a:cubicBezTo>
                <a:close/>
                <a:moveTo>
                  <a:pt x="17476" y="773"/>
                </a:moveTo>
                <a:cubicBezTo>
                  <a:pt x="17476" y="1200"/>
                  <a:pt x="17256" y="1546"/>
                  <a:pt x="16986" y="1546"/>
                </a:cubicBezTo>
                <a:cubicBezTo>
                  <a:pt x="16716" y="1546"/>
                  <a:pt x="16496" y="1200"/>
                  <a:pt x="16496" y="773"/>
                </a:cubicBezTo>
                <a:cubicBezTo>
                  <a:pt x="16496" y="346"/>
                  <a:pt x="16716" y="0"/>
                  <a:pt x="16986" y="0"/>
                </a:cubicBezTo>
                <a:cubicBezTo>
                  <a:pt x="17256" y="0"/>
                  <a:pt x="17476" y="346"/>
                  <a:pt x="17476" y="772"/>
                </a:cubicBezTo>
                <a:cubicBezTo>
                  <a:pt x="17476" y="773"/>
                  <a:pt x="17476" y="773"/>
                  <a:pt x="17476" y="773"/>
                </a:cubicBezTo>
                <a:close/>
                <a:moveTo>
                  <a:pt x="21600" y="773"/>
                </a:moveTo>
                <a:cubicBezTo>
                  <a:pt x="21600" y="1200"/>
                  <a:pt x="21381" y="1546"/>
                  <a:pt x="21110" y="1546"/>
                </a:cubicBezTo>
                <a:cubicBezTo>
                  <a:pt x="20840" y="1546"/>
                  <a:pt x="20621" y="1200"/>
                  <a:pt x="20621" y="773"/>
                </a:cubicBezTo>
                <a:cubicBezTo>
                  <a:pt x="20621" y="346"/>
                  <a:pt x="20840" y="0"/>
                  <a:pt x="21110" y="0"/>
                </a:cubicBezTo>
                <a:cubicBezTo>
                  <a:pt x="21381" y="1"/>
                  <a:pt x="21600" y="347"/>
                  <a:pt x="21600" y="773"/>
                </a:cubicBezTo>
                <a:close/>
                <a:moveTo>
                  <a:pt x="979" y="5787"/>
                </a:moveTo>
                <a:cubicBezTo>
                  <a:pt x="979" y="6214"/>
                  <a:pt x="760" y="6560"/>
                  <a:pt x="490" y="6560"/>
                </a:cubicBezTo>
                <a:cubicBezTo>
                  <a:pt x="219" y="6560"/>
                  <a:pt x="0" y="6214"/>
                  <a:pt x="0" y="5787"/>
                </a:cubicBezTo>
                <a:cubicBezTo>
                  <a:pt x="0" y="5360"/>
                  <a:pt x="219" y="5014"/>
                  <a:pt x="490" y="5014"/>
                </a:cubicBezTo>
                <a:cubicBezTo>
                  <a:pt x="760" y="5013"/>
                  <a:pt x="979" y="5359"/>
                  <a:pt x="979" y="5786"/>
                </a:cubicBezTo>
                <a:cubicBezTo>
                  <a:pt x="979" y="5786"/>
                  <a:pt x="979" y="5786"/>
                  <a:pt x="979" y="5787"/>
                </a:cubicBezTo>
                <a:close/>
                <a:moveTo>
                  <a:pt x="5104" y="5787"/>
                </a:moveTo>
                <a:cubicBezTo>
                  <a:pt x="5104" y="6214"/>
                  <a:pt x="4884" y="6560"/>
                  <a:pt x="4614" y="6560"/>
                </a:cubicBezTo>
                <a:cubicBezTo>
                  <a:pt x="4344" y="6560"/>
                  <a:pt x="4124" y="6214"/>
                  <a:pt x="4124" y="5787"/>
                </a:cubicBezTo>
                <a:cubicBezTo>
                  <a:pt x="4124" y="5360"/>
                  <a:pt x="4344" y="5014"/>
                  <a:pt x="4614" y="5014"/>
                </a:cubicBezTo>
                <a:cubicBezTo>
                  <a:pt x="4884" y="5014"/>
                  <a:pt x="5103" y="5360"/>
                  <a:pt x="5104" y="5787"/>
                </a:cubicBezTo>
                <a:close/>
                <a:moveTo>
                  <a:pt x="9227" y="5787"/>
                </a:moveTo>
                <a:cubicBezTo>
                  <a:pt x="9227" y="6214"/>
                  <a:pt x="9008" y="6560"/>
                  <a:pt x="8737" y="6560"/>
                </a:cubicBezTo>
                <a:cubicBezTo>
                  <a:pt x="8467" y="6560"/>
                  <a:pt x="8248" y="6214"/>
                  <a:pt x="8248" y="5787"/>
                </a:cubicBezTo>
                <a:cubicBezTo>
                  <a:pt x="8248" y="5360"/>
                  <a:pt x="8467" y="5014"/>
                  <a:pt x="8737" y="5014"/>
                </a:cubicBezTo>
                <a:cubicBezTo>
                  <a:pt x="9008" y="5013"/>
                  <a:pt x="9227" y="5359"/>
                  <a:pt x="9227" y="5786"/>
                </a:cubicBezTo>
                <a:cubicBezTo>
                  <a:pt x="9227" y="5786"/>
                  <a:pt x="9227" y="5786"/>
                  <a:pt x="9227" y="5787"/>
                </a:cubicBezTo>
                <a:close/>
                <a:moveTo>
                  <a:pt x="13351" y="5787"/>
                </a:moveTo>
                <a:cubicBezTo>
                  <a:pt x="13351" y="6214"/>
                  <a:pt x="13132" y="6560"/>
                  <a:pt x="12862" y="6560"/>
                </a:cubicBezTo>
                <a:cubicBezTo>
                  <a:pt x="12591" y="6560"/>
                  <a:pt x="12372" y="6214"/>
                  <a:pt x="12372" y="5787"/>
                </a:cubicBezTo>
                <a:cubicBezTo>
                  <a:pt x="12372" y="5360"/>
                  <a:pt x="12591" y="5014"/>
                  <a:pt x="12862" y="5014"/>
                </a:cubicBezTo>
                <a:cubicBezTo>
                  <a:pt x="13132" y="5013"/>
                  <a:pt x="13351" y="5359"/>
                  <a:pt x="13351" y="5786"/>
                </a:cubicBezTo>
                <a:cubicBezTo>
                  <a:pt x="13351" y="5786"/>
                  <a:pt x="13351" y="5786"/>
                  <a:pt x="13351" y="5787"/>
                </a:cubicBezTo>
                <a:close/>
                <a:moveTo>
                  <a:pt x="17476" y="5787"/>
                </a:moveTo>
                <a:cubicBezTo>
                  <a:pt x="17476" y="6214"/>
                  <a:pt x="17256" y="6560"/>
                  <a:pt x="16986" y="6560"/>
                </a:cubicBezTo>
                <a:cubicBezTo>
                  <a:pt x="16716" y="6560"/>
                  <a:pt x="16496" y="6214"/>
                  <a:pt x="16496" y="5787"/>
                </a:cubicBezTo>
                <a:cubicBezTo>
                  <a:pt x="16496" y="5360"/>
                  <a:pt x="16716" y="5014"/>
                  <a:pt x="16986" y="5014"/>
                </a:cubicBezTo>
                <a:cubicBezTo>
                  <a:pt x="17256" y="5013"/>
                  <a:pt x="17476" y="5359"/>
                  <a:pt x="17476" y="5786"/>
                </a:cubicBezTo>
                <a:cubicBezTo>
                  <a:pt x="17476" y="5786"/>
                  <a:pt x="17476" y="5786"/>
                  <a:pt x="17476" y="5787"/>
                </a:cubicBezTo>
                <a:close/>
                <a:moveTo>
                  <a:pt x="21600" y="5787"/>
                </a:moveTo>
                <a:cubicBezTo>
                  <a:pt x="21600" y="6214"/>
                  <a:pt x="21381" y="6560"/>
                  <a:pt x="21110" y="6560"/>
                </a:cubicBezTo>
                <a:cubicBezTo>
                  <a:pt x="20840" y="6560"/>
                  <a:pt x="20621" y="6214"/>
                  <a:pt x="20621" y="5787"/>
                </a:cubicBezTo>
                <a:cubicBezTo>
                  <a:pt x="20621" y="5360"/>
                  <a:pt x="20840" y="5014"/>
                  <a:pt x="21110" y="5014"/>
                </a:cubicBezTo>
                <a:cubicBezTo>
                  <a:pt x="21381" y="5014"/>
                  <a:pt x="21600" y="5360"/>
                  <a:pt x="21600" y="5787"/>
                </a:cubicBezTo>
                <a:close/>
                <a:moveTo>
                  <a:pt x="979" y="10800"/>
                </a:moveTo>
                <a:cubicBezTo>
                  <a:pt x="979" y="11227"/>
                  <a:pt x="760" y="11573"/>
                  <a:pt x="490" y="11573"/>
                </a:cubicBezTo>
                <a:cubicBezTo>
                  <a:pt x="219" y="11573"/>
                  <a:pt x="0" y="11227"/>
                  <a:pt x="0" y="10800"/>
                </a:cubicBezTo>
                <a:cubicBezTo>
                  <a:pt x="0" y="10373"/>
                  <a:pt x="219" y="10027"/>
                  <a:pt x="490" y="10027"/>
                </a:cubicBezTo>
                <a:cubicBezTo>
                  <a:pt x="760" y="10027"/>
                  <a:pt x="979" y="10373"/>
                  <a:pt x="979" y="10799"/>
                </a:cubicBezTo>
                <a:cubicBezTo>
                  <a:pt x="979" y="10800"/>
                  <a:pt x="979" y="10800"/>
                  <a:pt x="979" y="10800"/>
                </a:cubicBezTo>
                <a:close/>
                <a:moveTo>
                  <a:pt x="5104" y="10800"/>
                </a:moveTo>
                <a:cubicBezTo>
                  <a:pt x="5104" y="11227"/>
                  <a:pt x="4884" y="11573"/>
                  <a:pt x="4614" y="11573"/>
                </a:cubicBezTo>
                <a:cubicBezTo>
                  <a:pt x="4344" y="11573"/>
                  <a:pt x="4124" y="11227"/>
                  <a:pt x="4124" y="10800"/>
                </a:cubicBezTo>
                <a:cubicBezTo>
                  <a:pt x="4124" y="10373"/>
                  <a:pt x="4344" y="10027"/>
                  <a:pt x="4614" y="10027"/>
                </a:cubicBezTo>
                <a:cubicBezTo>
                  <a:pt x="4884" y="10028"/>
                  <a:pt x="5103" y="10373"/>
                  <a:pt x="5104" y="10800"/>
                </a:cubicBezTo>
                <a:close/>
                <a:moveTo>
                  <a:pt x="9227" y="10800"/>
                </a:moveTo>
                <a:cubicBezTo>
                  <a:pt x="9227" y="11227"/>
                  <a:pt x="9008" y="11573"/>
                  <a:pt x="8737" y="11573"/>
                </a:cubicBezTo>
                <a:cubicBezTo>
                  <a:pt x="8467" y="11573"/>
                  <a:pt x="8248" y="11227"/>
                  <a:pt x="8248" y="10800"/>
                </a:cubicBezTo>
                <a:cubicBezTo>
                  <a:pt x="8248" y="10373"/>
                  <a:pt x="8467" y="10027"/>
                  <a:pt x="8737" y="10027"/>
                </a:cubicBezTo>
                <a:cubicBezTo>
                  <a:pt x="9008" y="10027"/>
                  <a:pt x="9227" y="10373"/>
                  <a:pt x="9227" y="10799"/>
                </a:cubicBezTo>
                <a:cubicBezTo>
                  <a:pt x="9227" y="10800"/>
                  <a:pt x="9227" y="10800"/>
                  <a:pt x="9227" y="10800"/>
                </a:cubicBezTo>
                <a:close/>
                <a:moveTo>
                  <a:pt x="13351" y="10800"/>
                </a:moveTo>
                <a:cubicBezTo>
                  <a:pt x="13351" y="11227"/>
                  <a:pt x="13132" y="11573"/>
                  <a:pt x="12862" y="11573"/>
                </a:cubicBezTo>
                <a:cubicBezTo>
                  <a:pt x="12591" y="11573"/>
                  <a:pt x="12372" y="11227"/>
                  <a:pt x="12372" y="10800"/>
                </a:cubicBezTo>
                <a:cubicBezTo>
                  <a:pt x="12372" y="10373"/>
                  <a:pt x="12591" y="10027"/>
                  <a:pt x="12862" y="10027"/>
                </a:cubicBezTo>
                <a:cubicBezTo>
                  <a:pt x="13132" y="10027"/>
                  <a:pt x="13351" y="10373"/>
                  <a:pt x="13351" y="10799"/>
                </a:cubicBezTo>
                <a:cubicBezTo>
                  <a:pt x="13351" y="10800"/>
                  <a:pt x="13351" y="10800"/>
                  <a:pt x="13351" y="10800"/>
                </a:cubicBezTo>
                <a:close/>
                <a:moveTo>
                  <a:pt x="17476" y="10800"/>
                </a:moveTo>
                <a:cubicBezTo>
                  <a:pt x="17476" y="11227"/>
                  <a:pt x="17256" y="11573"/>
                  <a:pt x="16986" y="11573"/>
                </a:cubicBezTo>
                <a:cubicBezTo>
                  <a:pt x="16716" y="11573"/>
                  <a:pt x="16496" y="11227"/>
                  <a:pt x="16496" y="10800"/>
                </a:cubicBezTo>
                <a:cubicBezTo>
                  <a:pt x="16496" y="10373"/>
                  <a:pt x="16716" y="10027"/>
                  <a:pt x="16986" y="10027"/>
                </a:cubicBezTo>
                <a:cubicBezTo>
                  <a:pt x="17256" y="10027"/>
                  <a:pt x="17476" y="10373"/>
                  <a:pt x="17476" y="10799"/>
                </a:cubicBezTo>
                <a:cubicBezTo>
                  <a:pt x="17476" y="10800"/>
                  <a:pt x="17476" y="10800"/>
                  <a:pt x="17476" y="10800"/>
                </a:cubicBezTo>
                <a:close/>
                <a:moveTo>
                  <a:pt x="21600" y="10800"/>
                </a:moveTo>
                <a:cubicBezTo>
                  <a:pt x="21600" y="11227"/>
                  <a:pt x="21381" y="11573"/>
                  <a:pt x="21110" y="11573"/>
                </a:cubicBezTo>
                <a:cubicBezTo>
                  <a:pt x="20840" y="11573"/>
                  <a:pt x="20621" y="11227"/>
                  <a:pt x="20621" y="10800"/>
                </a:cubicBezTo>
                <a:cubicBezTo>
                  <a:pt x="20621" y="10373"/>
                  <a:pt x="20840" y="10027"/>
                  <a:pt x="21110" y="10027"/>
                </a:cubicBezTo>
                <a:cubicBezTo>
                  <a:pt x="21381" y="10028"/>
                  <a:pt x="21600" y="10373"/>
                  <a:pt x="21600" y="10800"/>
                </a:cubicBezTo>
                <a:close/>
                <a:moveTo>
                  <a:pt x="979" y="15814"/>
                </a:moveTo>
                <a:cubicBezTo>
                  <a:pt x="979" y="16240"/>
                  <a:pt x="760" y="16587"/>
                  <a:pt x="490" y="16587"/>
                </a:cubicBezTo>
                <a:cubicBezTo>
                  <a:pt x="219" y="16587"/>
                  <a:pt x="0" y="16240"/>
                  <a:pt x="0" y="15814"/>
                </a:cubicBezTo>
                <a:cubicBezTo>
                  <a:pt x="0" y="15387"/>
                  <a:pt x="219" y="15041"/>
                  <a:pt x="490" y="15041"/>
                </a:cubicBezTo>
                <a:cubicBezTo>
                  <a:pt x="760" y="15040"/>
                  <a:pt x="979" y="15386"/>
                  <a:pt x="979" y="15813"/>
                </a:cubicBezTo>
                <a:cubicBezTo>
                  <a:pt x="979" y="15813"/>
                  <a:pt x="979" y="15813"/>
                  <a:pt x="979" y="15814"/>
                </a:cubicBezTo>
                <a:close/>
                <a:moveTo>
                  <a:pt x="5104" y="15814"/>
                </a:moveTo>
                <a:cubicBezTo>
                  <a:pt x="5104" y="16240"/>
                  <a:pt x="4884" y="16587"/>
                  <a:pt x="4614" y="16587"/>
                </a:cubicBezTo>
                <a:cubicBezTo>
                  <a:pt x="4344" y="16587"/>
                  <a:pt x="4124" y="16240"/>
                  <a:pt x="4124" y="15814"/>
                </a:cubicBezTo>
                <a:cubicBezTo>
                  <a:pt x="4124" y="15387"/>
                  <a:pt x="4344" y="15041"/>
                  <a:pt x="4614" y="15041"/>
                </a:cubicBezTo>
                <a:cubicBezTo>
                  <a:pt x="4884" y="15041"/>
                  <a:pt x="5103" y="15387"/>
                  <a:pt x="5104" y="15814"/>
                </a:cubicBezTo>
                <a:close/>
                <a:moveTo>
                  <a:pt x="9227" y="15814"/>
                </a:moveTo>
                <a:cubicBezTo>
                  <a:pt x="9227" y="16240"/>
                  <a:pt x="9008" y="16587"/>
                  <a:pt x="8737" y="16587"/>
                </a:cubicBezTo>
                <a:cubicBezTo>
                  <a:pt x="8467" y="16587"/>
                  <a:pt x="8248" y="16240"/>
                  <a:pt x="8248" y="15814"/>
                </a:cubicBezTo>
                <a:cubicBezTo>
                  <a:pt x="8248" y="15387"/>
                  <a:pt x="8467" y="15041"/>
                  <a:pt x="8737" y="15041"/>
                </a:cubicBezTo>
                <a:cubicBezTo>
                  <a:pt x="9008" y="15040"/>
                  <a:pt x="9227" y="15386"/>
                  <a:pt x="9227" y="15813"/>
                </a:cubicBezTo>
                <a:cubicBezTo>
                  <a:pt x="9227" y="15813"/>
                  <a:pt x="9227" y="15813"/>
                  <a:pt x="9227" y="15814"/>
                </a:cubicBezTo>
                <a:close/>
                <a:moveTo>
                  <a:pt x="13351" y="15814"/>
                </a:moveTo>
                <a:cubicBezTo>
                  <a:pt x="13351" y="16240"/>
                  <a:pt x="13132" y="16587"/>
                  <a:pt x="12862" y="16587"/>
                </a:cubicBezTo>
                <a:cubicBezTo>
                  <a:pt x="12591" y="16587"/>
                  <a:pt x="12372" y="16240"/>
                  <a:pt x="12372" y="15814"/>
                </a:cubicBezTo>
                <a:cubicBezTo>
                  <a:pt x="12372" y="15387"/>
                  <a:pt x="12591" y="15041"/>
                  <a:pt x="12862" y="15041"/>
                </a:cubicBezTo>
                <a:cubicBezTo>
                  <a:pt x="13132" y="15040"/>
                  <a:pt x="13351" y="15386"/>
                  <a:pt x="13351" y="15813"/>
                </a:cubicBezTo>
                <a:cubicBezTo>
                  <a:pt x="13351" y="15813"/>
                  <a:pt x="13351" y="15813"/>
                  <a:pt x="13351" y="15814"/>
                </a:cubicBezTo>
                <a:close/>
                <a:moveTo>
                  <a:pt x="17476" y="15814"/>
                </a:moveTo>
                <a:cubicBezTo>
                  <a:pt x="17476" y="16240"/>
                  <a:pt x="17256" y="16587"/>
                  <a:pt x="16986" y="16587"/>
                </a:cubicBezTo>
                <a:cubicBezTo>
                  <a:pt x="16716" y="16587"/>
                  <a:pt x="16496" y="16240"/>
                  <a:pt x="16496" y="15814"/>
                </a:cubicBezTo>
                <a:cubicBezTo>
                  <a:pt x="16496" y="15387"/>
                  <a:pt x="16716" y="15041"/>
                  <a:pt x="16986" y="15041"/>
                </a:cubicBezTo>
                <a:cubicBezTo>
                  <a:pt x="17256" y="15040"/>
                  <a:pt x="17476" y="15386"/>
                  <a:pt x="17476" y="15813"/>
                </a:cubicBezTo>
                <a:cubicBezTo>
                  <a:pt x="17476" y="15813"/>
                  <a:pt x="17476" y="15813"/>
                  <a:pt x="17476" y="15814"/>
                </a:cubicBezTo>
                <a:close/>
                <a:moveTo>
                  <a:pt x="21600" y="15814"/>
                </a:moveTo>
                <a:cubicBezTo>
                  <a:pt x="21600" y="16240"/>
                  <a:pt x="21381" y="16587"/>
                  <a:pt x="21110" y="16587"/>
                </a:cubicBezTo>
                <a:cubicBezTo>
                  <a:pt x="20840" y="16587"/>
                  <a:pt x="20621" y="16240"/>
                  <a:pt x="20621" y="15814"/>
                </a:cubicBezTo>
                <a:cubicBezTo>
                  <a:pt x="20621" y="15387"/>
                  <a:pt x="20840" y="15041"/>
                  <a:pt x="21110" y="15041"/>
                </a:cubicBezTo>
                <a:cubicBezTo>
                  <a:pt x="21381" y="15041"/>
                  <a:pt x="21600" y="15387"/>
                  <a:pt x="21600" y="15814"/>
                </a:cubicBezTo>
                <a:close/>
                <a:moveTo>
                  <a:pt x="979" y="20827"/>
                </a:moveTo>
                <a:cubicBezTo>
                  <a:pt x="979" y="21254"/>
                  <a:pt x="760" y="21600"/>
                  <a:pt x="490" y="21600"/>
                </a:cubicBezTo>
                <a:cubicBezTo>
                  <a:pt x="219" y="21600"/>
                  <a:pt x="0" y="21254"/>
                  <a:pt x="0" y="20827"/>
                </a:cubicBezTo>
                <a:cubicBezTo>
                  <a:pt x="0" y="20400"/>
                  <a:pt x="219" y="20054"/>
                  <a:pt x="490" y="20054"/>
                </a:cubicBezTo>
                <a:cubicBezTo>
                  <a:pt x="760" y="20054"/>
                  <a:pt x="979" y="20400"/>
                  <a:pt x="979" y="20826"/>
                </a:cubicBezTo>
                <a:cubicBezTo>
                  <a:pt x="979" y="20826"/>
                  <a:pt x="979" y="20827"/>
                  <a:pt x="979" y="20827"/>
                </a:cubicBezTo>
                <a:close/>
                <a:moveTo>
                  <a:pt x="5104" y="20827"/>
                </a:moveTo>
                <a:cubicBezTo>
                  <a:pt x="5104" y="21254"/>
                  <a:pt x="4884" y="21600"/>
                  <a:pt x="4614" y="21600"/>
                </a:cubicBezTo>
                <a:cubicBezTo>
                  <a:pt x="4344" y="21600"/>
                  <a:pt x="4124" y="21254"/>
                  <a:pt x="4124" y="20827"/>
                </a:cubicBezTo>
                <a:cubicBezTo>
                  <a:pt x="4124" y="20400"/>
                  <a:pt x="4344" y="20054"/>
                  <a:pt x="4614" y="20054"/>
                </a:cubicBezTo>
                <a:cubicBezTo>
                  <a:pt x="4884" y="20054"/>
                  <a:pt x="5103" y="20400"/>
                  <a:pt x="5104" y="20827"/>
                </a:cubicBezTo>
                <a:close/>
                <a:moveTo>
                  <a:pt x="9227" y="20827"/>
                </a:moveTo>
                <a:cubicBezTo>
                  <a:pt x="9227" y="21254"/>
                  <a:pt x="9008" y="21600"/>
                  <a:pt x="8737" y="21600"/>
                </a:cubicBezTo>
                <a:cubicBezTo>
                  <a:pt x="8467" y="21600"/>
                  <a:pt x="8248" y="21254"/>
                  <a:pt x="8248" y="20827"/>
                </a:cubicBezTo>
                <a:cubicBezTo>
                  <a:pt x="8248" y="20400"/>
                  <a:pt x="8467" y="20054"/>
                  <a:pt x="8737" y="20054"/>
                </a:cubicBezTo>
                <a:cubicBezTo>
                  <a:pt x="9008" y="20054"/>
                  <a:pt x="9227" y="20400"/>
                  <a:pt x="9227" y="20826"/>
                </a:cubicBezTo>
                <a:cubicBezTo>
                  <a:pt x="9227" y="20826"/>
                  <a:pt x="9227" y="20827"/>
                  <a:pt x="9227" y="20827"/>
                </a:cubicBezTo>
                <a:close/>
                <a:moveTo>
                  <a:pt x="13351" y="20827"/>
                </a:moveTo>
                <a:cubicBezTo>
                  <a:pt x="13351" y="21254"/>
                  <a:pt x="13132" y="21600"/>
                  <a:pt x="12862" y="21600"/>
                </a:cubicBezTo>
                <a:cubicBezTo>
                  <a:pt x="12591" y="21600"/>
                  <a:pt x="12372" y="21254"/>
                  <a:pt x="12372" y="20827"/>
                </a:cubicBezTo>
                <a:cubicBezTo>
                  <a:pt x="12372" y="20400"/>
                  <a:pt x="12591" y="20054"/>
                  <a:pt x="12862" y="20054"/>
                </a:cubicBezTo>
                <a:cubicBezTo>
                  <a:pt x="13132" y="20054"/>
                  <a:pt x="13351" y="20400"/>
                  <a:pt x="13351" y="20826"/>
                </a:cubicBezTo>
                <a:cubicBezTo>
                  <a:pt x="13351" y="20826"/>
                  <a:pt x="13351" y="20827"/>
                  <a:pt x="13351" y="20827"/>
                </a:cubicBezTo>
                <a:close/>
                <a:moveTo>
                  <a:pt x="17476" y="20827"/>
                </a:moveTo>
                <a:cubicBezTo>
                  <a:pt x="17476" y="21254"/>
                  <a:pt x="17256" y="21600"/>
                  <a:pt x="16986" y="21600"/>
                </a:cubicBezTo>
                <a:cubicBezTo>
                  <a:pt x="16716" y="21600"/>
                  <a:pt x="16496" y="21254"/>
                  <a:pt x="16496" y="20827"/>
                </a:cubicBezTo>
                <a:cubicBezTo>
                  <a:pt x="16496" y="20400"/>
                  <a:pt x="16716" y="20054"/>
                  <a:pt x="16986" y="20054"/>
                </a:cubicBezTo>
                <a:cubicBezTo>
                  <a:pt x="17256" y="20054"/>
                  <a:pt x="17476" y="20400"/>
                  <a:pt x="17476" y="20826"/>
                </a:cubicBezTo>
                <a:cubicBezTo>
                  <a:pt x="17476" y="20826"/>
                  <a:pt x="17476" y="20827"/>
                  <a:pt x="17476" y="20827"/>
                </a:cubicBezTo>
                <a:close/>
                <a:moveTo>
                  <a:pt x="21600" y="20827"/>
                </a:moveTo>
                <a:cubicBezTo>
                  <a:pt x="21600" y="21254"/>
                  <a:pt x="21381" y="21600"/>
                  <a:pt x="21110" y="21600"/>
                </a:cubicBezTo>
                <a:cubicBezTo>
                  <a:pt x="20840" y="21600"/>
                  <a:pt x="20621" y="21254"/>
                  <a:pt x="20621" y="20827"/>
                </a:cubicBezTo>
                <a:cubicBezTo>
                  <a:pt x="20621" y="20400"/>
                  <a:pt x="20840" y="20054"/>
                  <a:pt x="21110" y="20054"/>
                </a:cubicBezTo>
                <a:cubicBezTo>
                  <a:pt x="21381" y="20054"/>
                  <a:pt x="21600" y="20400"/>
                  <a:pt x="21600" y="20827"/>
                </a:cubicBezTo>
                <a:close/>
              </a:path>
            </a:pathLst>
          </a:cu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4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16835" y="4125595"/>
            <a:ext cx="6468110" cy="298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Image 2" descr="Image 2"/>
          <p:cNvPicPr>
            <a:picLocks noChangeAspect="1"/>
          </p:cNvPicPr>
          <p:nvPr/>
        </p:nvPicPr>
        <p:blipFill>
          <a:blip r:embed="rId4">
            <a:alphaModFix amt="25000"/>
            <a:extLst/>
          </a:blip>
          <a:srcRect l="0" t="22162" r="0" b="0"/>
          <a:stretch>
            <a:fillRect/>
          </a:stretch>
        </p:blipFill>
        <p:spPr>
          <a:xfrm>
            <a:off x="777875" y="2787650"/>
            <a:ext cx="2311400" cy="1800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片 11" descr="图片 1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36360" y="223432"/>
            <a:ext cx="2520282" cy="72627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文本框 12"/>
          <p:cNvSpPr txBox="1"/>
          <p:nvPr/>
        </p:nvSpPr>
        <p:spPr>
          <a:xfrm>
            <a:off x="2875914" y="3429000"/>
            <a:ext cx="6004562" cy="599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>
                <a:solidFill>
                  <a:srgbClr val="0E3F98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中期答辩</a:t>
            </a:r>
          </a:p>
        </p:txBody>
      </p:sp>
      <p:sp>
        <p:nvSpPr>
          <p:cNvPr id="53" name="Shape 1"/>
          <p:cNvSpPr/>
          <p:nvPr/>
        </p:nvSpPr>
        <p:spPr>
          <a:xfrm>
            <a:off x="3490595" y="5213984"/>
            <a:ext cx="2311402" cy="502922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" name="Text 2"/>
          <p:cNvSpPr txBox="1"/>
          <p:nvPr/>
        </p:nvSpPr>
        <p:spPr>
          <a:xfrm>
            <a:off x="3536315" y="5266055"/>
            <a:ext cx="229425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学号: 2022112879</a:t>
            </a:r>
          </a:p>
        </p:txBody>
      </p:sp>
      <p:sp>
        <p:nvSpPr>
          <p:cNvPr id="55" name="Shape 1"/>
          <p:cNvSpPr/>
          <p:nvPr/>
        </p:nvSpPr>
        <p:spPr>
          <a:xfrm>
            <a:off x="6146165" y="5213984"/>
            <a:ext cx="2311402" cy="502922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6" name="Text 4"/>
          <p:cNvSpPr txBox="1"/>
          <p:nvPr/>
        </p:nvSpPr>
        <p:spPr>
          <a:xfrm>
            <a:off x="6191884" y="5268596"/>
            <a:ext cx="229425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时间:2026/03/21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15325" y="995044"/>
            <a:ext cx="3658871" cy="3658873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V="1" rot="5400000">
            <a:off x="6951343" y="1617344"/>
            <a:ext cx="6858637" cy="3623312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Shape 0"/>
          <p:cNvSpPr/>
          <p:nvPr/>
        </p:nvSpPr>
        <p:spPr>
          <a:xfrm>
            <a:off x="810259" y="704850"/>
            <a:ext cx="2698116" cy="110807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1" name="Text 1"/>
          <p:cNvSpPr txBox="1"/>
          <p:nvPr/>
        </p:nvSpPr>
        <p:spPr>
          <a:xfrm>
            <a:off x="810259" y="550798"/>
            <a:ext cx="2654937" cy="1262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863" tIns="46863" rIns="46863" bIns="46863" anchor="b">
            <a:spAutoFit/>
          </a:bodyPr>
          <a:lstStyle>
            <a:lvl1pPr>
              <a:defRPr sz="6600">
                <a:solidFill>
                  <a:srgbClr val="015DBB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目录</a:t>
            </a:r>
          </a:p>
        </p:txBody>
      </p:sp>
      <p:sp>
        <p:nvSpPr>
          <p:cNvPr id="62" name="Text 2"/>
          <p:cNvSpPr txBox="1"/>
          <p:nvPr/>
        </p:nvSpPr>
        <p:spPr>
          <a:xfrm>
            <a:off x="2894328" y="1078864"/>
            <a:ext cx="2793369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200">
                <a:solidFill>
                  <a:srgbClr val="015DBB">
                    <a:alpha val="55000"/>
                  </a:srgbClr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63" name="Shape 3"/>
          <p:cNvSpPr/>
          <p:nvPr/>
        </p:nvSpPr>
        <p:spPr>
          <a:xfrm>
            <a:off x="977376" y="2055495"/>
            <a:ext cx="692341" cy="660402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4" name="Shape 4"/>
          <p:cNvSpPr/>
          <p:nvPr/>
        </p:nvSpPr>
        <p:spPr>
          <a:xfrm>
            <a:off x="1782458" y="2055495"/>
            <a:ext cx="5462240" cy="660402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5" name="Shape 5"/>
          <p:cNvSpPr/>
          <p:nvPr/>
        </p:nvSpPr>
        <p:spPr>
          <a:xfrm>
            <a:off x="977376" y="2922903"/>
            <a:ext cx="692341" cy="660402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6" name="Shape 6"/>
          <p:cNvSpPr/>
          <p:nvPr/>
        </p:nvSpPr>
        <p:spPr>
          <a:xfrm>
            <a:off x="1782458" y="2922903"/>
            <a:ext cx="5462240" cy="660402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7" name="Shape 7"/>
          <p:cNvSpPr/>
          <p:nvPr/>
        </p:nvSpPr>
        <p:spPr>
          <a:xfrm>
            <a:off x="977376" y="3790315"/>
            <a:ext cx="692341" cy="660402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8" name="Shape 8"/>
          <p:cNvSpPr/>
          <p:nvPr/>
        </p:nvSpPr>
        <p:spPr>
          <a:xfrm>
            <a:off x="1782458" y="3790315"/>
            <a:ext cx="5462240" cy="660402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9" name="Shape 9"/>
          <p:cNvSpPr/>
          <p:nvPr/>
        </p:nvSpPr>
        <p:spPr>
          <a:xfrm>
            <a:off x="977376" y="4657725"/>
            <a:ext cx="692341" cy="660400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0" name="Shape 10"/>
          <p:cNvSpPr/>
          <p:nvPr/>
        </p:nvSpPr>
        <p:spPr>
          <a:xfrm>
            <a:off x="1782457" y="4657725"/>
            <a:ext cx="5462240" cy="6604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1" name="Shape 11"/>
          <p:cNvSpPr/>
          <p:nvPr/>
        </p:nvSpPr>
        <p:spPr>
          <a:xfrm>
            <a:off x="977376" y="5525134"/>
            <a:ext cx="692341" cy="660402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2" name="Shape 12"/>
          <p:cNvSpPr/>
          <p:nvPr/>
        </p:nvSpPr>
        <p:spPr>
          <a:xfrm>
            <a:off x="1782458" y="5525134"/>
            <a:ext cx="5462240" cy="660402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3" name="Shape 13"/>
          <p:cNvSpPr/>
          <p:nvPr/>
        </p:nvSpPr>
        <p:spPr>
          <a:xfrm>
            <a:off x="7162123" y="704712"/>
            <a:ext cx="1142901" cy="7233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79" y="773"/>
                </a:moveTo>
                <a:cubicBezTo>
                  <a:pt x="979" y="1200"/>
                  <a:pt x="760" y="1546"/>
                  <a:pt x="490" y="1546"/>
                </a:cubicBezTo>
                <a:cubicBezTo>
                  <a:pt x="219" y="1546"/>
                  <a:pt x="0" y="1200"/>
                  <a:pt x="0" y="773"/>
                </a:cubicBezTo>
                <a:cubicBezTo>
                  <a:pt x="0" y="346"/>
                  <a:pt x="219" y="0"/>
                  <a:pt x="490" y="0"/>
                </a:cubicBezTo>
                <a:cubicBezTo>
                  <a:pt x="760" y="0"/>
                  <a:pt x="979" y="346"/>
                  <a:pt x="979" y="772"/>
                </a:cubicBezTo>
                <a:cubicBezTo>
                  <a:pt x="979" y="773"/>
                  <a:pt x="979" y="773"/>
                  <a:pt x="979" y="773"/>
                </a:cubicBezTo>
                <a:close/>
                <a:moveTo>
                  <a:pt x="5104" y="773"/>
                </a:moveTo>
                <a:cubicBezTo>
                  <a:pt x="5104" y="1200"/>
                  <a:pt x="4884" y="1546"/>
                  <a:pt x="4614" y="1546"/>
                </a:cubicBezTo>
                <a:cubicBezTo>
                  <a:pt x="4344" y="1546"/>
                  <a:pt x="4124" y="1200"/>
                  <a:pt x="4124" y="773"/>
                </a:cubicBezTo>
                <a:cubicBezTo>
                  <a:pt x="4124" y="346"/>
                  <a:pt x="4344" y="0"/>
                  <a:pt x="4614" y="0"/>
                </a:cubicBezTo>
                <a:cubicBezTo>
                  <a:pt x="4884" y="1"/>
                  <a:pt x="5103" y="347"/>
                  <a:pt x="5104" y="773"/>
                </a:cubicBezTo>
                <a:close/>
                <a:moveTo>
                  <a:pt x="9227" y="773"/>
                </a:moveTo>
                <a:cubicBezTo>
                  <a:pt x="9227" y="1200"/>
                  <a:pt x="9008" y="1546"/>
                  <a:pt x="8737" y="1546"/>
                </a:cubicBezTo>
                <a:cubicBezTo>
                  <a:pt x="8467" y="1546"/>
                  <a:pt x="8248" y="1200"/>
                  <a:pt x="8248" y="773"/>
                </a:cubicBezTo>
                <a:cubicBezTo>
                  <a:pt x="8248" y="346"/>
                  <a:pt x="8467" y="0"/>
                  <a:pt x="8737" y="0"/>
                </a:cubicBezTo>
                <a:cubicBezTo>
                  <a:pt x="9008" y="0"/>
                  <a:pt x="9227" y="346"/>
                  <a:pt x="9227" y="772"/>
                </a:cubicBezTo>
                <a:cubicBezTo>
                  <a:pt x="9227" y="773"/>
                  <a:pt x="9227" y="773"/>
                  <a:pt x="9227" y="773"/>
                </a:cubicBezTo>
                <a:close/>
                <a:moveTo>
                  <a:pt x="13351" y="773"/>
                </a:moveTo>
                <a:cubicBezTo>
                  <a:pt x="13351" y="1200"/>
                  <a:pt x="13132" y="1546"/>
                  <a:pt x="12862" y="1546"/>
                </a:cubicBezTo>
                <a:cubicBezTo>
                  <a:pt x="12591" y="1546"/>
                  <a:pt x="12372" y="1200"/>
                  <a:pt x="12372" y="773"/>
                </a:cubicBezTo>
                <a:cubicBezTo>
                  <a:pt x="12372" y="346"/>
                  <a:pt x="12591" y="0"/>
                  <a:pt x="12862" y="0"/>
                </a:cubicBezTo>
                <a:cubicBezTo>
                  <a:pt x="13132" y="0"/>
                  <a:pt x="13351" y="346"/>
                  <a:pt x="13351" y="772"/>
                </a:cubicBezTo>
                <a:cubicBezTo>
                  <a:pt x="13351" y="773"/>
                  <a:pt x="13351" y="773"/>
                  <a:pt x="13351" y="773"/>
                </a:cubicBezTo>
                <a:close/>
                <a:moveTo>
                  <a:pt x="17476" y="773"/>
                </a:moveTo>
                <a:cubicBezTo>
                  <a:pt x="17476" y="1200"/>
                  <a:pt x="17256" y="1546"/>
                  <a:pt x="16986" y="1546"/>
                </a:cubicBezTo>
                <a:cubicBezTo>
                  <a:pt x="16716" y="1546"/>
                  <a:pt x="16496" y="1200"/>
                  <a:pt x="16496" y="773"/>
                </a:cubicBezTo>
                <a:cubicBezTo>
                  <a:pt x="16496" y="346"/>
                  <a:pt x="16716" y="0"/>
                  <a:pt x="16986" y="0"/>
                </a:cubicBezTo>
                <a:cubicBezTo>
                  <a:pt x="17256" y="0"/>
                  <a:pt x="17476" y="346"/>
                  <a:pt x="17476" y="772"/>
                </a:cubicBezTo>
                <a:cubicBezTo>
                  <a:pt x="17476" y="773"/>
                  <a:pt x="17476" y="773"/>
                  <a:pt x="17476" y="773"/>
                </a:cubicBezTo>
                <a:close/>
                <a:moveTo>
                  <a:pt x="21600" y="773"/>
                </a:moveTo>
                <a:cubicBezTo>
                  <a:pt x="21600" y="1200"/>
                  <a:pt x="21381" y="1546"/>
                  <a:pt x="21110" y="1546"/>
                </a:cubicBezTo>
                <a:cubicBezTo>
                  <a:pt x="20840" y="1546"/>
                  <a:pt x="20621" y="1200"/>
                  <a:pt x="20621" y="773"/>
                </a:cubicBezTo>
                <a:cubicBezTo>
                  <a:pt x="20621" y="346"/>
                  <a:pt x="20840" y="0"/>
                  <a:pt x="21110" y="0"/>
                </a:cubicBezTo>
                <a:cubicBezTo>
                  <a:pt x="21381" y="1"/>
                  <a:pt x="21600" y="347"/>
                  <a:pt x="21600" y="773"/>
                </a:cubicBezTo>
                <a:close/>
                <a:moveTo>
                  <a:pt x="979" y="5787"/>
                </a:moveTo>
                <a:cubicBezTo>
                  <a:pt x="979" y="6214"/>
                  <a:pt x="760" y="6560"/>
                  <a:pt x="490" y="6560"/>
                </a:cubicBezTo>
                <a:cubicBezTo>
                  <a:pt x="219" y="6560"/>
                  <a:pt x="0" y="6214"/>
                  <a:pt x="0" y="5787"/>
                </a:cubicBezTo>
                <a:cubicBezTo>
                  <a:pt x="0" y="5360"/>
                  <a:pt x="219" y="5014"/>
                  <a:pt x="490" y="5014"/>
                </a:cubicBezTo>
                <a:cubicBezTo>
                  <a:pt x="760" y="5013"/>
                  <a:pt x="979" y="5359"/>
                  <a:pt x="979" y="5786"/>
                </a:cubicBezTo>
                <a:cubicBezTo>
                  <a:pt x="979" y="5786"/>
                  <a:pt x="979" y="5786"/>
                  <a:pt x="979" y="5787"/>
                </a:cubicBezTo>
                <a:close/>
                <a:moveTo>
                  <a:pt x="5104" y="5787"/>
                </a:moveTo>
                <a:cubicBezTo>
                  <a:pt x="5104" y="6214"/>
                  <a:pt x="4884" y="6560"/>
                  <a:pt x="4614" y="6560"/>
                </a:cubicBezTo>
                <a:cubicBezTo>
                  <a:pt x="4344" y="6560"/>
                  <a:pt x="4124" y="6214"/>
                  <a:pt x="4124" y="5787"/>
                </a:cubicBezTo>
                <a:cubicBezTo>
                  <a:pt x="4124" y="5360"/>
                  <a:pt x="4344" y="5014"/>
                  <a:pt x="4614" y="5014"/>
                </a:cubicBezTo>
                <a:cubicBezTo>
                  <a:pt x="4884" y="5014"/>
                  <a:pt x="5103" y="5360"/>
                  <a:pt x="5104" y="5787"/>
                </a:cubicBezTo>
                <a:close/>
                <a:moveTo>
                  <a:pt x="9227" y="5787"/>
                </a:moveTo>
                <a:cubicBezTo>
                  <a:pt x="9227" y="6214"/>
                  <a:pt x="9008" y="6560"/>
                  <a:pt x="8737" y="6560"/>
                </a:cubicBezTo>
                <a:cubicBezTo>
                  <a:pt x="8467" y="6560"/>
                  <a:pt x="8248" y="6214"/>
                  <a:pt x="8248" y="5787"/>
                </a:cubicBezTo>
                <a:cubicBezTo>
                  <a:pt x="8248" y="5360"/>
                  <a:pt x="8467" y="5014"/>
                  <a:pt x="8737" y="5014"/>
                </a:cubicBezTo>
                <a:cubicBezTo>
                  <a:pt x="9008" y="5013"/>
                  <a:pt x="9227" y="5359"/>
                  <a:pt x="9227" y="5786"/>
                </a:cubicBezTo>
                <a:cubicBezTo>
                  <a:pt x="9227" y="5786"/>
                  <a:pt x="9227" y="5786"/>
                  <a:pt x="9227" y="5787"/>
                </a:cubicBezTo>
                <a:close/>
                <a:moveTo>
                  <a:pt x="13351" y="5787"/>
                </a:moveTo>
                <a:cubicBezTo>
                  <a:pt x="13351" y="6214"/>
                  <a:pt x="13132" y="6560"/>
                  <a:pt x="12862" y="6560"/>
                </a:cubicBezTo>
                <a:cubicBezTo>
                  <a:pt x="12591" y="6560"/>
                  <a:pt x="12372" y="6214"/>
                  <a:pt x="12372" y="5787"/>
                </a:cubicBezTo>
                <a:cubicBezTo>
                  <a:pt x="12372" y="5360"/>
                  <a:pt x="12591" y="5014"/>
                  <a:pt x="12862" y="5014"/>
                </a:cubicBezTo>
                <a:cubicBezTo>
                  <a:pt x="13132" y="5013"/>
                  <a:pt x="13351" y="5359"/>
                  <a:pt x="13351" y="5786"/>
                </a:cubicBezTo>
                <a:cubicBezTo>
                  <a:pt x="13351" y="5786"/>
                  <a:pt x="13351" y="5786"/>
                  <a:pt x="13351" y="5787"/>
                </a:cubicBezTo>
                <a:close/>
                <a:moveTo>
                  <a:pt x="17476" y="5787"/>
                </a:moveTo>
                <a:cubicBezTo>
                  <a:pt x="17476" y="6214"/>
                  <a:pt x="17256" y="6560"/>
                  <a:pt x="16986" y="6560"/>
                </a:cubicBezTo>
                <a:cubicBezTo>
                  <a:pt x="16716" y="6560"/>
                  <a:pt x="16496" y="6214"/>
                  <a:pt x="16496" y="5787"/>
                </a:cubicBezTo>
                <a:cubicBezTo>
                  <a:pt x="16496" y="5360"/>
                  <a:pt x="16716" y="5014"/>
                  <a:pt x="16986" y="5014"/>
                </a:cubicBezTo>
                <a:cubicBezTo>
                  <a:pt x="17256" y="5013"/>
                  <a:pt x="17476" y="5359"/>
                  <a:pt x="17476" y="5786"/>
                </a:cubicBezTo>
                <a:cubicBezTo>
                  <a:pt x="17476" y="5786"/>
                  <a:pt x="17476" y="5786"/>
                  <a:pt x="17476" y="5787"/>
                </a:cubicBezTo>
                <a:close/>
                <a:moveTo>
                  <a:pt x="21600" y="5787"/>
                </a:moveTo>
                <a:cubicBezTo>
                  <a:pt x="21600" y="6214"/>
                  <a:pt x="21381" y="6560"/>
                  <a:pt x="21110" y="6560"/>
                </a:cubicBezTo>
                <a:cubicBezTo>
                  <a:pt x="20840" y="6560"/>
                  <a:pt x="20621" y="6214"/>
                  <a:pt x="20621" y="5787"/>
                </a:cubicBezTo>
                <a:cubicBezTo>
                  <a:pt x="20621" y="5360"/>
                  <a:pt x="20840" y="5014"/>
                  <a:pt x="21110" y="5014"/>
                </a:cubicBezTo>
                <a:cubicBezTo>
                  <a:pt x="21381" y="5014"/>
                  <a:pt x="21600" y="5360"/>
                  <a:pt x="21600" y="5787"/>
                </a:cubicBezTo>
                <a:close/>
                <a:moveTo>
                  <a:pt x="979" y="10800"/>
                </a:moveTo>
                <a:cubicBezTo>
                  <a:pt x="979" y="11227"/>
                  <a:pt x="760" y="11573"/>
                  <a:pt x="490" y="11573"/>
                </a:cubicBezTo>
                <a:cubicBezTo>
                  <a:pt x="219" y="11573"/>
                  <a:pt x="0" y="11227"/>
                  <a:pt x="0" y="10800"/>
                </a:cubicBezTo>
                <a:cubicBezTo>
                  <a:pt x="0" y="10373"/>
                  <a:pt x="219" y="10027"/>
                  <a:pt x="490" y="10027"/>
                </a:cubicBezTo>
                <a:cubicBezTo>
                  <a:pt x="760" y="10027"/>
                  <a:pt x="979" y="10373"/>
                  <a:pt x="979" y="10799"/>
                </a:cubicBezTo>
                <a:cubicBezTo>
                  <a:pt x="979" y="10800"/>
                  <a:pt x="979" y="10800"/>
                  <a:pt x="979" y="10800"/>
                </a:cubicBezTo>
                <a:close/>
                <a:moveTo>
                  <a:pt x="5104" y="10800"/>
                </a:moveTo>
                <a:cubicBezTo>
                  <a:pt x="5104" y="11227"/>
                  <a:pt x="4884" y="11573"/>
                  <a:pt x="4614" y="11573"/>
                </a:cubicBezTo>
                <a:cubicBezTo>
                  <a:pt x="4344" y="11573"/>
                  <a:pt x="4124" y="11227"/>
                  <a:pt x="4124" y="10800"/>
                </a:cubicBezTo>
                <a:cubicBezTo>
                  <a:pt x="4124" y="10373"/>
                  <a:pt x="4344" y="10027"/>
                  <a:pt x="4614" y="10027"/>
                </a:cubicBezTo>
                <a:cubicBezTo>
                  <a:pt x="4884" y="10028"/>
                  <a:pt x="5103" y="10373"/>
                  <a:pt x="5104" y="10800"/>
                </a:cubicBezTo>
                <a:close/>
                <a:moveTo>
                  <a:pt x="9227" y="10800"/>
                </a:moveTo>
                <a:cubicBezTo>
                  <a:pt x="9227" y="11227"/>
                  <a:pt x="9008" y="11573"/>
                  <a:pt x="8737" y="11573"/>
                </a:cubicBezTo>
                <a:cubicBezTo>
                  <a:pt x="8467" y="11573"/>
                  <a:pt x="8248" y="11227"/>
                  <a:pt x="8248" y="10800"/>
                </a:cubicBezTo>
                <a:cubicBezTo>
                  <a:pt x="8248" y="10373"/>
                  <a:pt x="8467" y="10027"/>
                  <a:pt x="8737" y="10027"/>
                </a:cubicBezTo>
                <a:cubicBezTo>
                  <a:pt x="9008" y="10027"/>
                  <a:pt x="9227" y="10373"/>
                  <a:pt x="9227" y="10799"/>
                </a:cubicBezTo>
                <a:cubicBezTo>
                  <a:pt x="9227" y="10800"/>
                  <a:pt x="9227" y="10800"/>
                  <a:pt x="9227" y="10800"/>
                </a:cubicBezTo>
                <a:close/>
                <a:moveTo>
                  <a:pt x="13351" y="10800"/>
                </a:moveTo>
                <a:cubicBezTo>
                  <a:pt x="13351" y="11227"/>
                  <a:pt x="13132" y="11573"/>
                  <a:pt x="12862" y="11573"/>
                </a:cubicBezTo>
                <a:cubicBezTo>
                  <a:pt x="12591" y="11573"/>
                  <a:pt x="12372" y="11227"/>
                  <a:pt x="12372" y="10800"/>
                </a:cubicBezTo>
                <a:cubicBezTo>
                  <a:pt x="12372" y="10373"/>
                  <a:pt x="12591" y="10027"/>
                  <a:pt x="12862" y="10027"/>
                </a:cubicBezTo>
                <a:cubicBezTo>
                  <a:pt x="13132" y="10027"/>
                  <a:pt x="13351" y="10373"/>
                  <a:pt x="13351" y="10799"/>
                </a:cubicBezTo>
                <a:cubicBezTo>
                  <a:pt x="13351" y="10800"/>
                  <a:pt x="13351" y="10800"/>
                  <a:pt x="13351" y="10800"/>
                </a:cubicBezTo>
                <a:close/>
                <a:moveTo>
                  <a:pt x="17476" y="10800"/>
                </a:moveTo>
                <a:cubicBezTo>
                  <a:pt x="17476" y="11227"/>
                  <a:pt x="17256" y="11573"/>
                  <a:pt x="16986" y="11573"/>
                </a:cubicBezTo>
                <a:cubicBezTo>
                  <a:pt x="16716" y="11573"/>
                  <a:pt x="16496" y="11227"/>
                  <a:pt x="16496" y="10800"/>
                </a:cubicBezTo>
                <a:cubicBezTo>
                  <a:pt x="16496" y="10373"/>
                  <a:pt x="16716" y="10027"/>
                  <a:pt x="16986" y="10027"/>
                </a:cubicBezTo>
                <a:cubicBezTo>
                  <a:pt x="17256" y="10027"/>
                  <a:pt x="17476" y="10373"/>
                  <a:pt x="17476" y="10799"/>
                </a:cubicBezTo>
                <a:cubicBezTo>
                  <a:pt x="17476" y="10800"/>
                  <a:pt x="17476" y="10800"/>
                  <a:pt x="17476" y="10800"/>
                </a:cubicBezTo>
                <a:close/>
                <a:moveTo>
                  <a:pt x="21600" y="10800"/>
                </a:moveTo>
                <a:cubicBezTo>
                  <a:pt x="21600" y="11227"/>
                  <a:pt x="21381" y="11573"/>
                  <a:pt x="21110" y="11573"/>
                </a:cubicBezTo>
                <a:cubicBezTo>
                  <a:pt x="20840" y="11573"/>
                  <a:pt x="20621" y="11227"/>
                  <a:pt x="20621" y="10800"/>
                </a:cubicBezTo>
                <a:cubicBezTo>
                  <a:pt x="20621" y="10373"/>
                  <a:pt x="20840" y="10027"/>
                  <a:pt x="21110" y="10027"/>
                </a:cubicBezTo>
                <a:cubicBezTo>
                  <a:pt x="21381" y="10028"/>
                  <a:pt x="21600" y="10373"/>
                  <a:pt x="21600" y="10800"/>
                </a:cubicBezTo>
                <a:close/>
                <a:moveTo>
                  <a:pt x="979" y="15814"/>
                </a:moveTo>
                <a:cubicBezTo>
                  <a:pt x="979" y="16240"/>
                  <a:pt x="760" y="16587"/>
                  <a:pt x="490" y="16587"/>
                </a:cubicBezTo>
                <a:cubicBezTo>
                  <a:pt x="219" y="16587"/>
                  <a:pt x="0" y="16240"/>
                  <a:pt x="0" y="15814"/>
                </a:cubicBezTo>
                <a:cubicBezTo>
                  <a:pt x="0" y="15387"/>
                  <a:pt x="219" y="15041"/>
                  <a:pt x="490" y="15041"/>
                </a:cubicBezTo>
                <a:cubicBezTo>
                  <a:pt x="760" y="15040"/>
                  <a:pt x="979" y="15386"/>
                  <a:pt x="979" y="15813"/>
                </a:cubicBezTo>
                <a:cubicBezTo>
                  <a:pt x="979" y="15813"/>
                  <a:pt x="979" y="15813"/>
                  <a:pt x="979" y="15814"/>
                </a:cubicBezTo>
                <a:close/>
                <a:moveTo>
                  <a:pt x="5104" y="15814"/>
                </a:moveTo>
                <a:cubicBezTo>
                  <a:pt x="5104" y="16240"/>
                  <a:pt x="4884" y="16587"/>
                  <a:pt x="4614" y="16587"/>
                </a:cubicBezTo>
                <a:cubicBezTo>
                  <a:pt x="4344" y="16587"/>
                  <a:pt x="4124" y="16240"/>
                  <a:pt x="4124" y="15814"/>
                </a:cubicBezTo>
                <a:cubicBezTo>
                  <a:pt x="4124" y="15387"/>
                  <a:pt x="4344" y="15041"/>
                  <a:pt x="4614" y="15041"/>
                </a:cubicBezTo>
                <a:cubicBezTo>
                  <a:pt x="4884" y="15041"/>
                  <a:pt x="5103" y="15387"/>
                  <a:pt x="5104" y="15814"/>
                </a:cubicBezTo>
                <a:close/>
                <a:moveTo>
                  <a:pt x="9227" y="15814"/>
                </a:moveTo>
                <a:cubicBezTo>
                  <a:pt x="9227" y="16240"/>
                  <a:pt x="9008" y="16587"/>
                  <a:pt x="8737" y="16587"/>
                </a:cubicBezTo>
                <a:cubicBezTo>
                  <a:pt x="8467" y="16587"/>
                  <a:pt x="8248" y="16240"/>
                  <a:pt x="8248" y="15814"/>
                </a:cubicBezTo>
                <a:cubicBezTo>
                  <a:pt x="8248" y="15387"/>
                  <a:pt x="8467" y="15041"/>
                  <a:pt x="8737" y="15041"/>
                </a:cubicBezTo>
                <a:cubicBezTo>
                  <a:pt x="9008" y="15040"/>
                  <a:pt x="9227" y="15386"/>
                  <a:pt x="9227" y="15813"/>
                </a:cubicBezTo>
                <a:cubicBezTo>
                  <a:pt x="9227" y="15813"/>
                  <a:pt x="9227" y="15813"/>
                  <a:pt x="9227" y="15814"/>
                </a:cubicBezTo>
                <a:close/>
                <a:moveTo>
                  <a:pt x="13351" y="15814"/>
                </a:moveTo>
                <a:cubicBezTo>
                  <a:pt x="13351" y="16240"/>
                  <a:pt x="13132" y="16587"/>
                  <a:pt x="12862" y="16587"/>
                </a:cubicBezTo>
                <a:cubicBezTo>
                  <a:pt x="12591" y="16587"/>
                  <a:pt x="12372" y="16240"/>
                  <a:pt x="12372" y="15814"/>
                </a:cubicBezTo>
                <a:cubicBezTo>
                  <a:pt x="12372" y="15387"/>
                  <a:pt x="12591" y="15041"/>
                  <a:pt x="12862" y="15041"/>
                </a:cubicBezTo>
                <a:cubicBezTo>
                  <a:pt x="13132" y="15040"/>
                  <a:pt x="13351" y="15386"/>
                  <a:pt x="13351" y="15813"/>
                </a:cubicBezTo>
                <a:cubicBezTo>
                  <a:pt x="13351" y="15813"/>
                  <a:pt x="13351" y="15813"/>
                  <a:pt x="13351" y="15814"/>
                </a:cubicBezTo>
                <a:close/>
                <a:moveTo>
                  <a:pt x="17476" y="15814"/>
                </a:moveTo>
                <a:cubicBezTo>
                  <a:pt x="17476" y="16240"/>
                  <a:pt x="17256" y="16587"/>
                  <a:pt x="16986" y="16587"/>
                </a:cubicBezTo>
                <a:cubicBezTo>
                  <a:pt x="16716" y="16587"/>
                  <a:pt x="16496" y="16240"/>
                  <a:pt x="16496" y="15814"/>
                </a:cubicBezTo>
                <a:cubicBezTo>
                  <a:pt x="16496" y="15387"/>
                  <a:pt x="16716" y="15041"/>
                  <a:pt x="16986" y="15041"/>
                </a:cubicBezTo>
                <a:cubicBezTo>
                  <a:pt x="17256" y="15040"/>
                  <a:pt x="17476" y="15386"/>
                  <a:pt x="17476" y="15813"/>
                </a:cubicBezTo>
                <a:cubicBezTo>
                  <a:pt x="17476" y="15813"/>
                  <a:pt x="17476" y="15813"/>
                  <a:pt x="17476" y="15814"/>
                </a:cubicBezTo>
                <a:close/>
                <a:moveTo>
                  <a:pt x="21600" y="15814"/>
                </a:moveTo>
                <a:cubicBezTo>
                  <a:pt x="21600" y="16240"/>
                  <a:pt x="21381" y="16587"/>
                  <a:pt x="21110" y="16587"/>
                </a:cubicBezTo>
                <a:cubicBezTo>
                  <a:pt x="20840" y="16587"/>
                  <a:pt x="20621" y="16240"/>
                  <a:pt x="20621" y="15814"/>
                </a:cubicBezTo>
                <a:cubicBezTo>
                  <a:pt x="20621" y="15387"/>
                  <a:pt x="20840" y="15041"/>
                  <a:pt x="21110" y="15041"/>
                </a:cubicBezTo>
                <a:cubicBezTo>
                  <a:pt x="21381" y="15041"/>
                  <a:pt x="21600" y="15387"/>
                  <a:pt x="21600" y="15814"/>
                </a:cubicBezTo>
                <a:close/>
                <a:moveTo>
                  <a:pt x="979" y="20827"/>
                </a:moveTo>
                <a:cubicBezTo>
                  <a:pt x="979" y="21254"/>
                  <a:pt x="760" y="21600"/>
                  <a:pt x="490" y="21600"/>
                </a:cubicBezTo>
                <a:cubicBezTo>
                  <a:pt x="219" y="21600"/>
                  <a:pt x="0" y="21254"/>
                  <a:pt x="0" y="20827"/>
                </a:cubicBezTo>
                <a:cubicBezTo>
                  <a:pt x="0" y="20400"/>
                  <a:pt x="219" y="20054"/>
                  <a:pt x="490" y="20054"/>
                </a:cubicBezTo>
                <a:cubicBezTo>
                  <a:pt x="760" y="20054"/>
                  <a:pt x="979" y="20400"/>
                  <a:pt x="979" y="20826"/>
                </a:cubicBezTo>
                <a:cubicBezTo>
                  <a:pt x="979" y="20826"/>
                  <a:pt x="979" y="20827"/>
                  <a:pt x="979" y="20827"/>
                </a:cubicBezTo>
                <a:close/>
                <a:moveTo>
                  <a:pt x="5104" y="20827"/>
                </a:moveTo>
                <a:cubicBezTo>
                  <a:pt x="5104" y="21254"/>
                  <a:pt x="4884" y="21600"/>
                  <a:pt x="4614" y="21600"/>
                </a:cubicBezTo>
                <a:cubicBezTo>
                  <a:pt x="4344" y="21600"/>
                  <a:pt x="4124" y="21254"/>
                  <a:pt x="4124" y="20827"/>
                </a:cubicBezTo>
                <a:cubicBezTo>
                  <a:pt x="4124" y="20400"/>
                  <a:pt x="4344" y="20054"/>
                  <a:pt x="4614" y="20054"/>
                </a:cubicBezTo>
                <a:cubicBezTo>
                  <a:pt x="4884" y="20054"/>
                  <a:pt x="5103" y="20400"/>
                  <a:pt x="5104" y="20827"/>
                </a:cubicBezTo>
                <a:close/>
                <a:moveTo>
                  <a:pt x="9227" y="20827"/>
                </a:moveTo>
                <a:cubicBezTo>
                  <a:pt x="9227" y="21254"/>
                  <a:pt x="9008" y="21600"/>
                  <a:pt x="8737" y="21600"/>
                </a:cubicBezTo>
                <a:cubicBezTo>
                  <a:pt x="8467" y="21600"/>
                  <a:pt x="8248" y="21254"/>
                  <a:pt x="8248" y="20827"/>
                </a:cubicBezTo>
                <a:cubicBezTo>
                  <a:pt x="8248" y="20400"/>
                  <a:pt x="8467" y="20054"/>
                  <a:pt x="8737" y="20054"/>
                </a:cubicBezTo>
                <a:cubicBezTo>
                  <a:pt x="9008" y="20054"/>
                  <a:pt x="9227" y="20400"/>
                  <a:pt x="9227" y="20826"/>
                </a:cubicBezTo>
                <a:cubicBezTo>
                  <a:pt x="9227" y="20826"/>
                  <a:pt x="9227" y="20827"/>
                  <a:pt x="9227" y="20827"/>
                </a:cubicBezTo>
                <a:close/>
                <a:moveTo>
                  <a:pt x="13351" y="20827"/>
                </a:moveTo>
                <a:cubicBezTo>
                  <a:pt x="13351" y="21254"/>
                  <a:pt x="13132" y="21600"/>
                  <a:pt x="12862" y="21600"/>
                </a:cubicBezTo>
                <a:cubicBezTo>
                  <a:pt x="12591" y="21600"/>
                  <a:pt x="12372" y="21254"/>
                  <a:pt x="12372" y="20827"/>
                </a:cubicBezTo>
                <a:cubicBezTo>
                  <a:pt x="12372" y="20400"/>
                  <a:pt x="12591" y="20054"/>
                  <a:pt x="12862" y="20054"/>
                </a:cubicBezTo>
                <a:cubicBezTo>
                  <a:pt x="13132" y="20054"/>
                  <a:pt x="13351" y="20400"/>
                  <a:pt x="13351" y="20826"/>
                </a:cubicBezTo>
                <a:cubicBezTo>
                  <a:pt x="13351" y="20826"/>
                  <a:pt x="13351" y="20827"/>
                  <a:pt x="13351" y="20827"/>
                </a:cubicBezTo>
                <a:close/>
                <a:moveTo>
                  <a:pt x="17476" y="20827"/>
                </a:moveTo>
                <a:cubicBezTo>
                  <a:pt x="17476" y="21254"/>
                  <a:pt x="17256" y="21600"/>
                  <a:pt x="16986" y="21600"/>
                </a:cubicBezTo>
                <a:cubicBezTo>
                  <a:pt x="16716" y="21600"/>
                  <a:pt x="16496" y="21254"/>
                  <a:pt x="16496" y="20827"/>
                </a:cubicBezTo>
                <a:cubicBezTo>
                  <a:pt x="16496" y="20400"/>
                  <a:pt x="16716" y="20054"/>
                  <a:pt x="16986" y="20054"/>
                </a:cubicBezTo>
                <a:cubicBezTo>
                  <a:pt x="17256" y="20054"/>
                  <a:pt x="17476" y="20400"/>
                  <a:pt x="17476" y="20826"/>
                </a:cubicBezTo>
                <a:cubicBezTo>
                  <a:pt x="17476" y="20826"/>
                  <a:pt x="17476" y="20827"/>
                  <a:pt x="17476" y="20827"/>
                </a:cubicBezTo>
                <a:close/>
                <a:moveTo>
                  <a:pt x="21600" y="20827"/>
                </a:moveTo>
                <a:cubicBezTo>
                  <a:pt x="21600" y="21254"/>
                  <a:pt x="21381" y="21600"/>
                  <a:pt x="21110" y="21600"/>
                </a:cubicBezTo>
                <a:cubicBezTo>
                  <a:pt x="20840" y="21600"/>
                  <a:pt x="20621" y="21254"/>
                  <a:pt x="20621" y="20827"/>
                </a:cubicBezTo>
                <a:cubicBezTo>
                  <a:pt x="20621" y="20400"/>
                  <a:pt x="20840" y="20054"/>
                  <a:pt x="21110" y="20054"/>
                </a:cubicBezTo>
                <a:cubicBezTo>
                  <a:pt x="21381" y="20054"/>
                  <a:pt x="21600" y="20400"/>
                  <a:pt x="21600" y="20827"/>
                </a:cubicBezTo>
                <a:close/>
              </a:path>
            </a:pathLst>
          </a:cu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4" name="Shape 14"/>
          <p:cNvSpPr/>
          <p:nvPr/>
        </p:nvSpPr>
        <p:spPr>
          <a:xfrm>
            <a:off x="9964379" y="5226548"/>
            <a:ext cx="1142901" cy="723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79" y="773"/>
                </a:moveTo>
                <a:cubicBezTo>
                  <a:pt x="979" y="1200"/>
                  <a:pt x="760" y="1546"/>
                  <a:pt x="490" y="1546"/>
                </a:cubicBezTo>
                <a:cubicBezTo>
                  <a:pt x="219" y="1546"/>
                  <a:pt x="0" y="1200"/>
                  <a:pt x="0" y="773"/>
                </a:cubicBezTo>
                <a:cubicBezTo>
                  <a:pt x="0" y="346"/>
                  <a:pt x="219" y="0"/>
                  <a:pt x="490" y="0"/>
                </a:cubicBezTo>
                <a:cubicBezTo>
                  <a:pt x="760" y="0"/>
                  <a:pt x="979" y="346"/>
                  <a:pt x="979" y="772"/>
                </a:cubicBezTo>
                <a:cubicBezTo>
                  <a:pt x="979" y="773"/>
                  <a:pt x="979" y="773"/>
                  <a:pt x="979" y="773"/>
                </a:cubicBezTo>
                <a:close/>
                <a:moveTo>
                  <a:pt x="5104" y="773"/>
                </a:moveTo>
                <a:cubicBezTo>
                  <a:pt x="5104" y="1200"/>
                  <a:pt x="4884" y="1546"/>
                  <a:pt x="4614" y="1546"/>
                </a:cubicBezTo>
                <a:cubicBezTo>
                  <a:pt x="4344" y="1546"/>
                  <a:pt x="4124" y="1200"/>
                  <a:pt x="4124" y="773"/>
                </a:cubicBezTo>
                <a:cubicBezTo>
                  <a:pt x="4124" y="346"/>
                  <a:pt x="4344" y="0"/>
                  <a:pt x="4614" y="0"/>
                </a:cubicBezTo>
                <a:cubicBezTo>
                  <a:pt x="4884" y="1"/>
                  <a:pt x="5103" y="347"/>
                  <a:pt x="5104" y="773"/>
                </a:cubicBezTo>
                <a:close/>
                <a:moveTo>
                  <a:pt x="9227" y="773"/>
                </a:moveTo>
                <a:cubicBezTo>
                  <a:pt x="9227" y="1200"/>
                  <a:pt x="9008" y="1546"/>
                  <a:pt x="8737" y="1546"/>
                </a:cubicBezTo>
                <a:cubicBezTo>
                  <a:pt x="8467" y="1546"/>
                  <a:pt x="8248" y="1200"/>
                  <a:pt x="8248" y="773"/>
                </a:cubicBezTo>
                <a:cubicBezTo>
                  <a:pt x="8248" y="346"/>
                  <a:pt x="8467" y="0"/>
                  <a:pt x="8737" y="0"/>
                </a:cubicBezTo>
                <a:cubicBezTo>
                  <a:pt x="9008" y="0"/>
                  <a:pt x="9227" y="346"/>
                  <a:pt x="9227" y="772"/>
                </a:cubicBezTo>
                <a:cubicBezTo>
                  <a:pt x="9227" y="773"/>
                  <a:pt x="9227" y="773"/>
                  <a:pt x="9227" y="773"/>
                </a:cubicBezTo>
                <a:close/>
                <a:moveTo>
                  <a:pt x="13351" y="773"/>
                </a:moveTo>
                <a:cubicBezTo>
                  <a:pt x="13351" y="1200"/>
                  <a:pt x="13132" y="1546"/>
                  <a:pt x="12862" y="1546"/>
                </a:cubicBezTo>
                <a:cubicBezTo>
                  <a:pt x="12591" y="1546"/>
                  <a:pt x="12372" y="1200"/>
                  <a:pt x="12372" y="773"/>
                </a:cubicBezTo>
                <a:cubicBezTo>
                  <a:pt x="12372" y="346"/>
                  <a:pt x="12591" y="0"/>
                  <a:pt x="12862" y="0"/>
                </a:cubicBezTo>
                <a:cubicBezTo>
                  <a:pt x="13132" y="0"/>
                  <a:pt x="13351" y="346"/>
                  <a:pt x="13351" y="772"/>
                </a:cubicBezTo>
                <a:cubicBezTo>
                  <a:pt x="13351" y="773"/>
                  <a:pt x="13351" y="773"/>
                  <a:pt x="13351" y="773"/>
                </a:cubicBezTo>
                <a:close/>
                <a:moveTo>
                  <a:pt x="17476" y="773"/>
                </a:moveTo>
                <a:cubicBezTo>
                  <a:pt x="17476" y="1200"/>
                  <a:pt x="17256" y="1546"/>
                  <a:pt x="16986" y="1546"/>
                </a:cubicBezTo>
                <a:cubicBezTo>
                  <a:pt x="16716" y="1546"/>
                  <a:pt x="16496" y="1200"/>
                  <a:pt x="16496" y="773"/>
                </a:cubicBezTo>
                <a:cubicBezTo>
                  <a:pt x="16496" y="346"/>
                  <a:pt x="16716" y="0"/>
                  <a:pt x="16986" y="0"/>
                </a:cubicBezTo>
                <a:cubicBezTo>
                  <a:pt x="17256" y="0"/>
                  <a:pt x="17476" y="346"/>
                  <a:pt x="17476" y="772"/>
                </a:cubicBezTo>
                <a:cubicBezTo>
                  <a:pt x="17476" y="773"/>
                  <a:pt x="17476" y="773"/>
                  <a:pt x="17476" y="773"/>
                </a:cubicBezTo>
                <a:close/>
                <a:moveTo>
                  <a:pt x="21600" y="773"/>
                </a:moveTo>
                <a:cubicBezTo>
                  <a:pt x="21600" y="1200"/>
                  <a:pt x="21381" y="1546"/>
                  <a:pt x="21110" y="1546"/>
                </a:cubicBezTo>
                <a:cubicBezTo>
                  <a:pt x="20840" y="1546"/>
                  <a:pt x="20621" y="1200"/>
                  <a:pt x="20621" y="773"/>
                </a:cubicBezTo>
                <a:cubicBezTo>
                  <a:pt x="20621" y="346"/>
                  <a:pt x="20840" y="0"/>
                  <a:pt x="21110" y="0"/>
                </a:cubicBezTo>
                <a:cubicBezTo>
                  <a:pt x="21381" y="1"/>
                  <a:pt x="21600" y="347"/>
                  <a:pt x="21600" y="773"/>
                </a:cubicBezTo>
                <a:close/>
                <a:moveTo>
                  <a:pt x="979" y="5787"/>
                </a:moveTo>
                <a:cubicBezTo>
                  <a:pt x="979" y="6214"/>
                  <a:pt x="760" y="6560"/>
                  <a:pt x="490" y="6560"/>
                </a:cubicBezTo>
                <a:cubicBezTo>
                  <a:pt x="219" y="6560"/>
                  <a:pt x="0" y="6214"/>
                  <a:pt x="0" y="5787"/>
                </a:cubicBezTo>
                <a:cubicBezTo>
                  <a:pt x="0" y="5360"/>
                  <a:pt x="219" y="5014"/>
                  <a:pt x="490" y="5014"/>
                </a:cubicBezTo>
                <a:cubicBezTo>
                  <a:pt x="760" y="5013"/>
                  <a:pt x="979" y="5359"/>
                  <a:pt x="979" y="5786"/>
                </a:cubicBezTo>
                <a:cubicBezTo>
                  <a:pt x="979" y="5786"/>
                  <a:pt x="979" y="5786"/>
                  <a:pt x="979" y="5787"/>
                </a:cubicBezTo>
                <a:close/>
                <a:moveTo>
                  <a:pt x="5104" y="5787"/>
                </a:moveTo>
                <a:cubicBezTo>
                  <a:pt x="5104" y="6214"/>
                  <a:pt x="4884" y="6560"/>
                  <a:pt x="4614" y="6560"/>
                </a:cubicBezTo>
                <a:cubicBezTo>
                  <a:pt x="4344" y="6560"/>
                  <a:pt x="4124" y="6214"/>
                  <a:pt x="4124" y="5787"/>
                </a:cubicBezTo>
                <a:cubicBezTo>
                  <a:pt x="4124" y="5360"/>
                  <a:pt x="4344" y="5014"/>
                  <a:pt x="4614" y="5014"/>
                </a:cubicBezTo>
                <a:cubicBezTo>
                  <a:pt x="4884" y="5014"/>
                  <a:pt x="5103" y="5360"/>
                  <a:pt x="5104" y="5787"/>
                </a:cubicBezTo>
                <a:close/>
                <a:moveTo>
                  <a:pt x="9227" y="5787"/>
                </a:moveTo>
                <a:cubicBezTo>
                  <a:pt x="9227" y="6214"/>
                  <a:pt x="9008" y="6560"/>
                  <a:pt x="8737" y="6560"/>
                </a:cubicBezTo>
                <a:cubicBezTo>
                  <a:pt x="8467" y="6560"/>
                  <a:pt x="8248" y="6214"/>
                  <a:pt x="8248" y="5787"/>
                </a:cubicBezTo>
                <a:cubicBezTo>
                  <a:pt x="8248" y="5360"/>
                  <a:pt x="8467" y="5014"/>
                  <a:pt x="8737" y="5014"/>
                </a:cubicBezTo>
                <a:cubicBezTo>
                  <a:pt x="9008" y="5013"/>
                  <a:pt x="9227" y="5359"/>
                  <a:pt x="9227" y="5786"/>
                </a:cubicBezTo>
                <a:cubicBezTo>
                  <a:pt x="9227" y="5786"/>
                  <a:pt x="9227" y="5786"/>
                  <a:pt x="9227" y="5787"/>
                </a:cubicBezTo>
                <a:close/>
                <a:moveTo>
                  <a:pt x="13351" y="5787"/>
                </a:moveTo>
                <a:cubicBezTo>
                  <a:pt x="13351" y="6214"/>
                  <a:pt x="13132" y="6560"/>
                  <a:pt x="12862" y="6560"/>
                </a:cubicBezTo>
                <a:cubicBezTo>
                  <a:pt x="12591" y="6560"/>
                  <a:pt x="12372" y="6214"/>
                  <a:pt x="12372" y="5787"/>
                </a:cubicBezTo>
                <a:cubicBezTo>
                  <a:pt x="12372" y="5360"/>
                  <a:pt x="12591" y="5014"/>
                  <a:pt x="12862" y="5014"/>
                </a:cubicBezTo>
                <a:cubicBezTo>
                  <a:pt x="13132" y="5013"/>
                  <a:pt x="13351" y="5359"/>
                  <a:pt x="13351" y="5786"/>
                </a:cubicBezTo>
                <a:cubicBezTo>
                  <a:pt x="13351" y="5786"/>
                  <a:pt x="13351" y="5786"/>
                  <a:pt x="13351" y="5787"/>
                </a:cubicBezTo>
                <a:close/>
                <a:moveTo>
                  <a:pt x="17476" y="5787"/>
                </a:moveTo>
                <a:cubicBezTo>
                  <a:pt x="17476" y="6214"/>
                  <a:pt x="17256" y="6560"/>
                  <a:pt x="16986" y="6560"/>
                </a:cubicBezTo>
                <a:cubicBezTo>
                  <a:pt x="16716" y="6560"/>
                  <a:pt x="16496" y="6214"/>
                  <a:pt x="16496" y="5787"/>
                </a:cubicBezTo>
                <a:cubicBezTo>
                  <a:pt x="16496" y="5360"/>
                  <a:pt x="16716" y="5014"/>
                  <a:pt x="16986" y="5014"/>
                </a:cubicBezTo>
                <a:cubicBezTo>
                  <a:pt x="17256" y="5013"/>
                  <a:pt x="17476" y="5359"/>
                  <a:pt x="17476" y="5786"/>
                </a:cubicBezTo>
                <a:cubicBezTo>
                  <a:pt x="17476" y="5786"/>
                  <a:pt x="17476" y="5786"/>
                  <a:pt x="17476" y="5787"/>
                </a:cubicBezTo>
                <a:close/>
                <a:moveTo>
                  <a:pt x="21600" y="5787"/>
                </a:moveTo>
                <a:cubicBezTo>
                  <a:pt x="21600" y="6214"/>
                  <a:pt x="21381" y="6560"/>
                  <a:pt x="21110" y="6560"/>
                </a:cubicBezTo>
                <a:cubicBezTo>
                  <a:pt x="20840" y="6560"/>
                  <a:pt x="20621" y="6214"/>
                  <a:pt x="20621" y="5787"/>
                </a:cubicBezTo>
                <a:cubicBezTo>
                  <a:pt x="20621" y="5360"/>
                  <a:pt x="20840" y="5014"/>
                  <a:pt x="21110" y="5014"/>
                </a:cubicBezTo>
                <a:cubicBezTo>
                  <a:pt x="21381" y="5014"/>
                  <a:pt x="21600" y="5360"/>
                  <a:pt x="21600" y="5787"/>
                </a:cubicBezTo>
                <a:close/>
                <a:moveTo>
                  <a:pt x="979" y="10800"/>
                </a:moveTo>
                <a:cubicBezTo>
                  <a:pt x="979" y="11227"/>
                  <a:pt x="760" y="11573"/>
                  <a:pt x="490" y="11573"/>
                </a:cubicBezTo>
                <a:cubicBezTo>
                  <a:pt x="219" y="11573"/>
                  <a:pt x="0" y="11227"/>
                  <a:pt x="0" y="10800"/>
                </a:cubicBezTo>
                <a:cubicBezTo>
                  <a:pt x="0" y="10373"/>
                  <a:pt x="219" y="10027"/>
                  <a:pt x="490" y="10027"/>
                </a:cubicBezTo>
                <a:cubicBezTo>
                  <a:pt x="760" y="10027"/>
                  <a:pt x="979" y="10373"/>
                  <a:pt x="979" y="10799"/>
                </a:cubicBezTo>
                <a:cubicBezTo>
                  <a:pt x="979" y="10800"/>
                  <a:pt x="979" y="10800"/>
                  <a:pt x="979" y="10800"/>
                </a:cubicBezTo>
                <a:close/>
                <a:moveTo>
                  <a:pt x="5104" y="10800"/>
                </a:moveTo>
                <a:cubicBezTo>
                  <a:pt x="5104" y="11227"/>
                  <a:pt x="4884" y="11573"/>
                  <a:pt x="4614" y="11573"/>
                </a:cubicBezTo>
                <a:cubicBezTo>
                  <a:pt x="4344" y="11573"/>
                  <a:pt x="4124" y="11227"/>
                  <a:pt x="4124" y="10800"/>
                </a:cubicBezTo>
                <a:cubicBezTo>
                  <a:pt x="4124" y="10373"/>
                  <a:pt x="4344" y="10027"/>
                  <a:pt x="4614" y="10027"/>
                </a:cubicBezTo>
                <a:cubicBezTo>
                  <a:pt x="4884" y="10028"/>
                  <a:pt x="5103" y="10373"/>
                  <a:pt x="5104" y="10800"/>
                </a:cubicBezTo>
                <a:close/>
                <a:moveTo>
                  <a:pt x="9227" y="10800"/>
                </a:moveTo>
                <a:cubicBezTo>
                  <a:pt x="9227" y="11227"/>
                  <a:pt x="9008" y="11573"/>
                  <a:pt x="8737" y="11573"/>
                </a:cubicBezTo>
                <a:cubicBezTo>
                  <a:pt x="8467" y="11573"/>
                  <a:pt x="8248" y="11227"/>
                  <a:pt x="8248" y="10800"/>
                </a:cubicBezTo>
                <a:cubicBezTo>
                  <a:pt x="8248" y="10373"/>
                  <a:pt x="8467" y="10027"/>
                  <a:pt x="8737" y="10027"/>
                </a:cubicBezTo>
                <a:cubicBezTo>
                  <a:pt x="9008" y="10027"/>
                  <a:pt x="9227" y="10373"/>
                  <a:pt x="9227" y="10799"/>
                </a:cubicBezTo>
                <a:cubicBezTo>
                  <a:pt x="9227" y="10800"/>
                  <a:pt x="9227" y="10800"/>
                  <a:pt x="9227" y="10800"/>
                </a:cubicBezTo>
                <a:close/>
                <a:moveTo>
                  <a:pt x="13351" y="10800"/>
                </a:moveTo>
                <a:cubicBezTo>
                  <a:pt x="13351" y="11227"/>
                  <a:pt x="13132" y="11573"/>
                  <a:pt x="12862" y="11573"/>
                </a:cubicBezTo>
                <a:cubicBezTo>
                  <a:pt x="12591" y="11573"/>
                  <a:pt x="12372" y="11227"/>
                  <a:pt x="12372" y="10800"/>
                </a:cubicBezTo>
                <a:cubicBezTo>
                  <a:pt x="12372" y="10373"/>
                  <a:pt x="12591" y="10027"/>
                  <a:pt x="12862" y="10027"/>
                </a:cubicBezTo>
                <a:cubicBezTo>
                  <a:pt x="13132" y="10027"/>
                  <a:pt x="13351" y="10373"/>
                  <a:pt x="13351" y="10799"/>
                </a:cubicBezTo>
                <a:cubicBezTo>
                  <a:pt x="13351" y="10800"/>
                  <a:pt x="13351" y="10800"/>
                  <a:pt x="13351" y="10800"/>
                </a:cubicBezTo>
                <a:close/>
                <a:moveTo>
                  <a:pt x="17476" y="10800"/>
                </a:moveTo>
                <a:cubicBezTo>
                  <a:pt x="17476" y="11227"/>
                  <a:pt x="17256" y="11573"/>
                  <a:pt x="16986" y="11573"/>
                </a:cubicBezTo>
                <a:cubicBezTo>
                  <a:pt x="16716" y="11573"/>
                  <a:pt x="16496" y="11227"/>
                  <a:pt x="16496" y="10800"/>
                </a:cubicBezTo>
                <a:cubicBezTo>
                  <a:pt x="16496" y="10373"/>
                  <a:pt x="16716" y="10027"/>
                  <a:pt x="16986" y="10027"/>
                </a:cubicBezTo>
                <a:cubicBezTo>
                  <a:pt x="17256" y="10027"/>
                  <a:pt x="17476" y="10373"/>
                  <a:pt x="17476" y="10799"/>
                </a:cubicBezTo>
                <a:cubicBezTo>
                  <a:pt x="17476" y="10800"/>
                  <a:pt x="17476" y="10800"/>
                  <a:pt x="17476" y="10800"/>
                </a:cubicBezTo>
                <a:close/>
                <a:moveTo>
                  <a:pt x="21600" y="10800"/>
                </a:moveTo>
                <a:cubicBezTo>
                  <a:pt x="21600" y="11227"/>
                  <a:pt x="21381" y="11573"/>
                  <a:pt x="21110" y="11573"/>
                </a:cubicBezTo>
                <a:cubicBezTo>
                  <a:pt x="20840" y="11573"/>
                  <a:pt x="20621" y="11227"/>
                  <a:pt x="20621" y="10800"/>
                </a:cubicBezTo>
                <a:cubicBezTo>
                  <a:pt x="20621" y="10373"/>
                  <a:pt x="20840" y="10027"/>
                  <a:pt x="21110" y="10027"/>
                </a:cubicBezTo>
                <a:cubicBezTo>
                  <a:pt x="21381" y="10028"/>
                  <a:pt x="21600" y="10373"/>
                  <a:pt x="21600" y="10800"/>
                </a:cubicBezTo>
                <a:close/>
                <a:moveTo>
                  <a:pt x="979" y="15814"/>
                </a:moveTo>
                <a:cubicBezTo>
                  <a:pt x="979" y="16240"/>
                  <a:pt x="760" y="16587"/>
                  <a:pt x="490" y="16587"/>
                </a:cubicBezTo>
                <a:cubicBezTo>
                  <a:pt x="219" y="16587"/>
                  <a:pt x="0" y="16240"/>
                  <a:pt x="0" y="15814"/>
                </a:cubicBezTo>
                <a:cubicBezTo>
                  <a:pt x="0" y="15387"/>
                  <a:pt x="219" y="15041"/>
                  <a:pt x="490" y="15041"/>
                </a:cubicBezTo>
                <a:cubicBezTo>
                  <a:pt x="760" y="15040"/>
                  <a:pt x="979" y="15386"/>
                  <a:pt x="979" y="15813"/>
                </a:cubicBezTo>
                <a:cubicBezTo>
                  <a:pt x="979" y="15813"/>
                  <a:pt x="979" y="15813"/>
                  <a:pt x="979" y="15814"/>
                </a:cubicBezTo>
                <a:close/>
                <a:moveTo>
                  <a:pt x="5104" y="15814"/>
                </a:moveTo>
                <a:cubicBezTo>
                  <a:pt x="5104" y="16240"/>
                  <a:pt x="4884" y="16587"/>
                  <a:pt x="4614" y="16587"/>
                </a:cubicBezTo>
                <a:cubicBezTo>
                  <a:pt x="4344" y="16587"/>
                  <a:pt x="4124" y="16240"/>
                  <a:pt x="4124" y="15814"/>
                </a:cubicBezTo>
                <a:cubicBezTo>
                  <a:pt x="4124" y="15387"/>
                  <a:pt x="4344" y="15041"/>
                  <a:pt x="4614" y="15041"/>
                </a:cubicBezTo>
                <a:cubicBezTo>
                  <a:pt x="4884" y="15041"/>
                  <a:pt x="5103" y="15387"/>
                  <a:pt x="5104" y="15814"/>
                </a:cubicBezTo>
                <a:close/>
                <a:moveTo>
                  <a:pt x="9227" y="15814"/>
                </a:moveTo>
                <a:cubicBezTo>
                  <a:pt x="9227" y="16240"/>
                  <a:pt x="9008" y="16587"/>
                  <a:pt x="8737" y="16587"/>
                </a:cubicBezTo>
                <a:cubicBezTo>
                  <a:pt x="8467" y="16587"/>
                  <a:pt x="8248" y="16240"/>
                  <a:pt x="8248" y="15814"/>
                </a:cubicBezTo>
                <a:cubicBezTo>
                  <a:pt x="8248" y="15387"/>
                  <a:pt x="8467" y="15041"/>
                  <a:pt x="8737" y="15041"/>
                </a:cubicBezTo>
                <a:cubicBezTo>
                  <a:pt x="9008" y="15040"/>
                  <a:pt x="9227" y="15386"/>
                  <a:pt x="9227" y="15813"/>
                </a:cubicBezTo>
                <a:cubicBezTo>
                  <a:pt x="9227" y="15813"/>
                  <a:pt x="9227" y="15813"/>
                  <a:pt x="9227" y="15814"/>
                </a:cubicBezTo>
                <a:close/>
                <a:moveTo>
                  <a:pt x="13351" y="15814"/>
                </a:moveTo>
                <a:cubicBezTo>
                  <a:pt x="13351" y="16240"/>
                  <a:pt x="13132" y="16587"/>
                  <a:pt x="12862" y="16587"/>
                </a:cubicBezTo>
                <a:cubicBezTo>
                  <a:pt x="12591" y="16587"/>
                  <a:pt x="12372" y="16240"/>
                  <a:pt x="12372" y="15814"/>
                </a:cubicBezTo>
                <a:cubicBezTo>
                  <a:pt x="12372" y="15387"/>
                  <a:pt x="12591" y="15041"/>
                  <a:pt x="12862" y="15041"/>
                </a:cubicBezTo>
                <a:cubicBezTo>
                  <a:pt x="13132" y="15040"/>
                  <a:pt x="13351" y="15386"/>
                  <a:pt x="13351" y="15813"/>
                </a:cubicBezTo>
                <a:cubicBezTo>
                  <a:pt x="13351" y="15813"/>
                  <a:pt x="13351" y="15813"/>
                  <a:pt x="13351" y="15814"/>
                </a:cubicBezTo>
                <a:close/>
                <a:moveTo>
                  <a:pt x="17476" y="15814"/>
                </a:moveTo>
                <a:cubicBezTo>
                  <a:pt x="17476" y="16240"/>
                  <a:pt x="17256" y="16587"/>
                  <a:pt x="16986" y="16587"/>
                </a:cubicBezTo>
                <a:cubicBezTo>
                  <a:pt x="16716" y="16587"/>
                  <a:pt x="16496" y="16240"/>
                  <a:pt x="16496" y="15814"/>
                </a:cubicBezTo>
                <a:cubicBezTo>
                  <a:pt x="16496" y="15387"/>
                  <a:pt x="16716" y="15041"/>
                  <a:pt x="16986" y="15041"/>
                </a:cubicBezTo>
                <a:cubicBezTo>
                  <a:pt x="17256" y="15040"/>
                  <a:pt x="17476" y="15386"/>
                  <a:pt x="17476" y="15813"/>
                </a:cubicBezTo>
                <a:cubicBezTo>
                  <a:pt x="17476" y="15813"/>
                  <a:pt x="17476" y="15813"/>
                  <a:pt x="17476" y="15814"/>
                </a:cubicBezTo>
                <a:close/>
                <a:moveTo>
                  <a:pt x="21600" y="15814"/>
                </a:moveTo>
                <a:cubicBezTo>
                  <a:pt x="21600" y="16240"/>
                  <a:pt x="21381" y="16587"/>
                  <a:pt x="21110" y="16587"/>
                </a:cubicBezTo>
                <a:cubicBezTo>
                  <a:pt x="20840" y="16587"/>
                  <a:pt x="20621" y="16240"/>
                  <a:pt x="20621" y="15814"/>
                </a:cubicBezTo>
                <a:cubicBezTo>
                  <a:pt x="20621" y="15387"/>
                  <a:pt x="20840" y="15041"/>
                  <a:pt x="21110" y="15041"/>
                </a:cubicBezTo>
                <a:cubicBezTo>
                  <a:pt x="21381" y="15041"/>
                  <a:pt x="21600" y="15387"/>
                  <a:pt x="21600" y="15814"/>
                </a:cubicBezTo>
                <a:close/>
                <a:moveTo>
                  <a:pt x="979" y="20827"/>
                </a:moveTo>
                <a:cubicBezTo>
                  <a:pt x="979" y="21254"/>
                  <a:pt x="760" y="21600"/>
                  <a:pt x="490" y="21600"/>
                </a:cubicBezTo>
                <a:cubicBezTo>
                  <a:pt x="219" y="21600"/>
                  <a:pt x="0" y="21254"/>
                  <a:pt x="0" y="20827"/>
                </a:cubicBezTo>
                <a:cubicBezTo>
                  <a:pt x="0" y="20400"/>
                  <a:pt x="219" y="20054"/>
                  <a:pt x="490" y="20054"/>
                </a:cubicBezTo>
                <a:cubicBezTo>
                  <a:pt x="760" y="20054"/>
                  <a:pt x="979" y="20400"/>
                  <a:pt x="979" y="20826"/>
                </a:cubicBezTo>
                <a:cubicBezTo>
                  <a:pt x="979" y="20826"/>
                  <a:pt x="979" y="20827"/>
                  <a:pt x="979" y="20827"/>
                </a:cubicBezTo>
                <a:close/>
                <a:moveTo>
                  <a:pt x="5104" y="20827"/>
                </a:moveTo>
                <a:cubicBezTo>
                  <a:pt x="5104" y="21254"/>
                  <a:pt x="4884" y="21600"/>
                  <a:pt x="4614" y="21600"/>
                </a:cubicBezTo>
                <a:cubicBezTo>
                  <a:pt x="4344" y="21600"/>
                  <a:pt x="4124" y="21254"/>
                  <a:pt x="4124" y="20827"/>
                </a:cubicBezTo>
                <a:cubicBezTo>
                  <a:pt x="4124" y="20400"/>
                  <a:pt x="4344" y="20054"/>
                  <a:pt x="4614" y="20054"/>
                </a:cubicBezTo>
                <a:cubicBezTo>
                  <a:pt x="4884" y="20054"/>
                  <a:pt x="5103" y="20400"/>
                  <a:pt x="5104" y="20827"/>
                </a:cubicBezTo>
                <a:close/>
                <a:moveTo>
                  <a:pt x="9227" y="20827"/>
                </a:moveTo>
                <a:cubicBezTo>
                  <a:pt x="9227" y="21254"/>
                  <a:pt x="9008" y="21600"/>
                  <a:pt x="8737" y="21600"/>
                </a:cubicBezTo>
                <a:cubicBezTo>
                  <a:pt x="8467" y="21600"/>
                  <a:pt x="8248" y="21254"/>
                  <a:pt x="8248" y="20827"/>
                </a:cubicBezTo>
                <a:cubicBezTo>
                  <a:pt x="8248" y="20400"/>
                  <a:pt x="8467" y="20054"/>
                  <a:pt x="8737" y="20054"/>
                </a:cubicBezTo>
                <a:cubicBezTo>
                  <a:pt x="9008" y="20054"/>
                  <a:pt x="9227" y="20400"/>
                  <a:pt x="9227" y="20826"/>
                </a:cubicBezTo>
                <a:cubicBezTo>
                  <a:pt x="9227" y="20826"/>
                  <a:pt x="9227" y="20827"/>
                  <a:pt x="9227" y="20827"/>
                </a:cubicBezTo>
                <a:close/>
                <a:moveTo>
                  <a:pt x="13351" y="20827"/>
                </a:moveTo>
                <a:cubicBezTo>
                  <a:pt x="13351" y="21254"/>
                  <a:pt x="13132" y="21600"/>
                  <a:pt x="12862" y="21600"/>
                </a:cubicBezTo>
                <a:cubicBezTo>
                  <a:pt x="12591" y="21600"/>
                  <a:pt x="12372" y="21254"/>
                  <a:pt x="12372" y="20827"/>
                </a:cubicBezTo>
                <a:cubicBezTo>
                  <a:pt x="12372" y="20400"/>
                  <a:pt x="12591" y="20054"/>
                  <a:pt x="12862" y="20054"/>
                </a:cubicBezTo>
                <a:cubicBezTo>
                  <a:pt x="13132" y="20054"/>
                  <a:pt x="13351" y="20400"/>
                  <a:pt x="13351" y="20826"/>
                </a:cubicBezTo>
                <a:cubicBezTo>
                  <a:pt x="13351" y="20826"/>
                  <a:pt x="13351" y="20827"/>
                  <a:pt x="13351" y="20827"/>
                </a:cubicBezTo>
                <a:close/>
                <a:moveTo>
                  <a:pt x="17476" y="20827"/>
                </a:moveTo>
                <a:cubicBezTo>
                  <a:pt x="17476" y="21254"/>
                  <a:pt x="17256" y="21600"/>
                  <a:pt x="16986" y="21600"/>
                </a:cubicBezTo>
                <a:cubicBezTo>
                  <a:pt x="16716" y="21600"/>
                  <a:pt x="16496" y="21254"/>
                  <a:pt x="16496" y="20827"/>
                </a:cubicBezTo>
                <a:cubicBezTo>
                  <a:pt x="16496" y="20400"/>
                  <a:pt x="16716" y="20054"/>
                  <a:pt x="16986" y="20054"/>
                </a:cubicBezTo>
                <a:cubicBezTo>
                  <a:pt x="17256" y="20054"/>
                  <a:pt x="17476" y="20400"/>
                  <a:pt x="17476" y="20826"/>
                </a:cubicBezTo>
                <a:cubicBezTo>
                  <a:pt x="17476" y="20826"/>
                  <a:pt x="17476" y="20827"/>
                  <a:pt x="17476" y="20827"/>
                </a:cubicBezTo>
                <a:close/>
                <a:moveTo>
                  <a:pt x="21600" y="20827"/>
                </a:moveTo>
                <a:cubicBezTo>
                  <a:pt x="21600" y="21254"/>
                  <a:pt x="21381" y="21600"/>
                  <a:pt x="21110" y="21600"/>
                </a:cubicBezTo>
                <a:cubicBezTo>
                  <a:pt x="20840" y="21600"/>
                  <a:pt x="20621" y="21254"/>
                  <a:pt x="20621" y="20827"/>
                </a:cubicBezTo>
                <a:cubicBezTo>
                  <a:pt x="20621" y="20400"/>
                  <a:pt x="20840" y="20054"/>
                  <a:pt x="21110" y="20054"/>
                </a:cubicBezTo>
                <a:cubicBezTo>
                  <a:pt x="21381" y="20054"/>
                  <a:pt x="21600" y="20400"/>
                  <a:pt x="21600" y="20827"/>
                </a:cubicBezTo>
                <a:close/>
              </a:path>
            </a:pathLst>
          </a:custGeom>
          <a:solidFill>
            <a:srgbClr val="FCFC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5" name="Text 15"/>
          <p:cNvSpPr txBox="1"/>
          <p:nvPr/>
        </p:nvSpPr>
        <p:spPr>
          <a:xfrm>
            <a:off x="1034020" y="2141815"/>
            <a:ext cx="564648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6" name="Text 16"/>
          <p:cNvSpPr txBox="1"/>
          <p:nvPr/>
        </p:nvSpPr>
        <p:spPr>
          <a:xfrm>
            <a:off x="1875827" y="2209573"/>
            <a:ext cx="5185604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26262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预定计划的执行情况</a:t>
            </a:r>
          </a:p>
        </p:txBody>
      </p:sp>
      <p:sp>
        <p:nvSpPr>
          <p:cNvPr id="77" name="Text 17"/>
          <p:cNvSpPr txBox="1"/>
          <p:nvPr/>
        </p:nvSpPr>
        <p:spPr>
          <a:xfrm>
            <a:off x="1034020" y="3009226"/>
            <a:ext cx="564648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8" name="Text 18"/>
          <p:cNvSpPr txBox="1"/>
          <p:nvPr/>
        </p:nvSpPr>
        <p:spPr>
          <a:xfrm>
            <a:off x="1875827" y="3076981"/>
            <a:ext cx="518461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已完成工作</a:t>
            </a:r>
          </a:p>
        </p:txBody>
      </p:sp>
      <p:sp>
        <p:nvSpPr>
          <p:cNvPr id="79" name="Text 19"/>
          <p:cNvSpPr txBox="1"/>
          <p:nvPr/>
        </p:nvSpPr>
        <p:spPr>
          <a:xfrm>
            <a:off x="1034020" y="3876636"/>
            <a:ext cx="564648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0" name="Text 20"/>
          <p:cNvSpPr txBox="1"/>
          <p:nvPr/>
        </p:nvSpPr>
        <p:spPr>
          <a:xfrm>
            <a:off x="1875827" y="3937432"/>
            <a:ext cx="518461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实验案例</a:t>
            </a:r>
          </a:p>
        </p:txBody>
      </p:sp>
      <p:sp>
        <p:nvSpPr>
          <p:cNvPr id="81" name="Text 21"/>
          <p:cNvSpPr txBox="1"/>
          <p:nvPr/>
        </p:nvSpPr>
        <p:spPr>
          <a:xfrm>
            <a:off x="964488" y="4744047"/>
            <a:ext cx="702221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" name="Text 22"/>
          <p:cNvSpPr txBox="1"/>
          <p:nvPr/>
        </p:nvSpPr>
        <p:spPr>
          <a:xfrm>
            <a:off x="1875827" y="4804840"/>
            <a:ext cx="518461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后期计划</a:t>
            </a:r>
          </a:p>
        </p:txBody>
      </p:sp>
      <p:sp>
        <p:nvSpPr>
          <p:cNvPr id="83" name="Text 23"/>
          <p:cNvSpPr txBox="1"/>
          <p:nvPr/>
        </p:nvSpPr>
        <p:spPr>
          <a:xfrm>
            <a:off x="1034020" y="5611456"/>
            <a:ext cx="564648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4" name="Text 24"/>
          <p:cNvSpPr txBox="1"/>
          <p:nvPr/>
        </p:nvSpPr>
        <p:spPr>
          <a:xfrm>
            <a:off x="1875827" y="5679213"/>
            <a:ext cx="518461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困难与按时完成的可能性</a:t>
            </a:r>
          </a:p>
        </p:txBody>
      </p:sp>
      <p:pic>
        <p:nvPicPr>
          <p:cNvPr id="85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336360" y="223432"/>
            <a:ext cx="2520282" cy="726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 txBox="1"/>
          <p:nvPr/>
        </p:nvSpPr>
        <p:spPr>
          <a:xfrm>
            <a:off x="641350" y="449897"/>
            <a:ext cx="6913244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预定计划的执行情况</a:t>
            </a:r>
          </a:p>
        </p:txBody>
      </p:sp>
      <p:pic>
        <p:nvPicPr>
          <p:cNvPr id="88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0" y="487044"/>
            <a:ext cx="579756" cy="652147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片 29" descr="图片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36360" y="223432"/>
            <a:ext cx="2520282" cy="726276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线条"/>
          <p:cNvSpPr/>
          <p:nvPr/>
        </p:nvSpPr>
        <p:spPr>
          <a:xfrm flipV="1">
            <a:off x="1099938" y="1247701"/>
            <a:ext cx="3" cy="4990757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" name="圆形"/>
          <p:cNvSpPr/>
          <p:nvPr/>
        </p:nvSpPr>
        <p:spPr>
          <a:xfrm>
            <a:off x="892043" y="4636992"/>
            <a:ext cx="415793" cy="415793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" name="圆形"/>
          <p:cNvSpPr/>
          <p:nvPr/>
        </p:nvSpPr>
        <p:spPr>
          <a:xfrm>
            <a:off x="892043" y="3221103"/>
            <a:ext cx="415793" cy="415793"/>
          </a:xfrm>
          <a:prstGeom prst="ellipse">
            <a:avLst/>
          </a:prstGeom>
          <a:solidFill>
            <a:schemeClr val="accent6"/>
          </a:solidFill>
          <a:ln w="19050">
            <a:solidFill>
              <a:srgbClr val="FFFFFF"/>
            </a:solidFill>
            <a:miter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" name="圆形"/>
          <p:cNvSpPr/>
          <p:nvPr/>
        </p:nvSpPr>
        <p:spPr>
          <a:xfrm>
            <a:off x="892043" y="1805215"/>
            <a:ext cx="415793" cy="415793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FFFF"/>
            </a:solidFill>
            <a:miter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" name="第一阶段：2025.12 - 2026.01…"/>
          <p:cNvSpPr txBox="1"/>
          <p:nvPr/>
        </p:nvSpPr>
        <p:spPr>
          <a:xfrm>
            <a:off x="1576331" y="1425537"/>
            <a:ext cx="4383145" cy="11624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chemeClr val="accent1">
                    <a:satOff val="-6314"/>
                    <a:lumOff val="-10392"/>
                  </a:schemeClr>
                </a:solidFill>
              </a:defRPr>
            </a:pPr>
            <a:r>
              <a:t>第一阶段：</a:t>
            </a:r>
            <a:r>
              <a:rPr>
                <a:solidFill>
                  <a:srgbClr val="000000"/>
                </a:solidFill>
              </a:rPr>
              <a:t>2025.12 - 2026.01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明确任务状态流转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建立人工确认机制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完成日志、快照等基础记录能力</a:t>
            </a:r>
          </a:p>
        </p:txBody>
      </p:sp>
      <p:sp>
        <p:nvSpPr>
          <p:cNvPr id="95" name="第二阶段：2026.01 - 2026.03上旬…"/>
          <p:cNvSpPr txBox="1"/>
          <p:nvPr/>
        </p:nvSpPr>
        <p:spPr>
          <a:xfrm>
            <a:off x="1576331" y="2841425"/>
            <a:ext cx="4383145" cy="11624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chemeClr val="accent6"/>
                </a:solidFill>
              </a:defRPr>
            </a:pPr>
            <a:r>
              <a:t>第二阶段：</a:t>
            </a:r>
            <a:r>
              <a:rPr>
                <a:solidFill>
                  <a:srgbClr val="000000"/>
                </a:solidFill>
              </a:rPr>
              <a:t>2026.01 - 2026.03上旬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完成方案生成与工具调用主链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支持失败后修补与重新规划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打通从头设计任务的主要步骤</a:t>
            </a:r>
          </a:p>
        </p:txBody>
      </p:sp>
      <p:sp>
        <p:nvSpPr>
          <p:cNvPr id="96" name="矩形"/>
          <p:cNvSpPr/>
          <p:nvPr/>
        </p:nvSpPr>
        <p:spPr>
          <a:xfrm>
            <a:off x="8115926" y="1744124"/>
            <a:ext cx="3708134" cy="353242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7" name="第三阶段：2026.03 中旬至今…"/>
          <p:cNvSpPr txBox="1"/>
          <p:nvPr/>
        </p:nvSpPr>
        <p:spPr>
          <a:xfrm>
            <a:off x="1576331" y="4257314"/>
            <a:ext cx="4383145" cy="11624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chemeClr val="accent2"/>
                </a:solidFill>
              </a:defRPr>
            </a:pPr>
            <a:r>
              <a:t>第三阶段：</a:t>
            </a:r>
            <a:r>
              <a:rPr>
                <a:solidFill>
                  <a:srgbClr val="000000"/>
                </a:solidFill>
              </a:rPr>
              <a:t>2026.03 中旬至今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整理中期实验与过程证据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完成机制验证基准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为答辩和论文写作准备图表与材料</a:t>
            </a:r>
          </a:p>
        </p:txBody>
      </p:sp>
      <p:sp>
        <p:nvSpPr>
          <p:cNvPr id="98" name="圆角矩形"/>
          <p:cNvSpPr/>
          <p:nvPr/>
        </p:nvSpPr>
        <p:spPr>
          <a:xfrm>
            <a:off x="8401926" y="1378111"/>
            <a:ext cx="3136132" cy="639447"/>
          </a:xfrm>
          <a:prstGeom prst="roundRect">
            <a:avLst>
              <a:gd name="adj" fmla="val 29791"/>
            </a:avLst>
          </a:prstGeom>
          <a:solidFill>
            <a:schemeClr val="accent3"/>
          </a:solidFill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9" name="当前状态总结"/>
          <p:cNvSpPr txBox="1"/>
          <p:nvPr/>
        </p:nvSpPr>
        <p:spPr>
          <a:xfrm>
            <a:off x="8688058" y="1539082"/>
            <a:ext cx="2563869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当前状态总结</a:t>
            </a:r>
          </a:p>
        </p:txBody>
      </p:sp>
      <p:grpSp>
        <p:nvGrpSpPr>
          <p:cNvPr id="102" name="主流程：已完成…"/>
          <p:cNvGrpSpPr/>
          <p:nvPr/>
        </p:nvGrpSpPr>
        <p:grpSpPr>
          <a:xfrm>
            <a:off x="8355493" y="2183185"/>
            <a:ext cx="3228999" cy="3175002"/>
            <a:chOff x="0" y="0"/>
            <a:chExt cx="3228997" cy="3175000"/>
          </a:xfrm>
        </p:grpSpPr>
        <p:sp>
          <p:nvSpPr>
            <p:cNvPr id="100" name="主流程：已完成…"/>
            <p:cNvSpPr txBox="1"/>
            <p:nvPr/>
          </p:nvSpPr>
          <p:spPr>
            <a:xfrm>
              <a:off x="215900" y="139700"/>
              <a:ext cx="2797198" cy="2590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80472" indent="-180472">
                <a:lnSpc>
                  <a:spcPct val="150000"/>
                </a:lnSpc>
                <a:buSzPct val="100000"/>
                <a:buChar char="•"/>
                <a:defRPr sz="1700"/>
              </a:pPr>
              <a:r>
                <a:t>主流程：</a:t>
              </a:r>
              <a:r>
                <a:rPr b="1">
                  <a:solidFill>
                    <a:schemeClr val="accent2"/>
                  </a:solidFill>
                </a:rPr>
                <a:t>已完成</a:t>
              </a:r>
              <a:endParaRPr b="1"/>
            </a:p>
            <a:p>
              <a:pPr marL="180472" indent="-180472">
                <a:lnSpc>
                  <a:spcPct val="150000"/>
                </a:lnSpc>
                <a:buSzPct val="100000"/>
                <a:buChar char="•"/>
                <a:defRPr sz="1700"/>
              </a:pPr>
              <a:r>
                <a:t>人工确认流程：</a:t>
              </a:r>
              <a:r>
                <a:rPr b="1">
                  <a:solidFill>
                    <a:schemeClr val="accent2"/>
                  </a:solidFill>
                </a:rPr>
                <a:t>已完成</a:t>
              </a:r>
              <a:endParaRPr b="1"/>
            </a:p>
            <a:p>
              <a:pPr marL="180472" indent="-180472">
                <a:lnSpc>
                  <a:spcPct val="150000"/>
                </a:lnSpc>
                <a:buSzPct val="100000"/>
                <a:buChar char="•"/>
                <a:defRPr sz="1700"/>
              </a:pPr>
              <a:r>
                <a:t>出错后恢复流程：</a:t>
              </a:r>
              <a:r>
                <a:rPr b="1">
                  <a:solidFill>
                    <a:schemeClr val="accent2"/>
                  </a:solidFill>
                </a:rPr>
                <a:t>已完成</a:t>
              </a:r>
              <a:endParaRPr b="1"/>
            </a:p>
            <a:p>
              <a:pPr marL="180472" indent="-180472">
                <a:lnSpc>
                  <a:spcPct val="150000"/>
                </a:lnSpc>
                <a:buSzPct val="100000"/>
                <a:buChar char="•"/>
                <a:defRPr sz="1700"/>
              </a:pPr>
              <a:r>
                <a:t>中期机制验证基准：</a:t>
              </a:r>
              <a:r>
                <a:rPr b="1">
                  <a:solidFill>
                    <a:schemeClr val="accent2"/>
                  </a:solidFill>
                </a:rPr>
                <a:t>已完成</a:t>
              </a:r>
            </a:p>
            <a:p>
              <a:pPr marL="180472" indent="-180472">
                <a:lnSpc>
                  <a:spcPct val="150000"/>
                </a:lnSpc>
                <a:buSzPct val="100000"/>
                <a:buChar char="•"/>
                <a:defRPr sz="1700"/>
              </a:pPr>
              <a:r>
                <a:t>横向对比实验：</a:t>
              </a:r>
              <a:r>
                <a:rPr b="1">
                  <a:solidFill>
                    <a:schemeClr val="accent6"/>
                  </a:solidFill>
                </a:rPr>
                <a:t>进行中</a:t>
              </a:r>
            </a:p>
            <a:p>
              <a:pPr marL="180472" indent="-180472">
                <a:lnSpc>
                  <a:spcPct val="150000"/>
                </a:lnSpc>
                <a:buSzPct val="100000"/>
                <a:buChar char="•"/>
                <a:defRPr sz="1700"/>
              </a:pPr>
              <a:r>
                <a:t>外部模型训练：</a:t>
              </a:r>
              <a:r>
                <a:rPr b="1"/>
                <a:t>未开始</a:t>
              </a:r>
            </a:p>
          </p:txBody>
        </p:sp>
        <p:pic>
          <p:nvPicPr>
            <p:cNvPr id="101" name="主流程：已完成… 主流程：已完成人工确认流程：已完成出错后恢复流程：已完成中期机制验证基准：已完成横向对比实验：进行中外部模型训练：未开始" descr="主流程：已完成… 主流程：已完成人工确认流程：已完成出错后恢复流程：已完成中期机制验证基准：已完成横向对比实验：进行中外部模型训练：未开始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3228998" cy="3175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图像画廊" descr="图像画廊"/>
          <p:cNvPicPr>
            <a:picLocks noChangeAspect="1"/>
          </p:cNvPicPr>
          <p:nvPr/>
        </p:nvPicPr>
        <p:blipFill>
          <a:blip r:embed="rId2">
            <a:extLst/>
          </a:blip>
          <a:srcRect l="0" t="557" r="0" b="556"/>
          <a:stretch>
            <a:fillRect/>
          </a:stretch>
        </p:blipFill>
        <p:spPr>
          <a:xfrm>
            <a:off x="5194404" y="785048"/>
            <a:ext cx="6611558" cy="52879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已完成工作：系统骨架与角色分工</a:t>
            </a:r>
          </a:p>
        </p:txBody>
      </p:sp>
      <p:pic>
        <p:nvPicPr>
          <p:cNvPr id="107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图片 29" descr="图片 2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1" name="已建立统一的任务运行框架，由 WorkflowRuntime 负责组织整个流程…"/>
          <p:cNvGrpSpPr/>
          <p:nvPr/>
        </p:nvGrpSpPr>
        <p:grpSpPr>
          <a:xfrm>
            <a:off x="696074" y="1802605"/>
            <a:ext cx="4430540" cy="3278191"/>
            <a:chOff x="0" y="0"/>
            <a:chExt cx="4430538" cy="3278189"/>
          </a:xfrm>
        </p:grpSpPr>
        <p:sp>
          <p:nvSpPr>
            <p:cNvPr id="109" name="已建立统一的任务运行框架，由 WorkflowRuntime 负责组织整个流程…"/>
            <p:cNvSpPr txBox="1"/>
            <p:nvPr/>
          </p:nvSpPr>
          <p:spPr>
            <a:xfrm>
              <a:off x="139699" y="139699"/>
              <a:ext cx="4151139" cy="29733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80472" indent="-180472">
                <a:buSzPct val="100000"/>
                <a:buChar char="•"/>
                <a:defRPr sz="1600"/>
              </a:pPr>
              <a:r>
                <a:t>已建立统一的任务运行框架，由 WorkflowRuntime 负责组织整个流程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已完成 Planner、Executor、Safety、Summarizer 四类 Agent 的职责拆分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已把任务执行过程拆成明确阶段，而不是依赖模型自由推进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已形成从任务输入、流程编排到结果汇总的基本闭环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已为后续人工确认、失败恢复和实验验证预留统一接口</a:t>
              </a:r>
            </a:p>
          </p:txBody>
        </p:sp>
        <p:pic>
          <p:nvPicPr>
            <p:cNvPr id="110" name="已建立统一的任务运行框架，由 WorkflowRuntime 负责组织整个流程… 已建立统一的任务运行框架，由 WorkflowRuntime 负责组织整个流程已完成 Planner、Executor、Safety、Summarizer 四类 Agent 的职责拆分已把任务执行过程拆成明确阶段，而不是依赖模型自由推进已形成从任务输入、流程编排到结果汇总的基本闭环已为后续人工确认、失败恢复和实验验证预留统一接口" descr="已建立统一的任务运行框架，由 WorkflowRuntime 负责组织整个流程… 已建立统一的任务运行框架，由 WorkflowRuntime 负责组织整个流程已完成 Planner、Executor、Safety、Summarizer 四类 Agent 的职责拆分已把任务执行过程拆成明确阶段，而不是依赖模型自由推进已形成从任务输入、流程编排到结果汇总的基本闭环已为后续人工确认、失败恢复和实验验证预留统一接口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-1"/>
              <a:ext cx="4430540" cy="32781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14" name="成组"/>
          <p:cNvGrpSpPr/>
          <p:nvPr/>
        </p:nvGrpSpPr>
        <p:grpSpPr>
          <a:xfrm>
            <a:off x="1676389" y="1398349"/>
            <a:ext cx="2434084" cy="317501"/>
            <a:chOff x="0" y="0"/>
            <a:chExt cx="2434082" cy="317500"/>
          </a:xfrm>
        </p:grpSpPr>
        <p:sp>
          <p:nvSpPr>
            <p:cNvPr id="112" name="圆角矩形"/>
            <p:cNvSpPr/>
            <p:nvPr/>
          </p:nvSpPr>
          <p:spPr>
            <a:xfrm>
              <a:off x="-1" y="6350"/>
              <a:ext cx="2434084" cy="304801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3" name="当前已完成系统骨架"/>
            <p:cNvSpPr txBox="1"/>
            <p:nvPr/>
          </p:nvSpPr>
          <p:spPr>
            <a:xfrm>
              <a:off x="199903" y="0"/>
              <a:ext cx="2070101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当前已完成系统骨架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已完成工作：关键运行机制</a:t>
            </a:r>
          </a:p>
        </p:txBody>
      </p:sp>
      <p:pic>
        <p:nvPicPr>
          <p:cNvPr id="118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图像画廊" descr="图像画廊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605691" y="1086022"/>
            <a:ext cx="6344062" cy="468595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3" name="已完成方案生成、工具选择和执行结果返回的主链…"/>
          <p:cNvGrpSpPr/>
          <p:nvPr/>
        </p:nvGrpSpPr>
        <p:grpSpPr>
          <a:xfrm>
            <a:off x="696075" y="1802606"/>
            <a:ext cx="4430539" cy="3118250"/>
            <a:chOff x="0" y="0"/>
            <a:chExt cx="4430537" cy="3118249"/>
          </a:xfrm>
        </p:grpSpPr>
        <p:sp>
          <p:nvSpPr>
            <p:cNvPr id="121" name="已完成方案生成、工具选择和执行结果返回的主链…"/>
            <p:cNvSpPr txBox="1"/>
            <p:nvPr/>
          </p:nvSpPr>
          <p:spPr>
            <a:xfrm>
              <a:off x="139699" y="139700"/>
              <a:ext cx="4151138" cy="28134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80472" indent="-180472">
                <a:buSzPct val="100000"/>
                <a:buChar char="•"/>
                <a:defRPr sz="1600"/>
              </a:pPr>
              <a:r>
                <a:t>已完成方案生成、工具选择和执行结果返回的主链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已完成关键节点的等待确认机制，系统可以暂停并接收人工决策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已完成失败后的分层处理逻辑，包括 retry -&gt; patch -&gt; replan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已完成工具切换、局部修补和重新规划之间的切换逻辑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已完成执行过程中的事件记录，支持后续回放和分析</a:t>
              </a:r>
            </a:p>
          </p:txBody>
        </p:sp>
        <p:pic>
          <p:nvPicPr>
            <p:cNvPr id="122" name="已完成方案生成、工具选择和执行结果返回的主链… 已完成方案生成、工具选择和执行结果返回的主链已完成关键节点的等待确认机制，系统可以暂停并接收人工决策已完成失败后的分层处理逻辑，包括 retry -&gt; patch -&gt; replan已完成工具切换、局部修补和重新规划之间的切换逻辑已完成执行过程中的事件记录，支持后续回放和分析" descr="已完成方案生成、工具选择和执行结果返回的主链… 已完成方案生成、工具选择和执行结果返回的主链已完成关键节点的等待确认机制，系统可以暂停并接收人工决策已完成失败后的分层处理逻辑，包括 retry -&gt; patch -&gt; replan已完成工具切换、局部修补和重新规划之间的切换逻辑已完成执行过程中的事件记录，支持后续回放和分析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0"/>
              <a:ext cx="4430539" cy="31182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24" name="圆角矩形"/>
          <p:cNvSpPr/>
          <p:nvPr/>
        </p:nvSpPr>
        <p:spPr>
          <a:xfrm>
            <a:off x="1676389" y="1404699"/>
            <a:ext cx="2434083" cy="30480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25400">
            <a:solidFill>
              <a:schemeClr val="accent1"/>
            </a:solidFill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5" name="当前已实现关键机制"/>
          <p:cNvSpPr txBox="1"/>
          <p:nvPr/>
        </p:nvSpPr>
        <p:spPr>
          <a:xfrm>
            <a:off x="1876293" y="1398349"/>
            <a:ext cx="20701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当前已实现关键机制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已完成工作：工程证据沉淀</a:t>
            </a:r>
          </a:p>
        </p:txBody>
      </p:sp>
      <p:pic>
        <p:nvPicPr>
          <p:cNvPr id="129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3" name="已形成事件日志 EventLog…"/>
          <p:cNvGrpSpPr/>
          <p:nvPr/>
        </p:nvGrpSpPr>
        <p:grpSpPr>
          <a:xfrm>
            <a:off x="696075" y="1802606"/>
            <a:ext cx="4430539" cy="1556943"/>
            <a:chOff x="0" y="0"/>
            <a:chExt cx="4430537" cy="1556942"/>
          </a:xfrm>
        </p:grpSpPr>
        <p:sp>
          <p:nvSpPr>
            <p:cNvPr id="131" name="已形成事件日志 EventLog…"/>
            <p:cNvSpPr txBox="1"/>
            <p:nvPr/>
          </p:nvSpPr>
          <p:spPr>
            <a:xfrm>
              <a:off x="139699" y="139700"/>
              <a:ext cx="4151138" cy="1252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80472" indent="-180472">
                <a:buSzPct val="100000"/>
                <a:buChar char="•"/>
                <a:defRPr sz="1600"/>
              </a:pPr>
              <a:r>
                <a:t>已形成事件日志 EventLog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已形成任务快照 TaskSnapshot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已形成最终结果对象 DesignResult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已具备可回放、可追溯、可解释的证据基础</a:t>
              </a:r>
            </a:p>
          </p:txBody>
        </p:sp>
        <p:pic>
          <p:nvPicPr>
            <p:cNvPr id="132" name="已形成事件日志 EventLog… 已形成事件日志 EventLog已形成任务快照 TaskSnapshot已形成最终结果对象 DesignResult已具备可回放、可追溯、可解释的证据基础" descr="已形成事件日志 EventLog… 已形成事件日志 EventLog已形成任务快照 TaskSnapshot已形成最终结果对象 DesignResult已具备可回放、可追溯、可解释的证据基础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-1"/>
              <a:ext cx="4430539" cy="15569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4" name="圆角矩形"/>
          <p:cNvSpPr/>
          <p:nvPr/>
        </p:nvSpPr>
        <p:spPr>
          <a:xfrm>
            <a:off x="1676389" y="1404699"/>
            <a:ext cx="2434083" cy="30480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25400">
            <a:solidFill>
              <a:schemeClr val="accent1"/>
            </a:solidFill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5" name="当前已形成工程证据"/>
          <p:cNvSpPr txBox="1"/>
          <p:nvPr/>
        </p:nvSpPr>
        <p:spPr>
          <a:xfrm>
            <a:off x="1876293" y="1398349"/>
            <a:ext cx="20701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当前已形成工程证据</a:t>
            </a:r>
          </a:p>
        </p:txBody>
      </p:sp>
      <p:pic>
        <p:nvPicPr>
          <p:cNvPr id="136" name="图像画廊" descr="图像画廊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093479" y="564825"/>
            <a:ext cx="5228719" cy="57283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圆角矩形"/>
          <p:cNvSpPr/>
          <p:nvPr/>
        </p:nvSpPr>
        <p:spPr>
          <a:xfrm>
            <a:off x="4882584" y="4394441"/>
            <a:ext cx="2426833" cy="456027"/>
          </a:xfrm>
          <a:prstGeom prst="roundRect">
            <a:avLst>
              <a:gd name="adj" fmla="val 41774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3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实验案例一：人工确认与失败案例回放</a:t>
            </a:r>
          </a:p>
        </p:txBody>
      </p:sp>
      <p:pic>
        <p:nvPicPr>
          <p:cNvPr id="141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图像画廊" descr="图像画廊"/>
          <p:cNvPicPr>
            <a:picLocks noChangeAspect="1"/>
          </p:cNvPicPr>
          <p:nvPr/>
        </p:nvPicPr>
        <p:blipFill>
          <a:blip r:embed="rId5">
            <a:extLst/>
          </a:blip>
          <a:srcRect l="1529" t="0" r="2871" b="0"/>
          <a:stretch>
            <a:fillRect/>
          </a:stretch>
        </p:blipFill>
        <p:spPr>
          <a:xfrm>
            <a:off x="391266" y="2510506"/>
            <a:ext cx="11409469" cy="1836989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本页展示一个代表性运行案例，重点说明系统如何在等待确认和失败恢复之间完成闭环"/>
          <p:cNvSpPr txBox="1"/>
          <p:nvPr/>
        </p:nvSpPr>
        <p:spPr>
          <a:xfrm>
            <a:off x="675524" y="1187892"/>
            <a:ext cx="86995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本页展示一个代表性运行案例，重点说明系统如何在等待确认和失败恢复之间完成闭环</a:t>
            </a:r>
          </a:p>
        </p:txBody>
      </p:sp>
      <p:sp>
        <p:nvSpPr>
          <p:cNvPr id="145" name="案例回放中的关键现象"/>
          <p:cNvSpPr txBox="1"/>
          <p:nvPr/>
        </p:nvSpPr>
        <p:spPr>
          <a:xfrm>
            <a:off x="4946650" y="4463703"/>
            <a:ext cx="229870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/>
          </a:lstStyle>
          <a:p>
            <a:pPr/>
            <a:r>
              <a:t>案例回放中的关键现象</a:t>
            </a:r>
          </a:p>
        </p:txBody>
      </p:sp>
      <p:sp>
        <p:nvSpPr>
          <p:cNvPr id="146" name="在关键节点，系统会显式进入 `WAITING_*` 状态，而不是隐式继续执行…"/>
          <p:cNvSpPr txBox="1"/>
          <p:nvPr/>
        </p:nvSpPr>
        <p:spPr>
          <a:xfrm>
            <a:off x="2670412" y="4980880"/>
            <a:ext cx="6838474" cy="1374850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180472" indent="-180472">
              <a:buSzPct val="100000"/>
              <a:buChar char="•"/>
              <a:defRPr sz="1700"/>
            </a:pPr>
            <a:r>
              <a:t>在关键节点，系统会显式进入 `WAITING_*` 状态，而不是隐式继续执行</a:t>
            </a:r>
          </a:p>
          <a:p>
            <a:pPr marL="180472" indent="-180472">
              <a:buSzPct val="100000"/>
              <a:buChar char="•"/>
              <a:defRPr sz="1700"/>
            </a:pPr>
            <a:r>
              <a:t>人工决策会写入 `PendingAction -&gt; Decision -&gt; EventLog` 证据链</a:t>
            </a:r>
          </a:p>
          <a:p>
            <a:pPr marL="180472" indent="-180472">
              <a:buSzPct val="100000"/>
              <a:buChar char="•"/>
              <a:defRPr sz="1700"/>
            </a:pPr>
            <a:r>
              <a:t>遇到失败时，系统优先尝试局部修补，必要时再升级为 `replan`</a:t>
            </a:r>
          </a:p>
          <a:p>
            <a:pPr marL="180472" indent="-180472">
              <a:buSzPct val="100000"/>
              <a:buChar char="•"/>
              <a:defRPr sz="1700"/>
            </a:pPr>
            <a:r>
              <a:t>在收到决策并完成恢复后，任务能够继续执行并收敛到终态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实验案例一：人工确认与失败案例回放</a:t>
            </a:r>
          </a:p>
        </p:txBody>
      </p:sp>
      <p:pic>
        <p:nvPicPr>
          <p:cNvPr id="150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4" name="图像画廊"/>
          <p:cNvGrpSpPr/>
          <p:nvPr/>
        </p:nvGrpSpPr>
        <p:grpSpPr>
          <a:xfrm>
            <a:off x="1185332" y="1086022"/>
            <a:ext cx="9821337" cy="5232055"/>
            <a:chOff x="0" y="0"/>
            <a:chExt cx="9821335" cy="5232053"/>
          </a:xfrm>
        </p:grpSpPr>
        <p:pic>
          <p:nvPicPr>
            <p:cNvPr id="152" name="hitl-decision.pdf" descr="hitl-decision.pdf"/>
            <p:cNvPicPr>
              <a:picLocks noChangeAspect="1"/>
            </p:cNvPicPr>
            <p:nvPr/>
          </p:nvPicPr>
          <p:blipFill>
            <a:blip r:embed="rId5">
              <a:extLst/>
            </a:blip>
            <a:srcRect l="0" t="13456" r="0" b="52828"/>
            <a:stretch>
              <a:fillRect/>
            </a:stretch>
          </p:blipFill>
          <p:spPr>
            <a:xfrm>
              <a:off x="-1" y="0"/>
              <a:ext cx="9821337" cy="46859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3" name="这里展示的是人工决策页面"/>
            <p:cNvSpPr txBox="1"/>
            <p:nvPr/>
          </p:nvSpPr>
          <p:spPr>
            <a:xfrm>
              <a:off x="-1" y="4762153"/>
              <a:ext cx="9821336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algn="ctr"/>
            </a:lstStyle>
            <a:p>
              <a:pPr/>
              <a:r>
                <a:t>这里展示的是人工决策页面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实验案例一：人工确认与失败案例回放</a:t>
            </a:r>
          </a:p>
        </p:txBody>
      </p:sp>
      <p:pic>
        <p:nvPicPr>
          <p:cNvPr id="158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2" name="图像画廊"/>
          <p:cNvGrpSpPr/>
          <p:nvPr/>
        </p:nvGrpSpPr>
        <p:grpSpPr>
          <a:xfrm>
            <a:off x="974896" y="1082565"/>
            <a:ext cx="10242210" cy="5238969"/>
            <a:chOff x="0" y="0"/>
            <a:chExt cx="10242208" cy="5238967"/>
          </a:xfrm>
        </p:grpSpPr>
        <p:pic>
          <p:nvPicPr>
            <p:cNvPr id="160" name="timeline-split.pdf" descr="timeline-split.pdf"/>
            <p:cNvPicPr>
              <a:picLocks noChangeAspect="1"/>
            </p:cNvPicPr>
            <p:nvPr/>
          </p:nvPicPr>
          <p:blipFill>
            <a:blip r:embed="rId5">
              <a:extLst/>
            </a:blip>
            <a:srcRect l="0" t="46176" r="0" b="5156"/>
            <a:stretch>
              <a:fillRect/>
            </a:stretch>
          </p:blipFill>
          <p:spPr>
            <a:xfrm>
              <a:off x="1713944" y="0"/>
              <a:ext cx="6814321" cy="46928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1" name="这里展示的是事件时间线页面"/>
            <p:cNvSpPr txBox="1"/>
            <p:nvPr/>
          </p:nvSpPr>
          <p:spPr>
            <a:xfrm>
              <a:off x="0" y="4769067"/>
              <a:ext cx="10242210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algn="ctr"/>
            </a:lstStyle>
            <a:p>
              <a:pPr/>
              <a:r>
                <a:t>这里展示的是事件时间线页面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实验案例二：中期机制验证基准结果</a:t>
            </a:r>
          </a:p>
        </p:txBody>
      </p:sp>
      <p:pic>
        <p:nvPicPr>
          <p:cNvPr id="166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图像画廊" descr="图像画廊"/>
          <p:cNvPicPr>
            <a:picLocks noChangeAspect="1"/>
          </p:cNvPicPr>
          <p:nvPr/>
        </p:nvPicPr>
        <p:blipFill>
          <a:blip r:embed="rId5">
            <a:extLst/>
          </a:blip>
          <a:srcRect l="813" t="0" r="0" b="0"/>
          <a:stretch>
            <a:fillRect/>
          </a:stretch>
        </p:blipFill>
        <p:spPr>
          <a:xfrm>
            <a:off x="680167" y="1423828"/>
            <a:ext cx="10831666" cy="40951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1" name="共17 个可复现场景，覆盖5个实验家族…"/>
          <p:cNvGrpSpPr/>
          <p:nvPr/>
        </p:nvGrpSpPr>
        <p:grpSpPr>
          <a:xfrm>
            <a:off x="1633262" y="4727719"/>
            <a:ext cx="8925478" cy="1726161"/>
            <a:chOff x="0" y="0"/>
            <a:chExt cx="8925477" cy="1726159"/>
          </a:xfrm>
        </p:grpSpPr>
        <p:sp>
          <p:nvSpPr>
            <p:cNvPr id="169" name="共17 个可复现场景，覆盖5个实验家族…"/>
            <p:cNvSpPr txBox="1"/>
            <p:nvPr/>
          </p:nvSpPr>
          <p:spPr>
            <a:xfrm>
              <a:off x="139700" y="139700"/>
              <a:ext cx="8646078" cy="1421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80472" indent="-180472">
                <a:buSzPct val="100000"/>
                <a:buChar char="•"/>
              </a:pPr>
              <a:r>
                <a:t>共17 个可复现场景，覆盖5个实验家族</a:t>
              </a:r>
            </a:p>
            <a:p>
              <a:pPr marL="180472" indent="-180472">
                <a:buSzPct val="100000"/>
                <a:buChar char="•"/>
              </a:pPr>
              <a:r>
                <a:t>家族层面全部通过：Execution &amp; Summary 3/3，Gate 2/2，HITL &amp; Audit 4/4，Planner Routing 3/3，Recovery 5/5</a:t>
              </a:r>
            </a:p>
            <a:p>
              <a:pPr marL="180472" indent="-180472">
                <a:buSzPct val="100000"/>
                <a:buChar char="•"/>
              </a:pPr>
              <a:r>
                <a:t>证据文件完整率 100%：event_log 6/6，snapshot 2/2，report 3/3</a:t>
              </a:r>
            </a:p>
          </p:txBody>
        </p:sp>
        <p:pic>
          <p:nvPicPr>
            <p:cNvPr id="170" name="共17 个可复现场景，覆盖5个实验家族… 共17 个可复现场景，覆盖5个实验家族家族层面全部通过：Execution &amp; Summary 3/3，Gate 2/2，HITL &amp; Audit 4/4，Planner Routing 3/3，Recovery 5/5证据文件完整率 100%：event_log 6/6，snapshot 2/2，report 3/3" descr="共17 个可复现场景，覆盖5个实验家族… 共17 个可复现场景，覆盖5个实验家族家族层面全部通过：Execution &amp; Summary 3/3，Gate 2/2，HITL &amp; Audit 4/4，Planner Routing 3/3，Recovery 5/5证据文件完整率 100%：event_log 6/6，snapshot 2/2，report 3/3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0"/>
              <a:ext cx="8925478" cy="17261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实验案例二：中期机制验证基准结果</a:t>
            </a:r>
          </a:p>
        </p:txBody>
      </p:sp>
      <p:pic>
        <p:nvPicPr>
          <p:cNvPr id="175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图像画廊" descr="图像画廊"/>
          <p:cNvPicPr>
            <a:picLocks noChangeAspect="1"/>
          </p:cNvPicPr>
          <p:nvPr/>
        </p:nvPicPr>
        <p:blipFill>
          <a:blip r:embed="rId5">
            <a:extLst/>
          </a:blip>
          <a:srcRect l="4140" t="0" r="0" b="0"/>
          <a:stretch>
            <a:fillRect/>
          </a:stretch>
        </p:blipFill>
        <p:spPr>
          <a:xfrm>
            <a:off x="1018792" y="1489649"/>
            <a:ext cx="10154417" cy="307860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0" name="共17 个可复现场景，覆盖5个实验家族…"/>
          <p:cNvGrpSpPr/>
          <p:nvPr/>
        </p:nvGrpSpPr>
        <p:grpSpPr>
          <a:xfrm>
            <a:off x="1633261" y="4727719"/>
            <a:ext cx="8925479" cy="1726161"/>
            <a:chOff x="0" y="0"/>
            <a:chExt cx="8925478" cy="1726159"/>
          </a:xfrm>
        </p:grpSpPr>
        <p:sp>
          <p:nvSpPr>
            <p:cNvPr id="178" name="共17 个可复现场景，覆盖5个实验家族…"/>
            <p:cNvSpPr txBox="1"/>
            <p:nvPr/>
          </p:nvSpPr>
          <p:spPr>
            <a:xfrm>
              <a:off x="139699" y="139700"/>
              <a:ext cx="8646080" cy="1421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80472" indent="-180472">
                <a:buSzPct val="100000"/>
                <a:buChar char="•"/>
              </a:pPr>
              <a:r>
                <a:t>共17 个可复现场景，覆盖5个实验家族</a:t>
              </a:r>
            </a:p>
            <a:p>
              <a:pPr marL="180472" indent="-180472">
                <a:buSzPct val="100000"/>
                <a:buChar char="•"/>
              </a:pPr>
              <a:r>
                <a:t>家族层面全部通过：Execution &amp; Summary 3/3，Gate 2/2，HITL &amp; Audit 4/4，Planner Routing 3/3，Recovery 5/5</a:t>
              </a:r>
            </a:p>
            <a:p>
              <a:pPr marL="180472" indent="-180472">
                <a:buSzPct val="100000"/>
                <a:buChar char="•"/>
              </a:pPr>
              <a:r>
                <a:t>证据文件完整率 100%：event_log 6/6，snapshot 2/2，report 3/3</a:t>
              </a:r>
            </a:p>
          </p:txBody>
        </p:sp>
        <p:pic>
          <p:nvPicPr>
            <p:cNvPr id="179" name="共17 个可复现场景，覆盖5个实验家族… 共17 个可复现场景，覆盖5个实验家族家族层面全部通过：Execution &amp; Summary 3/3，Gate 2/2，HITL &amp; Audit 4/4，Planner Routing 3/3，Recovery 5/5证据文件完整率 100%：event_log 6/6，snapshot 2/2，report 3/3" descr="共17 个可复现场景，覆盖5个实验家族… 共17 个可复现场景，覆盖5个实验家族家族层面全部通过：Execution &amp; Summary 3/3，Gate 2/2，HITL &amp; Audit 4/4，Planner Routing 3/3，Recovery 5/5证据文件完整率 100%：event_log 6/6，snapshot 2/2，report 3/3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0"/>
              <a:ext cx="8925479" cy="17261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成组"/>
          <p:cNvGrpSpPr/>
          <p:nvPr/>
        </p:nvGrpSpPr>
        <p:grpSpPr>
          <a:xfrm>
            <a:off x="1215388" y="1623694"/>
            <a:ext cx="4457070" cy="2073278"/>
            <a:chOff x="0" y="0"/>
            <a:chExt cx="4457068" cy="2073277"/>
          </a:xfrm>
        </p:grpSpPr>
        <p:sp>
          <p:nvSpPr>
            <p:cNvPr id="182" name="Shape 0"/>
            <p:cNvSpPr/>
            <p:nvPr/>
          </p:nvSpPr>
          <p:spPr>
            <a:xfrm>
              <a:off x="-1" y="225425"/>
              <a:ext cx="4457070" cy="1847853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9050" cap="flat">
              <a:solidFill>
                <a:srgbClr val="015DB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3" name="Shape 1"/>
            <p:cNvSpPr/>
            <p:nvPr/>
          </p:nvSpPr>
          <p:spPr>
            <a:xfrm>
              <a:off x="523557" y="6984"/>
              <a:ext cx="3409953" cy="369572"/>
            </a:xfrm>
            <a:prstGeom prst="roundRect">
              <a:avLst>
                <a:gd name="adj" fmla="val 16667"/>
              </a:avLst>
            </a:prstGeom>
            <a:solidFill>
              <a:srgbClr val="015D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4" name="Text 9"/>
            <p:cNvSpPr txBox="1"/>
            <p:nvPr/>
          </p:nvSpPr>
          <p:spPr>
            <a:xfrm>
              <a:off x="663257" y="-1"/>
              <a:ext cx="3130553" cy="408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pPr/>
              <a:r>
                <a:t>3月21日-3月31日</a:t>
              </a:r>
            </a:p>
          </p:txBody>
        </p:sp>
        <p:sp>
          <p:nvSpPr>
            <p:cNvPr id="185" name="Text 10"/>
            <p:cNvSpPr txBox="1"/>
            <p:nvPr/>
          </p:nvSpPr>
          <p:spPr>
            <a:xfrm>
              <a:off x="165099" y="519430"/>
              <a:ext cx="4126869" cy="1170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just">
                <a:lnSpc>
                  <a:spcPct val="120000"/>
                </a:lnSpc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补齐横向实验与统一评估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完成 E0/E1/E2 横向对比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统一纵向实验、治理复核和图表口径</a:t>
              </a:r>
            </a:p>
          </p:txBody>
        </p:sp>
      </p:grpSp>
      <p:grpSp>
        <p:nvGrpSpPr>
          <p:cNvPr id="191" name="成组"/>
          <p:cNvGrpSpPr/>
          <p:nvPr/>
        </p:nvGrpSpPr>
        <p:grpSpPr>
          <a:xfrm>
            <a:off x="1264918" y="4036695"/>
            <a:ext cx="4457070" cy="2073277"/>
            <a:chOff x="0" y="0"/>
            <a:chExt cx="4457068" cy="2073276"/>
          </a:xfrm>
        </p:grpSpPr>
        <p:sp>
          <p:nvSpPr>
            <p:cNvPr id="187" name="Shape 4"/>
            <p:cNvSpPr/>
            <p:nvPr/>
          </p:nvSpPr>
          <p:spPr>
            <a:xfrm>
              <a:off x="-1" y="225425"/>
              <a:ext cx="4457070" cy="1847852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9050" cap="flat">
              <a:solidFill>
                <a:srgbClr val="015DB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8" name="Shape 5"/>
            <p:cNvSpPr/>
            <p:nvPr/>
          </p:nvSpPr>
          <p:spPr>
            <a:xfrm>
              <a:off x="440055" y="7180"/>
              <a:ext cx="3409953" cy="369376"/>
            </a:xfrm>
            <a:prstGeom prst="roundRect">
              <a:avLst>
                <a:gd name="adj" fmla="val 16667"/>
              </a:avLst>
            </a:prstGeom>
            <a:solidFill>
              <a:srgbClr val="015D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9" name="Text 11"/>
            <p:cNvSpPr txBox="1"/>
            <p:nvPr/>
          </p:nvSpPr>
          <p:spPr>
            <a:xfrm>
              <a:off x="579610" y="0"/>
              <a:ext cx="3130842" cy="408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pPr/>
              <a:r>
                <a:t>4月1日-4月22日</a:t>
              </a:r>
            </a:p>
          </p:txBody>
        </p:sp>
        <p:sp>
          <p:nvSpPr>
            <p:cNvPr id="190" name="Text 14"/>
            <p:cNvSpPr txBox="1"/>
            <p:nvPr/>
          </p:nvSpPr>
          <p:spPr>
            <a:xfrm>
              <a:off x="165099" y="373379"/>
              <a:ext cx="4126869" cy="1551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just">
                <a:lnSpc>
                  <a:spcPct val="120000"/>
                </a:lnSpc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推进外部模型训练与系统收口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启动外部模型专用训练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完成训练后评估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完成多工具统一验收与门禁完善</a:t>
              </a:r>
            </a:p>
          </p:txBody>
        </p:sp>
      </p:grpSp>
      <p:grpSp>
        <p:nvGrpSpPr>
          <p:cNvPr id="196" name="成组"/>
          <p:cNvGrpSpPr/>
          <p:nvPr/>
        </p:nvGrpSpPr>
        <p:grpSpPr>
          <a:xfrm>
            <a:off x="6371907" y="4036695"/>
            <a:ext cx="4457068" cy="2073277"/>
            <a:chOff x="0" y="0"/>
            <a:chExt cx="4457066" cy="2073276"/>
          </a:xfrm>
        </p:grpSpPr>
        <p:sp>
          <p:nvSpPr>
            <p:cNvPr id="192" name="Shape 6"/>
            <p:cNvSpPr/>
            <p:nvPr/>
          </p:nvSpPr>
          <p:spPr>
            <a:xfrm>
              <a:off x="0" y="225425"/>
              <a:ext cx="4457067" cy="1847852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9050" cap="flat">
              <a:solidFill>
                <a:srgbClr val="015DB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3" name="Shape 7"/>
            <p:cNvSpPr/>
            <p:nvPr/>
          </p:nvSpPr>
          <p:spPr>
            <a:xfrm>
              <a:off x="523557" y="7180"/>
              <a:ext cx="3409952" cy="369376"/>
            </a:xfrm>
            <a:prstGeom prst="roundRect">
              <a:avLst>
                <a:gd name="adj" fmla="val 16667"/>
              </a:avLst>
            </a:prstGeom>
            <a:solidFill>
              <a:srgbClr val="015D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4" name="Text 15"/>
            <p:cNvSpPr txBox="1"/>
            <p:nvPr/>
          </p:nvSpPr>
          <p:spPr>
            <a:xfrm>
              <a:off x="663113" y="0"/>
              <a:ext cx="3130840" cy="408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pPr/>
              <a:r>
                <a:t>5月1日-5月30日</a:t>
              </a:r>
            </a:p>
          </p:txBody>
        </p:sp>
        <p:sp>
          <p:nvSpPr>
            <p:cNvPr id="195" name="Text 16"/>
            <p:cNvSpPr txBox="1"/>
            <p:nvPr/>
          </p:nvSpPr>
          <p:spPr>
            <a:xfrm>
              <a:off x="181827" y="373379"/>
              <a:ext cx="4093413" cy="1551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just">
                <a:lnSpc>
                  <a:spcPct val="120000"/>
                </a:lnSpc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完成论文与答辩材料定稿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完善实验章节、问题分析和结论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统一图表、术语和版式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完成最终论文和答辩展示材料</a:t>
              </a:r>
            </a:p>
          </p:txBody>
        </p:sp>
      </p:grpSp>
      <p:pic>
        <p:nvPicPr>
          <p:cNvPr id="197" name="图片 29" descr="图片 2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36360" y="223432"/>
            <a:ext cx="2520282" cy="726276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后期计划</a:t>
            </a:r>
          </a:p>
        </p:txBody>
      </p:sp>
      <p:pic>
        <p:nvPicPr>
          <p:cNvPr id="199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4" name="成组"/>
          <p:cNvGrpSpPr/>
          <p:nvPr/>
        </p:nvGrpSpPr>
        <p:grpSpPr>
          <a:xfrm>
            <a:off x="6343331" y="1623694"/>
            <a:ext cx="4457067" cy="2073278"/>
            <a:chOff x="0" y="0"/>
            <a:chExt cx="4457066" cy="2073277"/>
          </a:xfrm>
        </p:grpSpPr>
        <p:sp>
          <p:nvSpPr>
            <p:cNvPr id="200" name="Shape 2"/>
            <p:cNvSpPr/>
            <p:nvPr/>
          </p:nvSpPr>
          <p:spPr>
            <a:xfrm>
              <a:off x="0" y="225425"/>
              <a:ext cx="4457067" cy="1847853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9050" cap="flat">
              <a:solidFill>
                <a:srgbClr val="015DB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1" name="Shape 3"/>
            <p:cNvSpPr/>
            <p:nvPr/>
          </p:nvSpPr>
          <p:spPr>
            <a:xfrm>
              <a:off x="539433" y="6984"/>
              <a:ext cx="3409952" cy="369572"/>
            </a:xfrm>
            <a:prstGeom prst="roundRect">
              <a:avLst>
                <a:gd name="adj" fmla="val 16667"/>
              </a:avLst>
            </a:prstGeom>
            <a:solidFill>
              <a:srgbClr val="015D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2" name="Text 13"/>
            <p:cNvSpPr txBox="1"/>
            <p:nvPr/>
          </p:nvSpPr>
          <p:spPr>
            <a:xfrm>
              <a:off x="679133" y="-1"/>
              <a:ext cx="3130552" cy="408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pPr/>
              <a:r>
                <a:t>4月22日-4月30日</a:t>
              </a:r>
            </a:p>
          </p:txBody>
        </p:sp>
        <p:sp>
          <p:nvSpPr>
            <p:cNvPr id="203" name="Text 12"/>
            <p:cNvSpPr txBox="1"/>
            <p:nvPr/>
          </p:nvSpPr>
          <p:spPr>
            <a:xfrm>
              <a:off x="165229" y="563880"/>
              <a:ext cx="4126609" cy="1170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just">
                <a:lnSpc>
                  <a:spcPct val="120000"/>
                </a:lnSpc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进行前端页面的完善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对齐后台接口与前端显示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直观展示程序设计结果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图片 29" descr="图片 2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36360" y="223432"/>
            <a:ext cx="2520282" cy="726276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困难与按时完成的可能性</a:t>
            </a:r>
          </a:p>
        </p:txBody>
      </p:sp>
      <p:pic>
        <p:nvPicPr>
          <p:cNvPr id="208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圆角矩形"/>
          <p:cNvSpPr/>
          <p:nvPr/>
        </p:nvSpPr>
        <p:spPr>
          <a:xfrm>
            <a:off x="1078161" y="1185762"/>
            <a:ext cx="4432602" cy="5003100"/>
          </a:xfrm>
          <a:prstGeom prst="roundRect">
            <a:avLst>
              <a:gd name="adj" fmla="val 4298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0" name="圆角矩形"/>
          <p:cNvSpPr/>
          <p:nvPr/>
        </p:nvSpPr>
        <p:spPr>
          <a:xfrm>
            <a:off x="7003084" y="1185762"/>
            <a:ext cx="4391171" cy="5003100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graphicFrame>
        <p:nvGraphicFramePr>
          <p:cNvPr id="211" name="二维圆环图"/>
          <p:cNvGraphicFramePr/>
          <p:nvPr/>
        </p:nvGraphicFramePr>
        <p:xfrm>
          <a:off x="7501690" y="2141833"/>
          <a:ext cx="1400088" cy="140008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2" name="存在的困难"/>
          <p:cNvSpPr txBox="1"/>
          <p:nvPr/>
        </p:nvSpPr>
        <p:spPr>
          <a:xfrm>
            <a:off x="1164132" y="1390215"/>
            <a:ext cx="42606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/>
            </a:lvl1pPr>
          </a:lstStyle>
          <a:p>
            <a:pPr/>
            <a:r>
              <a:t>存在的困难</a:t>
            </a:r>
          </a:p>
        </p:txBody>
      </p:sp>
      <p:sp>
        <p:nvSpPr>
          <p:cNvPr id="213" name="横向对比实验尚未完成。…"/>
          <p:cNvSpPr txBox="1"/>
          <p:nvPr/>
        </p:nvSpPr>
        <p:spPr>
          <a:xfrm>
            <a:off x="1119489" y="2291179"/>
            <a:ext cx="4349946" cy="222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80472" indent="-180472">
              <a:buSzPct val="100000"/>
              <a:buChar char="•"/>
            </a:pPr>
            <a:r>
              <a:t>横向对比实验尚未完成。</a:t>
            </a:r>
          </a:p>
          <a:p>
            <a:pPr marL="180472" indent="-180472">
              <a:buSzPct val="100000"/>
              <a:buChar char="•"/>
            </a:pPr>
            <a:r>
              <a:t>统一评估口径和图表结果仍需继续收口。</a:t>
            </a:r>
          </a:p>
          <a:p>
            <a:pPr marL="180472" indent="-180472">
              <a:buSzPct val="100000"/>
              <a:buChar char="•"/>
            </a:pPr>
            <a:r>
              <a:t>外部模型专用训练尚未启动。</a:t>
            </a:r>
          </a:p>
          <a:p>
            <a:pPr marL="180472" indent="-180472">
              <a:buSzPct val="100000"/>
              <a:buChar char="•"/>
            </a:pPr>
            <a:r>
              <a:t>多工具真实运行受远程平台和资源条件影响。</a:t>
            </a:r>
          </a:p>
          <a:p>
            <a:pPr marL="180472" indent="-180472">
              <a:buSzPct val="100000"/>
              <a:buChar char="•"/>
            </a:pPr>
            <a:r>
              <a:t>工程材料向论文表达的转写仍需继续整理。</a:t>
            </a:r>
          </a:p>
        </p:txBody>
      </p:sp>
      <p:sp>
        <p:nvSpPr>
          <p:cNvPr id="214" name="线条"/>
          <p:cNvSpPr/>
          <p:nvPr/>
        </p:nvSpPr>
        <p:spPr>
          <a:xfrm>
            <a:off x="1092527" y="1932387"/>
            <a:ext cx="4403870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线条"/>
          <p:cNvSpPr/>
          <p:nvPr/>
        </p:nvSpPr>
        <p:spPr>
          <a:xfrm>
            <a:off x="1092527" y="4872474"/>
            <a:ext cx="4403870" cy="1"/>
          </a:xfrm>
          <a:prstGeom prst="line">
            <a:avLst/>
          </a:prstGeom>
          <a:ln w="25400" cap="rnd">
            <a:solidFill>
              <a:schemeClr val="accent1"/>
            </a:solidFill>
            <a:custDash>
              <a:ds d="100000" sp="200000"/>
            </a:custDash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可行性与进度"/>
          <p:cNvSpPr txBox="1"/>
          <p:nvPr/>
        </p:nvSpPr>
        <p:spPr>
          <a:xfrm>
            <a:off x="7095301" y="1390215"/>
            <a:ext cx="42606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/>
            </a:lvl1pPr>
          </a:lstStyle>
          <a:p>
            <a:pPr/>
            <a:r>
              <a:t>可行性与进度</a:t>
            </a:r>
          </a:p>
        </p:txBody>
      </p:sp>
      <p:sp>
        <p:nvSpPr>
          <p:cNvPr id="217" name="线条"/>
          <p:cNvSpPr/>
          <p:nvPr/>
        </p:nvSpPr>
        <p:spPr>
          <a:xfrm>
            <a:off x="6996734" y="1932387"/>
            <a:ext cx="4403871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8" name="系统开发完成约80%"/>
          <p:cNvSpPr txBox="1"/>
          <p:nvPr/>
        </p:nvSpPr>
        <p:spPr>
          <a:xfrm>
            <a:off x="9130332" y="2694638"/>
            <a:ext cx="200804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系统开发完成约80%</a:t>
            </a:r>
          </a:p>
        </p:txBody>
      </p:sp>
      <p:sp>
        <p:nvSpPr>
          <p:cNvPr id="219" name="线条"/>
          <p:cNvSpPr/>
          <p:nvPr/>
        </p:nvSpPr>
        <p:spPr>
          <a:xfrm>
            <a:off x="6996734" y="3779650"/>
            <a:ext cx="4403871" cy="1"/>
          </a:xfrm>
          <a:prstGeom prst="line">
            <a:avLst/>
          </a:prstGeom>
          <a:ln w="25400" cap="rnd">
            <a:solidFill>
              <a:schemeClr val="accent1"/>
            </a:solidFill>
            <a:custDash>
              <a:ds d="100000" sp="200000"/>
            </a:custDash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" name="系统主体、关键控制机制、主要运行链路已经基本完成。…"/>
          <p:cNvSpPr txBox="1"/>
          <p:nvPr/>
        </p:nvSpPr>
        <p:spPr>
          <a:xfrm>
            <a:off x="7041377" y="3897462"/>
            <a:ext cx="4314585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80472" indent="-180472">
              <a:buSzPct val="100000"/>
              <a:buChar char="•"/>
            </a:pPr>
            <a:r>
              <a:t>系统主体、关键控制机制、主要运行链路已经基本完成。</a:t>
            </a:r>
          </a:p>
          <a:p>
            <a:pPr marL="180472" indent="-180472">
              <a:buSzPct val="100000"/>
              <a:buChar char="•"/>
            </a:pPr>
            <a:r>
              <a:t>剩余工作边界清楚，主要属于实验补齐、评估收口和论文整理。</a:t>
            </a:r>
          </a:p>
          <a:p>
            <a:pPr marL="180472" indent="-180472">
              <a:buSzPct val="100000"/>
              <a:buChar char="•"/>
            </a:pPr>
            <a:r>
              <a:t>总体判断：具备按时完成论文与参加答辩的现实基础。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6624" t="8858" r="11054" b="15857"/>
          <a:stretch>
            <a:fillRect/>
          </a:stretch>
        </p:blipFill>
        <p:spPr>
          <a:xfrm>
            <a:off x="-21590" y="-1"/>
            <a:ext cx="12213591" cy="6870701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Text 0"/>
          <p:cNvSpPr txBox="1"/>
          <p:nvPr/>
        </p:nvSpPr>
        <p:spPr>
          <a:xfrm>
            <a:off x="659129" y="2195829"/>
            <a:ext cx="6934835" cy="1259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just">
              <a:defRPr sz="6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感谢各位老师观看</a:t>
            </a:r>
          </a:p>
        </p:txBody>
      </p:sp>
      <p:sp>
        <p:nvSpPr>
          <p:cNvPr id="224" name="Text 1"/>
          <p:cNvSpPr txBox="1"/>
          <p:nvPr/>
        </p:nvSpPr>
        <p:spPr>
          <a:xfrm>
            <a:off x="816609" y="3501391"/>
            <a:ext cx="4625342" cy="459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just">
              <a:defRPr sz="24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THANK YOU FOR WATCHING</a:t>
            </a:r>
          </a:p>
        </p:txBody>
      </p:sp>
      <p:pic>
        <p:nvPicPr>
          <p:cNvPr id="22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8190" y="1730375"/>
            <a:ext cx="6468110" cy="298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rcRect l="0" t="22162" r="0" b="0"/>
          <a:stretch>
            <a:fillRect/>
          </a:stretch>
        </p:blipFill>
        <p:spPr>
          <a:xfrm>
            <a:off x="7364093" y="1974850"/>
            <a:ext cx="4268472" cy="33235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图片 29" descr="图片 2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36360" y="223432"/>
            <a:ext cx="2520282" cy="726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E46EB"/>
      </a:accent1>
      <a:accent2>
        <a:srgbClr val="1CA97E"/>
      </a:accent2>
      <a:accent3>
        <a:srgbClr val="5D91F0"/>
      </a:accent3>
      <a:accent4>
        <a:srgbClr val="707070"/>
      </a:accent4>
      <a:accent5>
        <a:srgbClr val="8F8F8F"/>
      </a:accent5>
      <a:accent6>
        <a:srgbClr val="FF9202"/>
      </a:accent6>
      <a:hlink>
        <a:srgbClr val="0000FF"/>
      </a:hlink>
      <a:folHlink>
        <a:srgbClr val="FF00FF"/>
      </a:folHlink>
    </a:clrScheme>
    <a:fontScheme name="Custom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stom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E46EB"/>
      </a:accent1>
      <a:accent2>
        <a:srgbClr val="1CA97E"/>
      </a:accent2>
      <a:accent3>
        <a:srgbClr val="5D91F0"/>
      </a:accent3>
      <a:accent4>
        <a:srgbClr val="707070"/>
      </a:accent4>
      <a:accent5>
        <a:srgbClr val="8F8F8F"/>
      </a:accent5>
      <a:accent6>
        <a:srgbClr val="FF9202"/>
      </a:accent6>
      <a:hlink>
        <a:srgbClr val="0000FF"/>
      </a:hlink>
      <a:folHlink>
        <a:srgbClr val="FF00FF"/>
      </a:folHlink>
    </a:clrScheme>
    <a:fontScheme name="Custom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stom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