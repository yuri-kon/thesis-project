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 b="def" i="def"/>
      <a:tcStyle>
        <a:tcBdr/>
        <a:fill>
          <a:solidFill>
            <a:srgbClr val="E7E9EC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 b="def" i="def"/>
      <a:tcStyle>
        <a:tcBdr/>
        <a:fill>
          <a:solidFill>
            <a:srgbClr val="E7EAE7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 b="def" i="def"/>
      <a:tcStyle>
        <a:tcBdr/>
        <a:fill>
          <a:solidFill>
            <a:srgbClr val="E8F0E7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Helvetica Neue"/>
      </a:defRPr>
    </a:lvl1pPr>
    <a:lvl2pPr indent="228600" latinLnBrk="0">
      <a:defRPr sz="1200">
        <a:latin typeface="+mj-lt"/>
        <a:ea typeface="+mj-ea"/>
        <a:cs typeface="+mj-cs"/>
        <a:sym typeface="Helvetica Neue"/>
      </a:defRPr>
    </a:lvl2pPr>
    <a:lvl3pPr indent="457200" latinLnBrk="0">
      <a:defRPr sz="1200">
        <a:latin typeface="+mj-lt"/>
        <a:ea typeface="+mj-ea"/>
        <a:cs typeface="+mj-cs"/>
        <a:sym typeface="Helvetica Neue"/>
      </a:defRPr>
    </a:lvl3pPr>
    <a:lvl4pPr indent="685800" latinLnBrk="0">
      <a:defRPr sz="1200">
        <a:latin typeface="+mj-lt"/>
        <a:ea typeface="+mj-ea"/>
        <a:cs typeface="+mj-cs"/>
        <a:sym typeface="Helvetica Neue"/>
      </a:defRPr>
    </a:lvl4pPr>
    <a:lvl5pPr indent="914400" latinLnBrk="0">
      <a:defRPr sz="1200">
        <a:latin typeface="+mj-lt"/>
        <a:ea typeface="+mj-ea"/>
        <a:cs typeface="+mj-cs"/>
        <a:sym typeface="Helvetica Neue"/>
      </a:defRPr>
    </a:lvl5pPr>
    <a:lvl6pPr indent="1143000" latinLnBrk="0">
      <a:defRPr sz="1200">
        <a:latin typeface="+mj-lt"/>
        <a:ea typeface="+mj-ea"/>
        <a:cs typeface="+mj-cs"/>
        <a:sym typeface="Helvetica Neue"/>
      </a:defRPr>
    </a:lvl6pPr>
    <a:lvl7pPr indent="1371600" latinLnBrk="0">
      <a:defRPr sz="1200">
        <a:latin typeface="+mj-lt"/>
        <a:ea typeface="+mj-ea"/>
        <a:cs typeface="+mj-cs"/>
        <a:sym typeface="Helvetica Neue"/>
      </a:defRPr>
    </a:lvl7pPr>
    <a:lvl8pPr indent="1600200" latinLnBrk="0">
      <a:defRPr sz="1200">
        <a:latin typeface="+mj-lt"/>
        <a:ea typeface="+mj-ea"/>
        <a:cs typeface="+mj-cs"/>
        <a:sym typeface="Helvetica Neue"/>
      </a:defRPr>
    </a:lvl8pPr>
    <a:lvl9pPr indent="1828800" latinLnBrk="0">
      <a:defRPr sz="1200">
        <a:latin typeface="+mj-lt"/>
        <a:ea typeface="+mj-ea"/>
        <a:cs typeface="+mj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文本"/>
          <p:cNvSpPr txBox="1"/>
          <p:nvPr>
            <p:ph type="title"/>
          </p:nvPr>
        </p:nvSpPr>
        <p:spPr>
          <a:xfrm>
            <a:off x="609600" y="92074"/>
            <a:ext cx="1097280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/>
            <a:r>
              <a:t>标题文本</a:t>
            </a:r>
          </a:p>
        </p:txBody>
      </p:sp>
      <p:sp>
        <p:nvSpPr>
          <p:cNvPr id="3" name="正文级别 1…"/>
          <p:cNvSpPr txBox="1"/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/>
          <a:lstStyle/>
          <a:p>
            <a:pPr/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4" name="幻灯片编号"/>
          <p:cNvSpPr txBox="1"/>
          <p:nvPr>
            <p:ph type="sldNum" sz="quarter" idx="2"/>
          </p:nvPr>
        </p:nvSpPr>
        <p:spPr>
          <a:xfrm>
            <a:off x="8478981" y="6232199"/>
            <a:ext cx="258620" cy="248302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1234438" marR="0" indent="-320038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8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9.png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10.png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92A5E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83B82"/>
              </a:gs>
              <a:gs pos="56000">
                <a:srgbClr val="0869B8"/>
              </a:gs>
              <a:gs pos="100000">
                <a:srgbClr val="0B8ED6"/>
              </a:gs>
            </a:gsLst>
            <a:lin ang="8100000"/>
          </a:gra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" name="椭圆形"/>
          <p:cNvSpPr/>
          <p:nvPr/>
        </p:nvSpPr>
        <p:spPr>
          <a:xfrm>
            <a:off x="171450" y="4476750"/>
            <a:ext cx="2476500" cy="2095500"/>
          </a:xfrm>
          <a:prstGeom prst="ellipse">
            <a:avLst/>
          </a:prstGeom>
          <a:solidFill>
            <a:srgbClr val="FFFFFF">
              <a:alpha val="7058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" name="矩形"/>
          <p:cNvSpPr/>
          <p:nvPr/>
        </p:nvSpPr>
        <p:spPr>
          <a:xfrm>
            <a:off x="6381750" y="0"/>
            <a:ext cx="5810250" cy="6858000"/>
          </a:xfrm>
          <a:prstGeom prst="rect">
            <a:avLst/>
          </a:prstGeom>
          <a:solidFill>
            <a:srgbClr val="FFFFFF">
              <a:alpha val="4314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" name="矩形"/>
          <p:cNvSpPr/>
          <p:nvPr/>
        </p:nvSpPr>
        <p:spPr>
          <a:xfrm>
            <a:off x="571500" y="3429000"/>
            <a:ext cx="2476500" cy="2667000"/>
          </a:xfrm>
          <a:prstGeom prst="rect">
            <a:avLst/>
          </a:prstGeom>
          <a:solidFill>
            <a:srgbClr val="063B82">
              <a:alpha val="8000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5" name="image2.png" descr="image2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09600" y="459205"/>
            <a:ext cx="2428875" cy="681793"/>
          </a:xfrm>
          <a:prstGeom prst="rect">
            <a:avLst/>
          </a:prstGeom>
          <a:ln w="12700">
            <a:miter lim="400000"/>
          </a:ln>
        </p:spPr>
      </p:pic>
      <p:sp>
        <p:nvSpPr>
          <p:cNvPr id="26" name="矩形"/>
          <p:cNvSpPr/>
          <p:nvPr/>
        </p:nvSpPr>
        <p:spPr>
          <a:xfrm>
            <a:off x="704850" y="1952624"/>
            <a:ext cx="5810250" cy="1219206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30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27" name="基于大模型驱动的 Agent 协作…"/>
          <p:cNvSpPr txBox="1"/>
          <p:nvPr/>
        </p:nvSpPr>
        <p:spPr>
          <a:xfrm>
            <a:off x="704850" y="1952623"/>
            <a:ext cx="5810250" cy="1066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30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基于大模型驱动的 Agent 协作</a:t>
            </a:r>
          </a:p>
          <a:p>
            <a:pPr>
              <a:defRPr b="1" sz="30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新一代蛋白质设计系统开发</a:t>
            </a:r>
          </a:p>
        </p:txBody>
      </p:sp>
      <p:sp>
        <p:nvSpPr>
          <p:cNvPr id="28" name="矩形"/>
          <p:cNvSpPr/>
          <p:nvPr/>
        </p:nvSpPr>
        <p:spPr>
          <a:xfrm>
            <a:off x="742950" y="3381375"/>
            <a:ext cx="1428750" cy="47625"/>
          </a:xfrm>
          <a:prstGeom prst="rect">
            <a:avLst/>
          </a:prstGeom>
          <a:solidFill>
            <a:srgbClr val="D8A32D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" name="矩形"/>
          <p:cNvSpPr/>
          <p:nvPr/>
        </p:nvSpPr>
        <p:spPr>
          <a:xfrm>
            <a:off x="723900" y="3619498"/>
            <a:ext cx="3810000" cy="304806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500">
                <a:solidFill>
                  <a:srgbClr val="D9ECF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30" name="毕业设计答辩 | 软件工程"/>
          <p:cNvSpPr txBox="1"/>
          <p:nvPr/>
        </p:nvSpPr>
        <p:spPr>
          <a:xfrm>
            <a:off x="723900" y="3619498"/>
            <a:ext cx="3810000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D9ECF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毕业设计答辩 | 软件工程</a:t>
            </a:r>
          </a:p>
        </p:txBody>
      </p:sp>
      <p:sp>
        <p:nvSpPr>
          <p:cNvPr id="31" name="矩形"/>
          <p:cNvSpPr/>
          <p:nvPr/>
        </p:nvSpPr>
        <p:spPr>
          <a:xfrm>
            <a:off x="723900" y="4476748"/>
            <a:ext cx="4095750" cy="1104906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400">
                <a:solidFill>
                  <a:srgbClr val="FFFFFF">
                    <a:alpha val="90196"/>
                  </a:srgbClr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32" name="郑彦文  2022112879…"/>
          <p:cNvSpPr txBox="1"/>
          <p:nvPr/>
        </p:nvSpPr>
        <p:spPr>
          <a:xfrm>
            <a:off x="723900" y="4476748"/>
            <a:ext cx="4095750" cy="101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400">
                <a:solidFill>
                  <a:srgbClr val="FFFFFF">
                    <a:alpha val="90196"/>
                  </a:srgbClr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郑彦文  2022112879</a:t>
            </a:r>
          </a:p>
          <a:p>
            <a:pPr>
              <a:defRPr sz="1400">
                <a:solidFill>
                  <a:srgbClr val="FFFFFF">
                    <a:alpha val="90196"/>
                  </a:srgbClr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指导教师：陈源龙</a:t>
            </a:r>
          </a:p>
          <a:p>
            <a:pPr>
              <a:defRPr sz="1400">
                <a:solidFill>
                  <a:srgbClr val="FFFFFF">
                    <a:alpha val="90196"/>
                  </a:srgbClr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哈尔滨工业大学 计算学部</a:t>
            </a:r>
          </a:p>
          <a:p>
            <a:pPr>
              <a:defRPr sz="1400">
                <a:solidFill>
                  <a:srgbClr val="FFFFFF">
                    <a:alpha val="90196"/>
                  </a:srgbClr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2026年5月26日</a:t>
            </a:r>
          </a:p>
        </p:txBody>
      </p:sp>
      <p:sp>
        <p:nvSpPr>
          <p:cNvPr id="33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3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5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6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7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8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9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0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1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2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3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4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5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6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7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8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9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0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1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2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3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4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5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6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7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8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9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0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1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3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4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5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6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7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8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9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0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1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2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3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5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6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7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8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0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1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2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3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5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00" name="image3.png" descr="image3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00050" y="6535384"/>
            <a:ext cx="2000250" cy="1975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1" name="Picture 11" descr="Picture 11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 rot="21439852">
            <a:off x="7231466" y="383006"/>
            <a:ext cx="5432672" cy="6574050"/>
          </a:xfrm>
          <a:prstGeom prst="rect">
            <a:avLst/>
          </a:prstGeom>
          <a:ln w="12700">
            <a:miter lim="400000"/>
          </a:ln>
        </p:spPr>
      </p:pic>
      <p:pic>
        <p:nvPicPr>
          <p:cNvPr id="102" name="Picture 18" descr="Picture 18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 rot="21416039">
            <a:off x="7033782" y="412787"/>
            <a:ext cx="5601043" cy="650148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05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pic>
        <p:nvPicPr>
          <p:cNvPr id="106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24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107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8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9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0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1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2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3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4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5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6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7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8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9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0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1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2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3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4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5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6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7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8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9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0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1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2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3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4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5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6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7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8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9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0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1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2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3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4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5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6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7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8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9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0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1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2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3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4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5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6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7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8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9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0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1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2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3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4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5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6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7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8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9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0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1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2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3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4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5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76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63"/>
          </a:xfrm>
          <a:prstGeom prst="rect">
            <a:avLst/>
          </a:prstGeom>
          <a:ln w="12700">
            <a:miter lim="400000"/>
          </a:ln>
        </p:spPr>
      </p:pic>
      <p:sp>
        <p:nvSpPr>
          <p:cNvPr id="177" name="矩形"/>
          <p:cNvSpPr/>
          <p:nvPr/>
        </p:nvSpPr>
        <p:spPr>
          <a:xfrm>
            <a:off x="1000125" y="200025"/>
            <a:ext cx="7239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 anchor="ctr"/>
          <a:lstStyle/>
          <a:p>
            <a:pPr>
              <a:defRPr b="1" sz="2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78" name="目录"/>
          <p:cNvSpPr txBox="1"/>
          <p:nvPr/>
        </p:nvSpPr>
        <p:spPr>
          <a:xfrm>
            <a:off x="1000125" y="238124"/>
            <a:ext cx="7239000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目录</a:t>
            </a:r>
          </a:p>
        </p:txBody>
      </p:sp>
      <p:sp>
        <p:nvSpPr>
          <p:cNvPr id="179" name="矩形"/>
          <p:cNvSpPr/>
          <p:nvPr/>
        </p:nvSpPr>
        <p:spPr>
          <a:xfrm>
            <a:off x="8667750" y="2286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 anchor="ctr"/>
          <a:lstStyle/>
          <a:p>
            <a:pPr algn="ctr">
              <a:defRPr b="1"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80" name="AGENDA"/>
          <p:cNvSpPr txBox="1"/>
          <p:nvPr/>
        </p:nvSpPr>
        <p:spPr>
          <a:xfrm>
            <a:off x="8667750" y="269874"/>
            <a:ext cx="142875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AGENDA</a:t>
            </a:r>
          </a:p>
        </p:txBody>
      </p:sp>
      <p:sp>
        <p:nvSpPr>
          <p:cNvPr id="181" name="矩形"/>
          <p:cNvSpPr/>
          <p:nvPr/>
        </p:nvSpPr>
        <p:spPr>
          <a:xfrm>
            <a:off x="1571625" y="1104900"/>
            <a:ext cx="9048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300">
                <a:solidFill>
                  <a:srgbClr val="082B6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82" name="围绕“运行时工作流规划”展开：先说明问题与系统，再讲 CEBRA-WP 算法，最后用实现和验证收束。"/>
          <p:cNvSpPr txBox="1"/>
          <p:nvPr/>
        </p:nvSpPr>
        <p:spPr>
          <a:xfrm>
            <a:off x="1571625" y="1104900"/>
            <a:ext cx="904875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300">
                <a:solidFill>
                  <a:srgbClr val="082B6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围绕“运行时工作流规划”展开：先说明问题与系统，再讲 CEBRA-WP 算法，最后用实现和验证收束。</a:t>
            </a:r>
          </a:p>
        </p:txBody>
      </p:sp>
      <p:sp>
        <p:nvSpPr>
          <p:cNvPr id="183" name="圆角矩形"/>
          <p:cNvSpPr/>
          <p:nvPr/>
        </p:nvSpPr>
        <p:spPr>
          <a:xfrm>
            <a:off x="2000250" y="1666875"/>
            <a:ext cx="8191500" cy="74295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>
            <a:solidFill>
              <a:srgbClr val="0052A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4" name="矩形"/>
          <p:cNvSpPr/>
          <p:nvPr/>
        </p:nvSpPr>
        <p:spPr>
          <a:xfrm>
            <a:off x="2000250" y="1666875"/>
            <a:ext cx="57150" cy="742950"/>
          </a:xfrm>
          <a:prstGeom prst="rect">
            <a:avLst/>
          </a:prstGeom>
          <a:solidFill>
            <a:srgbClr val="0052A5"/>
          </a:solidFill>
          <a:ln w="3175">
            <a:solidFill>
              <a:srgbClr val="0052A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5" name="矩形"/>
          <p:cNvSpPr/>
          <p:nvPr/>
        </p:nvSpPr>
        <p:spPr>
          <a:xfrm>
            <a:off x="2209800" y="1857375"/>
            <a:ext cx="5143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86" name="01"/>
          <p:cNvSpPr txBox="1"/>
          <p:nvPr/>
        </p:nvSpPr>
        <p:spPr>
          <a:xfrm>
            <a:off x="2209800" y="1857375"/>
            <a:ext cx="514350" cy="2592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01</a:t>
            </a:r>
          </a:p>
        </p:txBody>
      </p:sp>
      <p:sp>
        <p:nvSpPr>
          <p:cNvPr id="187" name="矩形"/>
          <p:cNvSpPr/>
          <p:nvPr/>
        </p:nvSpPr>
        <p:spPr>
          <a:xfrm>
            <a:off x="2876550" y="1809750"/>
            <a:ext cx="7048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082B6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88" name="问题背景"/>
          <p:cNvSpPr txBox="1"/>
          <p:nvPr/>
        </p:nvSpPr>
        <p:spPr>
          <a:xfrm>
            <a:off x="2876550" y="1809750"/>
            <a:ext cx="70485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082B6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问题背景</a:t>
            </a:r>
          </a:p>
        </p:txBody>
      </p:sp>
      <p:sp>
        <p:nvSpPr>
          <p:cNvPr id="189" name="矩形"/>
          <p:cNvSpPr/>
          <p:nvPr/>
        </p:nvSpPr>
        <p:spPr>
          <a:xfrm>
            <a:off x="2876550" y="2076450"/>
            <a:ext cx="7048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90" name="为什么固定工具链不足以支撑高代价、可失败的蛋白质设计流程"/>
          <p:cNvSpPr txBox="1"/>
          <p:nvPr/>
        </p:nvSpPr>
        <p:spPr>
          <a:xfrm>
            <a:off x="2876550" y="2076450"/>
            <a:ext cx="7048500" cy="16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为什么固定工具链不足以支撑高代价、可失败的蛋白质设计流程</a:t>
            </a:r>
          </a:p>
        </p:txBody>
      </p:sp>
      <p:sp>
        <p:nvSpPr>
          <p:cNvPr id="191" name="圆角矩形"/>
          <p:cNvSpPr/>
          <p:nvPr/>
        </p:nvSpPr>
        <p:spPr>
          <a:xfrm>
            <a:off x="2000250" y="2486025"/>
            <a:ext cx="8191500" cy="74295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>
            <a:solidFill>
              <a:srgbClr val="2F9D6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92" name="矩形"/>
          <p:cNvSpPr/>
          <p:nvPr/>
        </p:nvSpPr>
        <p:spPr>
          <a:xfrm>
            <a:off x="2000250" y="2486025"/>
            <a:ext cx="57150" cy="742950"/>
          </a:xfrm>
          <a:prstGeom prst="rect">
            <a:avLst/>
          </a:prstGeom>
          <a:solidFill>
            <a:srgbClr val="2F9D68"/>
          </a:solidFill>
          <a:ln w="3175">
            <a:solidFill>
              <a:srgbClr val="2F9D6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93" name="矩形"/>
          <p:cNvSpPr/>
          <p:nvPr/>
        </p:nvSpPr>
        <p:spPr>
          <a:xfrm>
            <a:off x="2209800" y="2676525"/>
            <a:ext cx="5143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>
                <a:solidFill>
                  <a:srgbClr val="2F9D68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94" name="02"/>
          <p:cNvSpPr txBox="1"/>
          <p:nvPr/>
        </p:nvSpPr>
        <p:spPr>
          <a:xfrm>
            <a:off x="2209800" y="2676525"/>
            <a:ext cx="514350" cy="2592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>
                <a:solidFill>
                  <a:srgbClr val="2F9D68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195" name="矩形"/>
          <p:cNvSpPr/>
          <p:nvPr/>
        </p:nvSpPr>
        <p:spPr>
          <a:xfrm>
            <a:off x="2876550" y="2628900"/>
            <a:ext cx="7048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082B6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96" name="系统架构"/>
          <p:cNvSpPr txBox="1"/>
          <p:nvPr/>
        </p:nvSpPr>
        <p:spPr>
          <a:xfrm>
            <a:off x="2876550" y="2628900"/>
            <a:ext cx="70485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082B6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系统架构</a:t>
            </a:r>
          </a:p>
        </p:txBody>
      </p:sp>
      <p:sp>
        <p:nvSpPr>
          <p:cNvPr id="197" name="矩形"/>
          <p:cNvSpPr/>
          <p:nvPr/>
        </p:nvSpPr>
        <p:spPr>
          <a:xfrm>
            <a:off x="2876550" y="2895600"/>
            <a:ext cx="7048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98" name="五层架构、结构化接口链、有限状态机与人在环决策约束"/>
          <p:cNvSpPr txBox="1"/>
          <p:nvPr/>
        </p:nvSpPr>
        <p:spPr>
          <a:xfrm>
            <a:off x="2876550" y="2895600"/>
            <a:ext cx="7048500" cy="16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五层架构、结构化接口链、有限状态机与人在环决策约束</a:t>
            </a:r>
          </a:p>
        </p:txBody>
      </p:sp>
      <p:sp>
        <p:nvSpPr>
          <p:cNvPr id="199" name="圆角矩形"/>
          <p:cNvSpPr/>
          <p:nvPr/>
        </p:nvSpPr>
        <p:spPr>
          <a:xfrm>
            <a:off x="2000250" y="3305175"/>
            <a:ext cx="8191500" cy="742950"/>
          </a:xfrm>
          <a:prstGeom prst="roundRect">
            <a:avLst>
              <a:gd name="adj" fmla="val 10256"/>
            </a:avLst>
          </a:prstGeom>
          <a:solidFill>
            <a:srgbClr val="EAF3FF"/>
          </a:solidFill>
          <a:ln>
            <a:solidFill>
              <a:srgbClr val="0052A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00" name="矩形"/>
          <p:cNvSpPr/>
          <p:nvPr/>
        </p:nvSpPr>
        <p:spPr>
          <a:xfrm>
            <a:off x="2000250" y="3305175"/>
            <a:ext cx="57150" cy="742950"/>
          </a:xfrm>
          <a:prstGeom prst="rect">
            <a:avLst/>
          </a:prstGeom>
          <a:solidFill>
            <a:srgbClr val="0052A5"/>
          </a:solidFill>
          <a:ln w="3175">
            <a:solidFill>
              <a:srgbClr val="0052A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01" name="矩形"/>
          <p:cNvSpPr/>
          <p:nvPr/>
        </p:nvSpPr>
        <p:spPr>
          <a:xfrm>
            <a:off x="2209800" y="3495675"/>
            <a:ext cx="5143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02" name="03"/>
          <p:cNvSpPr txBox="1"/>
          <p:nvPr/>
        </p:nvSpPr>
        <p:spPr>
          <a:xfrm>
            <a:off x="2209800" y="3495675"/>
            <a:ext cx="514350" cy="2592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03</a:t>
            </a:r>
          </a:p>
        </p:txBody>
      </p:sp>
      <p:sp>
        <p:nvSpPr>
          <p:cNvPr id="203" name="矩形"/>
          <p:cNvSpPr/>
          <p:nvPr/>
        </p:nvSpPr>
        <p:spPr>
          <a:xfrm>
            <a:off x="2876550" y="3448050"/>
            <a:ext cx="7048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082B6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204" name="核心算法"/>
          <p:cNvSpPr txBox="1"/>
          <p:nvPr/>
        </p:nvSpPr>
        <p:spPr>
          <a:xfrm>
            <a:off x="2876550" y="3448050"/>
            <a:ext cx="70485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082B6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核心算法</a:t>
            </a:r>
          </a:p>
        </p:txBody>
      </p:sp>
      <p:sp>
        <p:nvSpPr>
          <p:cNvPr id="205" name="矩形"/>
          <p:cNvSpPr/>
          <p:nvPr/>
        </p:nvSpPr>
        <p:spPr>
          <a:xfrm>
            <a:off x="2876550" y="3714750"/>
            <a:ext cx="7048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206" name="CEBRA-WP：候选过滤、静态评分、轻量信念状态与恢复动作选择"/>
          <p:cNvSpPr txBox="1"/>
          <p:nvPr/>
        </p:nvSpPr>
        <p:spPr>
          <a:xfrm>
            <a:off x="2876550" y="3714750"/>
            <a:ext cx="7048500" cy="16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CEBRA-WP：候选过滤、静态评分、轻量信念状态与恢复动作选择</a:t>
            </a:r>
          </a:p>
        </p:txBody>
      </p:sp>
      <p:sp>
        <p:nvSpPr>
          <p:cNvPr id="207" name="圆角矩形"/>
          <p:cNvSpPr/>
          <p:nvPr/>
        </p:nvSpPr>
        <p:spPr>
          <a:xfrm>
            <a:off x="2000250" y="4124325"/>
            <a:ext cx="8191500" cy="74295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>
            <a:solidFill>
              <a:srgbClr val="D9A1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08" name="矩形"/>
          <p:cNvSpPr/>
          <p:nvPr/>
        </p:nvSpPr>
        <p:spPr>
          <a:xfrm>
            <a:off x="2000250" y="4124325"/>
            <a:ext cx="57150" cy="742950"/>
          </a:xfrm>
          <a:prstGeom prst="rect">
            <a:avLst/>
          </a:prstGeom>
          <a:solidFill>
            <a:srgbClr val="D9A12A"/>
          </a:solidFill>
          <a:ln w="3175">
            <a:solidFill>
              <a:srgbClr val="D9A1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09" name="矩形"/>
          <p:cNvSpPr/>
          <p:nvPr/>
        </p:nvSpPr>
        <p:spPr>
          <a:xfrm>
            <a:off x="2209800" y="4314825"/>
            <a:ext cx="5143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>
                <a:solidFill>
                  <a:srgbClr val="D9A12A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10" name="04"/>
          <p:cNvSpPr txBox="1"/>
          <p:nvPr/>
        </p:nvSpPr>
        <p:spPr>
          <a:xfrm>
            <a:off x="2209800" y="4314825"/>
            <a:ext cx="514350" cy="2592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>
                <a:solidFill>
                  <a:srgbClr val="D9A12A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04</a:t>
            </a:r>
          </a:p>
        </p:txBody>
      </p:sp>
      <p:sp>
        <p:nvSpPr>
          <p:cNvPr id="211" name="矩形"/>
          <p:cNvSpPr/>
          <p:nvPr/>
        </p:nvSpPr>
        <p:spPr>
          <a:xfrm>
            <a:off x="2876550" y="4267200"/>
            <a:ext cx="7048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082B6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212" name="工程实现"/>
          <p:cNvSpPr txBox="1"/>
          <p:nvPr/>
        </p:nvSpPr>
        <p:spPr>
          <a:xfrm>
            <a:off x="2876550" y="4267200"/>
            <a:ext cx="70485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082B6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工程实现</a:t>
            </a:r>
          </a:p>
        </p:txBody>
      </p:sp>
      <p:sp>
        <p:nvSpPr>
          <p:cNvPr id="213" name="矩形"/>
          <p:cNvSpPr/>
          <p:nvPr/>
        </p:nvSpPr>
        <p:spPr>
          <a:xfrm>
            <a:off x="2876550" y="4533900"/>
            <a:ext cx="7048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214" name="算法对象如何落到字段、模块、运行时评估器和审计证据链"/>
          <p:cNvSpPr txBox="1"/>
          <p:nvPr/>
        </p:nvSpPr>
        <p:spPr>
          <a:xfrm>
            <a:off x="2876550" y="4533900"/>
            <a:ext cx="7048500" cy="16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算法对象如何落到字段、模块、运行时评估器和审计证据链</a:t>
            </a:r>
          </a:p>
        </p:txBody>
      </p:sp>
      <p:sp>
        <p:nvSpPr>
          <p:cNvPr id="215" name="圆角矩形"/>
          <p:cNvSpPr/>
          <p:nvPr/>
        </p:nvSpPr>
        <p:spPr>
          <a:xfrm>
            <a:off x="2000250" y="4943475"/>
            <a:ext cx="8191500" cy="74295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>
            <a:solidFill>
              <a:srgbClr val="C94C4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16" name="矩形"/>
          <p:cNvSpPr/>
          <p:nvPr/>
        </p:nvSpPr>
        <p:spPr>
          <a:xfrm>
            <a:off x="2000250" y="4943475"/>
            <a:ext cx="57150" cy="742950"/>
          </a:xfrm>
          <a:prstGeom prst="rect">
            <a:avLst/>
          </a:prstGeom>
          <a:solidFill>
            <a:srgbClr val="C94C4C"/>
          </a:solidFill>
          <a:ln w="3175">
            <a:solidFill>
              <a:srgbClr val="C94C4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17" name="矩形"/>
          <p:cNvSpPr/>
          <p:nvPr/>
        </p:nvSpPr>
        <p:spPr>
          <a:xfrm>
            <a:off x="2209800" y="5133975"/>
            <a:ext cx="5143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>
                <a:solidFill>
                  <a:srgbClr val="C94C4C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18" name="05"/>
          <p:cNvSpPr txBox="1"/>
          <p:nvPr/>
        </p:nvSpPr>
        <p:spPr>
          <a:xfrm>
            <a:off x="2209800" y="5133975"/>
            <a:ext cx="514350" cy="2592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>
                <a:solidFill>
                  <a:srgbClr val="C94C4C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05</a:t>
            </a:r>
          </a:p>
        </p:txBody>
      </p:sp>
      <p:sp>
        <p:nvSpPr>
          <p:cNvPr id="219" name="矩形"/>
          <p:cNvSpPr/>
          <p:nvPr/>
        </p:nvSpPr>
        <p:spPr>
          <a:xfrm>
            <a:off x="2876550" y="5086350"/>
            <a:ext cx="7048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082B6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220" name="验证结论"/>
          <p:cNvSpPr txBox="1"/>
          <p:nvPr/>
        </p:nvSpPr>
        <p:spPr>
          <a:xfrm>
            <a:off x="2876550" y="5086350"/>
            <a:ext cx="70485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082B6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验证结论</a:t>
            </a:r>
          </a:p>
        </p:txBody>
      </p:sp>
      <p:sp>
        <p:nvSpPr>
          <p:cNvPr id="221" name="矩形"/>
          <p:cNvSpPr/>
          <p:nvPr/>
        </p:nvSpPr>
        <p:spPr>
          <a:xfrm>
            <a:off x="2876550" y="5353050"/>
            <a:ext cx="7048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222" name="系统测试 + 84 次运行消融实验，说明机制可观测且成本控制有证据"/>
          <p:cNvSpPr txBox="1"/>
          <p:nvPr/>
        </p:nvSpPr>
        <p:spPr>
          <a:xfrm>
            <a:off x="2876550" y="5353050"/>
            <a:ext cx="7048500" cy="16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系统测试 + 84 次运行消融实验，说明机制可观测且成本控制有证据</a:t>
            </a:r>
          </a:p>
        </p:txBody>
      </p:sp>
      <p:grpSp>
        <p:nvGrpSpPr>
          <p:cNvPr id="225" name="矩形 245"/>
          <p:cNvGrpSpPr/>
          <p:nvPr/>
        </p:nvGrpSpPr>
        <p:grpSpPr>
          <a:xfrm>
            <a:off x="11696700" y="6419850"/>
            <a:ext cx="323850" cy="266700"/>
            <a:chOff x="0" y="0"/>
            <a:chExt cx="323850" cy="266700"/>
          </a:xfrm>
        </p:grpSpPr>
        <p:sp>
          <p:nvSpPr>
            <p:cNvPr id="223" name="矩形"/>
            <p:cNvSpPr/>
            <p:nvPr/>
          </p:nvSpPr>
          <p:spPr>
            <a:xfrm>
              <a:off x="0" y="0"/>
              <a:ext cx="3238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>
                <a:defRPr b="1" sz="1300">
                  <a:solidFill>
                    <a:srgbClr val="8A8A8A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224" name="2"/>
            <p:cNvSpPr txBox="1"/>
            <p:nvPr/>
          </p:nvSpPr>
          <p:spPr>
            <a:xfrm>
              <a:off x="0" y="0"/>
              <a:ext cx="323850" cy="1850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300">
                  <a:solidFill>
                    <a:srgbClr val="8A8A8A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28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pic>
        <p:nvPicPr>
          <p:cNvPr id="229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24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230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1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2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3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4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5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6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7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8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9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0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1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2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3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4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5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6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7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8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9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0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1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2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3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4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5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6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7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8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9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0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1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2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3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4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5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6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7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8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9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0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1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2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3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4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5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6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7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8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9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80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81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82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83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84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85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86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87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88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89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0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1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2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3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4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5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6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7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8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99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63"/>
          </a:xfrm>
          <a:prstGeom prst="rect">
            <a:avLst/>
          </a:prstGeom>
          <a:ln w="12700">
            <a:miter lim="400000"/>
          </a:ln>
        </p:spPr>
      </p:pic>
      <p:sp>
        <p:nvSpPr>
          <p:cNvPr id="300" name="矩形"/>
          <p:cNvSpPr/>
          <p:nvPr/>
        </p:nvSpPr>
        <p:spPr>
          <a:xfrm>
            <a:off x="1000125" y="200025"/>
            <a:ext cx="7239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 anchor="ctr"/>
          <a:lstStyle/>
          <a:p>
            <a:pPr>
              <a:defRPr b="1" sz="2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301" name="汇报结构与核心问题"/>
          <p:cNvSpPr txBox="1"/>
          <p:nvPr/>
        </p:nvSpPr>
        <p:spPr>
          <a:xfrm>
            <a:off x="1000125" y="238123"/>
            <a:ext cx="7239000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汇报结构与核心问题</a:t>
            </a:r>
          </a:p>
        </p:txBody>
      </p:sp>
      <p:sp>
        <p:nvSpPr>
          <p:cNvPr id="302" name="矩形"/>
          <p:cNvSpPr/>
          <p:nvPr/>
        </p:nvSpPr>
        <p:spPr>
          <a:xfrm>
            <a:off x="8667750" y="2286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 anchor="ctr"/>
          <a:lstStyle/>
          <a:p>
            <a:pPr algn="ctr">
              <a:defRPr b="1"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03" name="STORYLINE"/>
          <p:cNvSpPr txBox="1"/>
          <p:nvPr/>
        </p:nvSpPr>
        <p:spPr>
          <a:xfrm>
            <a:off x="8667750" y="269871"/>
            <a:ext cx="142875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STORYLINE</a:t>
            </a:r>
          </a:p>
        </p:txBody>
      </p:sp>
      <p:sp>
        <p:nvSpPr>
          <p:cNvPr id="304" name="矩形"/>
          <p:cNvSpPr/>
          <p:nvPr/>
        </p:nvSpPr>
        <p:spPr>
          <a:xfrm>
            <a:off x="781050" y="1066799"/>
            <a:ext cx="10668000" cy="4191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500">
                <a:solidFill>
                  <a:srgbClr val="082B6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305" name="本次答辩围绕一个问题展开：高代价、可失败的蛋白质设计工具链，如何在执行中做可解释的规划与恢复决策。"/>
          <p:cNvSpPr txBox="1"/>
          <p:nvPr/>
        </p:nvSpPr>
        <p:spPr>
          <a:xfrm>
            <a:off x="781050" y="1066796"/>
            <a:ext cx="10668000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082B6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本次答辩围绕一个问题展开：高代价、可失败的蛋白质设计工具链，如何在执行中做可解释的规划与恢复决策。</a:t>
            </a:r>
          </a:p>
        </p:txBody>
      </p:sp>
      <p:sp>
        <p:nvSpPr>
          <p:cNvPr id="306" name="圆角矩形 986"/>
          <p:cNvSpPr/>
          <p:nvPr/>
        </p:nvSpPr>
        <p:spPr>
          <a:xfrm>
            <a:off x="781050" y="1885950"/>
            <a:ext cx="1695450" cy="200025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307" name="矩形"/>
          <p:cNvSpPr/>
          <p:nvPr/>
        </p:nvSpPr>
        <p:spPr>
          <a:xfrm>
            <a:off x="952500" y="2019300"/>
            <a:ext cx="1352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308" name="工程约束"/>
          <p:cNvSpPr txBox="1"/>
          <p:nvPr/>
        </p:nvSpPr>
        <p:spPr>
          <a:xfrm>
            <a:off x="952500" y="2019300"/>
            <a:ext cx="135255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工程约束</a:t>
            </a:r>
          </a:p>
        </p:txBody>
      </p:sp>
      <p:sp>
        <p:nvSpPr>
          <p:cNvPr id="309" name="矩形"/>
          <p:cNvSpPr/>
          <p:nvPr/>
        </p:nvSpPr>
        <p:spPr>
          <a:xfrm>
            <a:off x="952500" y="2324098"/>
            <a:ext cx="1352550" cy="148590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310" name="多工具异构…"/>
          <p:cNvSpPr txBox="1"/>
          <p:nvPr/>
        </p:nvSpPr>
        <p:spPr>
          <a:xfrm>
            <a:off x="952500" y="2324098"/>
            <a:ext cx="1352550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多工具异构</a:t>
            </a:r>
          </a:p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高代价调用</a:t>
            </a:r>
          </a:p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失败可恢复</a:t>
            </a:r>
          </a:p>
        </p:txBody>
      </p:sp>
      <p:sp>
        <p:nvSpPr>
          <p:cNvPr id="311" name="矩形"/>
          <p:cNvSpPr/>
          <p:nvPr/>
        </p:nvSpPr>
        <p:spPr>
          <a:xfrm>
            <a:off x="2533650" y="2809875"/>
            <a:ext cx="3048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600">
                <a:solidFill>
                  <a:srgbClr val="9DC3E6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12" name="→"/>
          <p:cNvSpPr txBox="1"/>
          <p:nvPr/>
        </p:nvSpPr>
        <p:spPr>
          <a:xfrm>
            <a:off x="2533650" y="2809875"/>
            <a:ext cx="304800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600">
                <a:solidFill>
                  <a:srgbClr val="9DC3E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313" name="圆角矩形 990"/>
          <p:cNvSpPr/>
          <p:nvPr/>
        </p:nvSpPr>
        <p:spPr>
          <a:xfrm>
            <a:off x="2876550" y="1885950"/>
            <a:ext cx="1695450" cy="200025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314" name="矩形"/>
          <p:cNvSpPr/>
          <p:nvPr/>
        </p:nvSpPr>
        <p:spPr>
          <a:xfrm>
            <a:off x="3048000" y="2019300"/>
            <a:ext cx="1352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315" name="系统支撑"/>
          <p:cNvSpPr txBox="1"/>
          <p:nvPr/>
        </p:nvSpPr>
        <p:spPr>
          <a:xfrm>
            <a:off x="3048000" y="2019300"/>
            <a:ext cx="135255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系统支撑</a:t>
            </a:r>
          </a:p>
        </p:txBody>
      </p:sp>
      <p:sp>
        <p:nvSpPr>
          <p:cNvPr id="316" name="矩形"/>
          <p:cNvSpPr/>
          <p:nvPr/>
        </p:nvSpPr>
        <p:spPr>
          <a:xfrm>
            <a:off x="3048000" y="2324098"/>
            <a:ext cx="1352550" cy="148590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317" name="五层架构…"/>
          <p:cNvSpPr txBox="1"/>
          <p:nvPr/>
        </p:nvSpPr>
        <p:spPr>
          <a:xfrm>
            <a:off x="3048000" y="2324098"/>
            <a:ext cx="1352550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五层架构</a:t>
            </a:r>
          </a:p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结构化对象</a:t>
            </a:r>
          </a:p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FSM / HITL</a:t>
            </a:r>
          </a:p>
        </p:txBody>
      </p:sp>
      <p:sp>
        <p:nvSpPr>
          <p:cNvPr id="318" name="矩形"/>
          <p:cNvSpPr/>
          <p:nvPr/>
        </p:nvSpPr>
        <p:spPr>
          <a:xfrm>
            <a:off x="4629150" y="2809875"/>
            <a:ext cx="3048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600">
                <a:solidFill>
                  <a:srgbClr val="9DC3E6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19" name="→"/>
          <p:cNvSpPr txBox="1"/>
          <p:nvPr/>
        </p:nvSpPr>
        <p:spPr>
          <a:xfrm>
            <a:off x="4629150" y="2809875"/>
            <a:ext cx="304800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600">
                <a:solidFill>
                  <a:srgbClr val="9DC3E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320" name="圆角矩形 994"/>
          <p:cNvSpPr/>
          <p:nvPr/>
        </p:nvSpPr>
        <p:spPr>
          <a:xfrm>
            <a:off x="4972050" y="1885950"/>
            <a:ext cx="1695450" cy="2000250"/>
          </a:xfrm>
          <a:prstGeom prst="roundRect">
            <a:avLst>
              <a:gd name="adj" fmla="val 4494"/>
            </a:avLst>
          </a:prstGeom>
          <a:solidFill>
            <a:srgbClr val="0052A5"/>
          </a:solidFill>
          <a:ln>
            <a:solidFill>
              <a:srgbClr val="0052A5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321" name="矩形"/>
          <p:cNvSpPr/>
          <p:nvPr/>
        </p:nvSpPr>
        <p:spPr>
          <a:xfrm>
            <a:off x="5143500" y="2019300"/>
            <a:ext cx="1352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322" name="核心算法"/>
          <p:cNvSpPr txBox="1"/>
          <p:nvPr/>
        </p:nvSpPr>
        <p:spPr>
          <a:xfrm>
            <a:off x="5143500" y="2019300"/>
            <a:ext cx="135255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核心算法</a:t>
            </a:r>
          </a:p>
        </p:txBody>
      </p:sp>
      <p:sp>
        <p:nvSpPr>
          <p:cNvPr id="323" name="矩形"/>
          <p:cNvSpPr/>
          <p:nvPr/>
        </p:nvSpPr>
        <p:spPr>
          <a:xfrm>
            <a:off x="5143500" y="2324098"/>
            <a:ext cx="1352550" cy="148590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0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324" name="CEBRA-WP…"/>
          <p:cNvSpPr txBox="1"/>
          <p:nvPr/>
        </p:nvSpPr>
        <p:spPr>
          <a:xfrm>
            <a:off x="5143500" y="2324098"/>
            <a:ext cx="1352550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CEBRA-WP</a:t>
            </a:r>
          </a:p>
          <a:p>
            <a:pPr>
              <a:defRPr sz="10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静态规划</a:t>
            </a:r>
          </a:p>
          <a:p>
            <a:pPr>
              <a:defRPr sz="10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运行时自适应</a:t>
            </a:r>
          </a:p>
        </p:txBody>
      </p:sp>
      <p:sp>
        <p:nvSpPr>
          <p:cNvPr id="325" name="矩形"/>
          <p:cNvSpPr/>
          <p:nvPr/>
        </p:nvSpPr>
        <p:spPr>
          <a:xfrm>
            <a:off x="6724650" y="2809875"/>
            <a:ext cx="3048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600">
                <a:solidFill>
                  <a:srgbClr val="9DC3E6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26" name="→"/>
          <p:cNvSpPr txBox="1"/>
          <p:nvPr/>
        </p:nvSpPr>
        <p:spPr>
          <a:xfrm>
            <a:off x="6724650" y="2809875"/>
            <a:ext cx="304800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600">
                <a:solidFill>
                  <a:srgbClr val="9DC3E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327" name="圆角矩形 998"/>
          <p:cNvSpPr/>
          <p:nvPr/>
        </p:nvSpPr>
        <p:spPr>
          <a:xfrm>
            <a:off x="7067550" y="1885950"/>
            <a:ext cx="1695450" cy="200025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328" name="矩形"/>
          <p:cNvSpPr/>
          <p:nvPr/>
        </p:nvSpPr>
        <p:spPr>
          <a:xfrm>
            <a:off x="7239000" y="2019300"/>
            <a:ext cx="1352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329" name="工程落地"/>
          <p:cNvSpPr txBox="1"/>
          <p:nvPr/>
        </p:nvSpPr>
        <p:spPr>
          <a:xfrm>
            <a:off x="7239000" y="2019300"/>
            <a:ext cx="135255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工程落地</a:t>
            </a:r>
          </a:p>
        </p:txBody>
      </p:sp>
      <p:sp>
        <p:nvSpPr>
          <p:cNvPr id="330" name="矩形"/>
          <p:cNvSpPr/>
          <p:nvPr/>
        </p:nvSpPr>
        <p:spPr>
          <a:xfrm>
            <a:off x="7239000" y="2324098"/>
            <a:ext cx="1352550" cy="148590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331" name="RuntimeEvaluator…"/>
          <p:cNvSpPr txBox="1"/>
          <p:nvPr/>
        </p:nvSpPr>
        <p:spPr>
          <a:xfrm>
            <a:off x="7239000" y="2324098"/>
            <a:ext cx="1352550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RuntimeEvaluator</a:t>
            </a:r>
          </a:p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ToolAdapter</a:t>
            </a:r>
          </a:p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EventLog / Snapshot</a:t>
            </a:r>
          </a:p>
        </p:txBody>
      </p:sp>
      <p:sp>
        <p:nvSpPr>
          <p:cNvPr id="332" name="矩形"/>
          <p:cNvSpPr/>
          <p:nvPr/>
        </p:nvSpPr>
        <p:spPr>
          <a:xfrm>
            <a:off x="8820150" y="2809875"/>
            <a:ext cx="3048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600">
                <a:solidFill>
                  <a:srgbClr val="9DC3E6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33" name="→"/>
          <p:cNvSpPr txBox="1"/>
          <p:nvPr/>
        </p:nvSpPr>
        <p:spPr>
          <a:xfrm>
            <a:off x="8820150" y="2809875"/>
            <a:ext cx="304800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600">
                <a:solidFill>
                  <a:srgbClr val="9DC3E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334" name="圆角矩形 1002"/>
          <p:cNvSpPr/>
          <p:nvPr/>
        </p:nvSpPr>
        <p:spPr>
          <a:xfrm>
            <a:off x="9163050" y="1885950"/>
            <a:ext cx="1695450" cy="200025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335" name="矩形"/>
          <p:cNvSpPr/>
          <p:nvPr/>
        </p:nvSpPr>
        <p:spPr>
          <a:xfrm>
            <a:off x="9334500" y="2019300"/>
            <a:ext cx="1352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336" name="验证边界"/>
          <p:cNvSpPr txBox="1"/>
          <p:nvPr/>
        </p:nvSpPr>
        <p:spPr>
          <a:xfrm>
            <a:off x="9334500" y="2019300"/>
            <a:ext cx="135255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验证边界</a:t>
            </a:r>
          </a:p>
        </p:txBody>
      </p:sp>
      <p:sp>
        <p:nvSpPr>
          <p:cNvPr id="337" name="矩形"/>
          <p:cNvSpPr/>
          <p:nvPr/>
        </p:nvSpPr>
        <p:spPr>
          <a:xfrm>
            <a:off x="9334500" y="2324098"/>
            <a:ext cx="1352550" cy="148590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338" name="13 个测试用例…"/>
          <p:cNvSpPr txBox="1"/>
          <p:nvPr/>
        </p:nvSpPr>
        <p:spPr>
          <a:xfrm>
            <a:off x="9334500" y="2324098"/>
            <a:ext cx="1352550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13 个测试用例</a:t>
            </a:r>
          </a:p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84-run 消融</a:t>
            </a:r>
          </a:p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结论不过度外推</a:t>
            </a:r>
          </a:p>
        </p:txBody>
      </p:sp>
      <p:sp>
        <p:nvSpPr>
          <p:cNvPr id="339" name="圆角矩形 1005"/>
          <p:cNvSpPr/>
          <p:nvPr/>
        </p:nvSpPr>
        <p:spPr>
          <a:xfrm>
            <a:off x="2047875" y="4476750"/>
            <a:ext cx="8096250" cy="904875"/>
          </a:xfrm>
          <a:prstGeom prst="roundRect">
            <a:avLst>
              <a:gd name="adj" fmla="val 8421"/>
            </a:avLst>
          </a:prstGeom>
          <a:solidFill>
            <a:srgbClr val="EAF3FF"/>
          </a:solidFill>
          <a:ln>
            <a:solidFill>
              <a:srgbClr val="9DC3E6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340" name="矩形"/>
          <p:cNvSpPr/>
          <p:nvPr/>
        </p:nvSpPr>
        <p:spPr>
          <a:xfrm>
            <a:off x="2219325" y="4610100"/>
            <a:ext cx="77533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341" name="核心判断"/>
          <p:cNvSpPr txBox="1"/>
          <p:nvPr/>
        </p:nvSpPr>
        <p:spPr>
          <a:xfrm>
            <a:off x="2219325" y="4610100"/>
            <a:ext cx="775335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核心判断</a:t>
            </a:r>
          </a:p>
        </p:txBody>
      </p:sp>
      <p:sp>
        <p:nvSpPr>
          <p:cNvPr id="342" name="矩形"/>
          <p:cNvSpPr/>
          <p:nvPr/>
        </p:nvSpPr>
        <p:spPr>
          <a:xfrm>
            <a:off x="2219325" y="4914898"/>
            <a:ext cx="7753350" cy="390529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343" name="贡献集中在运行时工作流规划：先约束候选可执行；…"/>
          <p:cNvSpPr txBox="1"/>
          <p:nvPr/>
        </p:nvSpPr>
        <p:spPr>
          <a:xfrm>
            <a:off x="2219325" y="4914898"/>
            <a:ext cx="7753350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贡献集中在运行时工作流规划：先约束候选可执行；</a:t>
            </a:r>
          </a:p>
          <a:p>
            <a:pPr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再依据运行时证据选择 continue / patch_local / suffix_replan / stop。</a:t>
            </a:r>
          </a:p>
        </p:txBody>
      </p:sp>
      <p:grpSp>
        <p:nvGrpSpPr>
          <p:cNvPr id="346" name="矩形 367"/>
          <p:cNvGrpSpPr/>
          <p:nvPr/>
        </p:nvGrpSpPr>
        <p:grpSpPr>
          <a:xfrm>
            <a:off x="11696700" y="6419850"/>
            <a:ext cx="323850" cy="266700"/>
            <a:chOff x="0" y="0"/>
            <a:chExt cx="323850" cy="266700"/>
          </a:xfrm>
        </p:grpSpPr>
        <p:sp>
          <p:nvSpPr>
            <p:cNvPr id="344" name="矩形"/>
            <p:cNvSpPr/>
            <p:nvPr/>
          </p:nvSpPr>
          <p:spPr>
            <a:xfrm>
              <a:off x="0" y="0"/>
              <a:ext cx="3238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>
                <a:defRPr b="1" sz="1300">
                  <a:solidFill>
                    <a:srgbClr val="8A8A8A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345" name="3"/>
            <p:cNvSpPr txBox="1"/>
            <p:nvPr/>
          </p:nvSpPr>
          <p:spPr>
            <a:xfrm>
              <a:off x="0" y="0"/>
              <a:ext cx="323850" cy="1850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300">
                  <a:solidFill>
                    <a:srgbClr val="8A8A8A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349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pic>
        <p:nvPicPr>
          <p:cNvPr id="350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24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351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2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3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4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5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6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7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8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9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0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1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2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3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4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5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6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7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8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9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0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1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2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3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4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5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6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7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8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9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0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1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2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3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4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5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6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7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8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9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0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1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2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3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4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5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6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7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8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9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0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1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2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3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4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5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6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7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8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9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0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1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2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3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4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5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6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7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8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9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420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63"/>
          </a:xfrm>
          <a:prstGeom prst="rect">
            <a:avLst/>
          </a:prstGeom>
          <a:ln w="12700">
            <a:miter lim="400000"/>
          </a:ln>
        </p:spPr>
      </p:pic>
      <p:sp>
        <p:nvSpPr>
          <p:cNvPr id="421" name="矩形"/>
          <p:cNvSpPr/>
          <p:nvPr/>
        </p:nvSpPr>
        <p:spPr>
          <a:xfrm>
            <a:off x="1000125" y="200025"/>
            <a:ext cx="7239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 anchor="ctr"/>
          <a:lstStyle/>
          <a:p>
            <a:pPr>
              <a:defRPr b="1" sz="2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422" name="为什么需要工作流规划机制"/>
          <p:cNvSpPr txBox="1"/>
          <p:nvPr/>
        </p:nvSpPr>
        <p:spPr>
          <a:xfrm>
            <a:off x="1000125" y="238123"/>
            <a:ext cx="7239000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为什么需要工作流规划机制</a:t>
            </a:r>
          </a:p>
        </p:txBody>
      </p:sp>
      <p:sp>
        <p:nvSpPr>
          <p:cNvPr id="423" name="矩形"/>
          <p:cNvSpPr/>
          <p:nvPr/>
        </p:nvSpPr>
        <p:spPr>
          <a:xfrm>
            <a:off x="8667750" y="2286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 anchor="ctr"/>
          <a:lstStyle/>
          <a:p>
            <a:pPr algn="ctr">
              <a:defRPr b="1"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424" name="PROBLEM"/>
          <p:cNvSpPr txBox="1"/>
          <p:nvPr/>
        </p:nvSpPr>
        <p:spPr>
          <a:xfrm>
            <a:off x="8667750" y="269871"/>
            <a:ext cx="142875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PROBLEM</a:t>
            </a:r>
          </a:p>
        </p:txBody>
      </p:sp>
      <p:sp>
        <p:nvSpPr>
          <p:cNvPr id="425" name="矩形"/>
          <p:cNvSpPr/>
          <p:nvPr/>
        </p:nvSpPr>
        <p:spPr>
          <a:xfrm>
            <a:off x="781050" y="1028699"/>
            <a:ext cx="10572750" cy="3810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500">
                <a:solidFill>
                  <a:srgbClr val="082B6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426" name="蛋白质设计工具链不是一次模型调用，而是由生成、结构预测、质量门禁、目标评分和汇总组成的长链路。"/>
          <p:cNvSpPr txBox="1"/>
          <p:nvPr/>
        </p:nvSpPr>
        <p:spPr>
          <a:xfrm>
            <a:off x="781050" y="1028696"/>
            <a:ext cx="10572750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082B6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蛋白质设计工具链不是一次模型调用，而是由生成、结构预测、质量门禁、目标评分和汇总组成的长链路。</a:t>
            </a:r>
          </a:p>
        </p:txBody>
      </p:sp>
      <p:sp>
        <p:nvSpPr>
          <p:cNvPr id="427" name="圆角矩形 986"/>
          <p:cNvSpPr/>
          <p:nvPr/>
        </p:nvSpPr>
        <p:spPr>
          <a:xfrm>
            <a:off x="781050" y="1809750"/>
            <a:ext cx="2333625" cy="152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0052A5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428" name="矩形 987"/>
          <p:cNvSpPr/>
          <p:nvPr/>
        </p:nvSpPr>
        <p:spPr>
          <a:xfrm>
            <a:off x="781050" y="1809750"/>
            <a:ext cx="57150" cy="1524000"/>
          </a:xfrm>
          <a:prstGeom prst="rect">
            <a:avLst/>
          </a:prstGeom>
          <a:solidFill>
            <a:srgbClr val="0052A5"/>
          </a:solidFill>
          <a:ln w="3175">
            <a:solidFill>
              <a:srgbClr val="0052A5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429" name="矩形"/>
          <p:cNvSpPr/>
          <p:nvPr/>
        </p:nvSpPr>
        <p:spPr>
          <a:xfrm>
            <a:off x="952500" y="1943100"/>
            <a:ext cx="19907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430" name="接口异构"/>
          <p:cNvSpPr txBox="1"/>
          <p:nvPr/>
        </p:nvSpPr>
        <p:spPr>
          <a:xfrm>
            <a:off x="952500" y="1943100"/>
            <a:ext cx="1990725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接口异构</a:t>
            </a:r>
          </a:p>
        </p:txBody>
      </p:sp>
      <p:sp>
        <p:nvSpPr>
          <p:cNvPr id="431" name="矩形"/>
          <p:cNvSpPr/>
          <p:nvPr/>
        </p:nvSpPr>
        <p:spPr>
          <a:xfrm>
            <a:off x="952500" y="2247899"/>
            <a:ext cx="1990725" cy="10096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432" name="序列、结构、评分工具的输入输出格式差异明显"/>
          <p:cNvSpPr txBox="1"/>
          <p:nvPr/>
        </p:nvSpPr>
        <p:spPr>
          <a:xfrm>
            <a:off x="952500" y="2247898"/>
            <a:ext cx="1990725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序列、结构、评分工具的输入输出格式差异明显</a:t>
            </a:r>
          </a:p>
        </p:txBody>
      </p:sp>
      <p:sp>
        <p:nvSpPr>
          <p:cNvPr id="433" name="圆角矩形 990"/>
          <p:cNvSpPr/>
          <p:nvPr/>
        </p:nvSpPr>
        <p:spPr>
          <a:xfrm>
            <a:off x="3543300" y="1809750"/>
            <a:ext cx="2333625" cy="152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9A12A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434" name="矩形 991"/>
          <p:cNvSpPr/>
          <p:nvPr/>
        </p:nvSpPr>
        <p:spPr>
          <a:xfrm>
            <a:off x="3543300" y="1809750"/>
            <a:ext cx="57150" cy="1524000"/>
          </a:xfrm>
          <a:prstGeom prst="rect">
            <a:avLst/>
          </a:prstGeom>
          <a:solidFill>
            <a:srgbClr val="D9A12A"/>
          </a:solidFill>
          <a:ln w="3175">
            <a:solidFill>
              <a:srgbClr val="D9A12A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435" name="矩形"/>
          <p:cNvSpPr/>
          <p:nvPr/>
        </p:nvSpPr>
        <p:spPr>
          <a:xfrm>
            <a:off x="3714750" y="1943100"/>
            <a:ext cx="19907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D9A12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436" name="高代价调用"/>
          <p:cNvSpPr txBox="1"/>
          <p:nvPr/>
        </p:nvSpPr>
        <p:spPr>
          <a:xfrm>
            <a:off x="3714750" y="1943100"/>
            <a:ext cx="1990725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D9A12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高代价调用</a:t>
            </a:r>
          </a:p>
        </p:txBody>
      </p:sp>
      <p:sp>
        <p:nvSpPr>
          <p:cNvPr id="437" name="矩形"/>
          <p:cNvSpPr/>
          <p:nvPr/>
        </p:nvSpPr>
        <p:spPr>
          <a:xfrm>
            <a:off x="3714750" y="2247899"/>
            <a:ext cx="1990725" cy="10096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438" name="结构预测与重型打分不宜在证据不足时盲目执行"/>
          <p:cNvSpPr txBox="1"/>
          <p:nvPr/>
        </p:nvSpPr>
        <p:spPr>
          <a:xfrm>
            <a:off x="3714750" y="2247898"/>
            <a:ext cx="1990725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结构预测与重型打分不宜在证据不足时盲目执行</a:t>
            </a:r>
          </a:p>
        </p:txBody>
      </p:sp>
      <p:sp>
        <p:nvSpPr>
          <p:cNvPr id="439" name="圆角矩形 994"/>
          <p:cNvSpPr/>
          <p:nvPr/>
        </p:nvSpPr>
        <p:spPr>
          <a:xfrm>
            <a:off x="6305550" y="1809750"/>
            <a:ext cx="2333625" cy="152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2F9D68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440" name="矩形 995"/>
          <p:cNvSpPr/>
          <p:nvPr/>
        </p:nvSpPr>
        <p:spPr>
          <a:xfrm>
            <a:off x="6305550" y="1809750"/>
            <a:ext cx="57150" cy="1524000"/>
          </a:xfrm>
          <a:prstGeom prst="rect">
            <a:avLst/>
          </a:prstGeom>
          <a:solidFill>
            <a:srgbClr val="2F9D68"/>
          </a:solidFill>
          <a:ln w="3175">
            <a:solidFill>
              <a:srgbClr val="2F9D68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441" name="矩形"/>
          <p:cNvSpPr/>
          <p:nvPr/>
        </p:nvSpPr>
        <p:spPr>
          <a:xfrm>
            <a:off x="6477000" y="1943100"/>
            <a:ext cx="19907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2F9D68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442" name="失败可恢复"/>
          <p:cNvSpPr txBox="1"/>
          <p:nvPr/>
        </p:nvSpPr>
        <p:spPr>
          <a:xfrm>
            <a:off x="6477000" y="1943100"/>
            <a:ext cx="1990725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2F9D68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失败可恢复</a:t>
            </a:r>
          </a:p>
        </p:txBody>
      </p:sp>
      <p:sp>
        <p:nvSpPr>
          <p:cNvPr id="443" name="矩形"/>
          <p:cNvSpPr/>
          <p:nvPr/>
        </p:nvSpPr>
        <p:spPr>
          <a:xfrm>
            <a:off x="6477000" y="2247899"/>
            <a:ext cx="1990725" cy="10096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444" name="参数错误、I/O 缺失、质量门禁失败不应直接终止"/>
          <p:cNvSpPr txBox="1"/>
          <p:nvPr/>
        </p:nvSpPr>
        <p:spPr>
          <a:xfrm>
            <a:off x="6477000" y="2247898"/>
            <a:ext cx="1990725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参数错误、I/O 缺失、质量门禁失败不应直接终止</a:t>
            </a:r>
          </a:p>
        </p:txBody>
      </p:sp>
      <p:sp>
        <p:nvSpPr>
          <p:cNvPr id="445" name="圆角矩形 998"/>
          <p:cNvSpPr/>
          <p:nvPr/>
        </p:nvSpPr>
        <p:spPr>
          <a:xfrm>
            <a:off x="9067800" y="1809750"/>
            <a:ext cx="2333625" cy="152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0052A5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446" name="矩形 999"/>
          <p:cNvSpPr/>
          <p:nvPr/>
        </p:nvSpPr>
        <p:spPr>
          <a:xfrm>
            <a:off x="9067800" y="1809750"/>
            <a:ext cx="57150" cy="1524000"/>
          </a:xfrm>
          <a:prstGeom prst="rect">
            <a:avLst/>
          </a:prstGeom>
          <a:solidFill>
            <a:srgbClr val="0052A5"/>
          </a:solidFill>
          <a:ln w="3175">
            <a:solidFill>
              <a:srgbClr val="0052A5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447" name="矩形"/>
          <p:cNvSpPr/>
          <p:nvPr/>
        </p:nvSpPr>
        <p:spPr>
          <a:xfrm>
            <a:off x="9239250" y="1943100"/>
            <a:ext cx="19907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448" name="决策需审查"/>
          <p:cNvSpPr txBox="1"/>
          <p:nvPr/>
        </p:nvSpPr>
        <p:spPr>
          <a:xfrm>
            <a:off x="9239250" y="1943100"/>
            <a:ext cx="1990725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决策需审查</a:t>
            </a:r>
          </a:p>
        </p:txBody>
      </p:sp>
      <p:sp>
        <p:nvSpPr>
          <p:cNvPr id="449" name="矩形"/>
          <p:cNvSpPr/>
          <p:nvPr/>
        </p:nvSpPr>
        <p:spPr>
          <a:xfrm>
            <a:off x="9239250" y="2247899"/>
            <a:ext cx="1990725" cy="10096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450" name="高风险、高成本、不确定场景需要人工确认"/>
          <p:cNvSpPr txBox="1"/>
          <p:nvPr/>
        </p:nvSpPr>
        <p:spPr>
          <a:xfrm>
            <a:off x="9239250" y="2247898"/>
            <a:ext cx="1990725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高风险、高成本、不确定场景需要人工确认</a:t>
            </a:r>
          </a:p>
        </p:txBody>
      </p:sp>
      <p:sp>
        <p:nvSpPr>
          <p:cNvPr id="451" name="圆角矩形 1002"/>
          <p:cNvSpPr/>
          <p:nvPr/>
        </p:nvSpPr>
        <p:spPr>
          <a:xfrm>
            <a:off x="1285875" y="3905250"/>
            <a:ext cx="4381500" cy="1000125"/>
          </a:xfrm>
          <a:prstGeom prst="roundRect">
            <a:avLst>
              <a:gd name="adj" fmla="val 7619"/>
            </a:avLst>
          </a:prstGeom>
          <a:solidFill>
            <a:srgbClr val="F5F9FE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452" name="矩形"/>
          <p:cNvSpPr/>
          <p:nvPr/>
        </p:nvSpPr>
        <p:spPr>
          <a:xfrm>
            <a:off x="1457325" y="4038600"/>
            <a:ext cx="40386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453" name="研究边界"/>
          <p:cNvSpPr txBox="1"/>
          <p:nvPr/>
        </p:nvSpPr>
        <p:spPr>
          <a:xfrm>
            <a:off x="1457325" y="4038600"/>
            <a:ext cx="40386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研究边界</a:t>
            </a:r>
          </a:p>
        </p:txBody>
      </p:sp>
      <p:sp>
        <p:nvSpPr>
          <p:cNvPr id="454" name="矩形"/>
          <p:cNvSpPr/>
          <p:nvPr/>
        </p:nvSpPr>
        <p:spPr>
          <a:xfrm>
            <a:off x="1457325" y="4292598"/>
            <a:ext cx="4038600" cy="485779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455" name="不训练新的蛋白质生成模型…"/>
          <p:cNvSpPr txBox="1"/>
          <p:nvPr/>
        </p:nvSpPr>
        <p:spPr>
          <a:xfrm>
            <a:off x="1457325" y="4292598"/>
            <a:ext cx="4038600" cy="60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不训练新的蛋白质生成模型</a:t>
            </a:r>
          </a:p>
          <a:p>
            <a:pPr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不宣称湿实验验证</a:t>
            </a:r>
          </a:p>
          <a:p>
            <a:pPr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不替代 AlphaFold / ESMFold 等底层工具</a:t>
            </a:r>
          </a:p>
        </p:txBody>
      </p:sp>
      <p:sp>
        <p:nvSpPr>
          <p:cNvPr id="456" name="圆角矩形 1005"/>
          <p:cNvSpPr/>
          <p:nvPr/>
        </p:nvSpPr>
        <p:spPr>
          <a:xfrm>
            <a:off x="6524625" y="3905250"/>
            <a:ext cx="4381500" cy="1000125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>
            <a:solidFill>
              <a:srgbClr val="9DC3E6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457" name="矩形"/>
          <p:cNvSpPr/>
          <p:nvPr/>
        </p:nvSpPr>
        <p:spPr>
          <a:xfrm>
            <a:off x="6696075" y="4038600"/>
            <a:ext cx="40386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458" name="本文切入点"/>
          <p:cNvSpPr txBox="1"/>
          <p:nvPr/>
        </p:nvSpPr>
        <p:spPr>
          <a:xfrm>
            <a:off x="6696075" y="4038600"/>
            <a:ext cx="40386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本文切入点</a:t>
            </a:r>
          </a:p>
        </p:txBody>
      </p:sp>
      <p:sp>
        <p:nvSpPr>
          <p:cNvPr id="459" name="矩形"/>
          <p:cNvSpPr/>
          <p:nvPr/>
        </p:nvSpPr>
        <p:spPr>
          <a:xfrm>
            <a:off x="6696075" y="4343398"/>
            <a:ext cx="4038600" cy="485779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2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460" name="在已有工具之上实现工作流控制层：候选规划、硬过滤、运行时状态、恢复动作与审计证据链。"/>
          <p:cNvSpPr txBox="1"/>
          <p:nvPr/>
        </p:nvSpPr>
        <p:spPr>
          <a:xfrm>
            <a:off x="6696075" y="4343398"/>
            <a:ext cx="403860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在已有工具之上实现工作流控制层：候选规划、硬过滤、运行时状态、恢复动作与审计证据链。</a:t>
            </a:r>
          </a:p>
        </p:txBody>
      </p:sp>
      <p:grpSp>
        <p:nvGrpSpPr>
          <p:cNvPr id="463" name="矩形 485"/>
          <p:cNvGrpSpPr/>
          <p:nvPr/>
        </p:nvGrpSpPr>
        <p:grpSpPr>
          <a:xfrm>
            <a:off x="11696700" y="6419850"/>
            <a:ext cx="323850" cy="266700"/>
            <a:chOff x="0" y="0"/>
            <a:chExt cx="323850" cy="266700"/>
          </a:xfrm>
        </p:grpSpPr>
        <p:sp>
          <p:nvSpPr>
            <p:cNvPr id="461" name="矩形"/>
            <p:cNvSpPr/>
            <p:nvPr/>
          </p:nvSpPr>
          <p:spPr>
            <a:xfrm>
              <a:off x="0" y="0"/>
              <a:ext cx="3238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>
                <a:defRPr b="1" sz="1300">
                  <a:solidFill>
                    <a:srgbClr val="8A8A8A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462" name="4"/>
            <p:cNvSpPr txBox="1"/>
            <p:nvPr/>
          </p:nvSpPr>
          <p:spPr>
            <a:xfrm>
              <a:off x="0" y="0"/>
              <a:ext cx="323850" cy="1850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300">
                  <a:solidFill>
                    <a:srgbClr val="8A8A8A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466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pic>
        <p:nvPicPr>
          <p:cNvPr id="467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24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468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69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70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71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72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73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74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75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76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77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78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79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80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81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82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83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84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85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86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87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88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89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90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91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92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93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94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95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96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97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98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99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00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01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02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03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04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05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06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07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08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09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10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11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12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13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14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15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16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17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18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19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20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21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22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23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24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25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26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27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28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29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30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31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32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33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34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35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36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537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63"/>
          </a:xfrm>
          <a:prstGeom prst="rect">
            <a:avLst/>
          </a:prstGeom>
          <a:ln w="12700">
            <a:miter lim="400000"/>
          </a:ln>
        </p:spPr>
      </p:pic>
      <p:sp>
        <p:nvSpPr>
          <p:cNvPr id="538" name="矩形"/>
          <p:cNvSpPr/>
          <p:nvPr/>
        </p:nvSpPr>
        <p:spPr>
          <a:xfrm>
            <a:off x="1000125" y="200025"/>
            <a:ext cx="7239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 anchor="ctr"/>
          <a:lstStyle/>
          <a:p>
            <a:pPr>
              <a:defRPr b="1" sz="2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539" name="系统架构如何支撑算法落地"/>
          <p:cNvSpPr txBox="1"/>
          <p:nvPr/>
        </p:nvSpPr>
        <p:spPr>
          <a:xfrm>
            <a:off x="1000125" y="238123"/>
            <a:ext cx="7239000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系统架构如何支撑算法落地</a:t>
            </a:r>
          </a:p>
        </p:txBody>
      </p:sp>
      <p:sp>
        <p:nvSpPr>
          <p:cNvPr id="540" name="矩形"/>
          <p:cNvSpPr/>
          <p:nvPr/>
        </p:nvSpPr>
        <p:spPr>
          <a:xfrm>
            <a:off x="8667750" y="2286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 anchor="ctr"/>
          <a:lstStyle/>
          <a:p>
            <a:pPr algn="ctr">
              <a:defRPr b="1"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41" name="ARCHITECTURE"/>
          <p:cNvSpPr txBox="1"/>
          <p:nvPr/>
        </p:nvSpPr>
        <p:spPr>
          <a:xfrm>
            <a:off x="8667750" y="269871"/>
            <a:ext cx="142875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ARCHITECTURE</a:t>
            </a:r>
          </a:p>
        </p:txBody>
      </p:sp>
      <p:sp>
        <p:nvSpPr>
          <p:cNvPr id="542" name="矩形 985"/>
          <p:cNvSpPr/>
          <p:nvPr/>
        </p:nvSpPr>
        <p:spPr>
          <a:xfrm>
            <a:off x="676275" y="1114425"/>
            <a:ext cx="7591425" cy="3781425"/>
          </a:xfrm>
          <a:prstGeom prst="rect">
            <a:avLst/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pic>
        <p:nvPicPr>
          <p:cNvPr id="543" name="图片 986" descr="图片 986"/>
          <p:cNvPicPr>
            <a:picLocks noChangeAspect="1"/>
          </p:cNvPicPr>
          <p:nvPr/>
        </p:nvPicPr>
        <p:blipFill>
          <a:blip r:embed="rId5">
            <a:extLst/>
          </a:blip>
          <a:srcRect l="0" t="8386" r="0" b="8386"/>
          <a:stretch>
            <a:fillRect/>
          </a:stretch>
        </p:blipFill>
        <p:spPr>
          <a:xfrm>
            <a:off x="1096192" y="1123947"/>
            <a:ext cx="6751591" cy="3762381"/>
          </a:xfrm>
          <a:prstGeom prst="rect">
            <a:avLst/>
          </a:prstGeom>
          <a:ln w="12700">
            <a:miter lim="400000"/>
          </a:ln>
        </p:spPr>
      </p:pic>
      <p:sp>
        <p:nvSpPr>
          <p:cNvPr id="544" name="矩形 987"/>
          <p:cNvSpPr/>
          <p:nvPr/>
        </p:nvSpPr>
        <p:spPr>
          <a:xfrm>
            <a:off x="676275" y="1114425"/>
            <a:ext cx="7591425" cy="378142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545" name="圆角矩形 988"/>
          <p:cNvSpPr/>
          <p:nvPr/>
        </p:nvSpPr>
        <p:spPr>
          <a:xfrm>
            <a:off x="8620125" y="1200150"/>
            <a:ext cx="2571750" cy="1066800"/>
          </a:xfrm>
          <a:prstGeom prst="roundRect">
            <a:avLst>
              <a:gd name="adj" fmla="val 7143"/>
            </a:avLst>
          </a:prstGeom>
          <a:solidFill>
            <a:srgbClr val="EAF3FF"/>
          </a:solidFill>
          <a:ln>
            <a:solidFill>
              <a:srgbClr val="9DC3E6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546" name="矩形"/>
          <p:cNvSpPr/>
          <p:nvPr/>
        </p:nvSpPr>
        <p:spPr>
          <a:xfrm>
            <a:off x="8791575" y="1333500"/>
            <a:ext cx="2228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547" name="算法位置"/>
          <p:cNvSpPr txBox="1"/>
          <p:nvPr/>
        </p:nvSpPr>
        <p:spPr>
          <a:xfrm>
            <a:off x="8791575" y="1333500"/>
            <a:ext cx="222885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算法位置</a:t>
            </a:r>
          </a:p>
        </p:txBody>
      </p:sp>
      <p:sp>
        <p:nvSpPr>
          <p:cNvPr id="548" name="矩形"/>
          <p:cNvSpPr/>
          <p:nvPr/>
        </p:nvSpPr>
        <p:spPr>
          <a:xfrm>
            <a:off x="8791575" y="1638299"/>
            <a:ext cx="2228850" cy="5524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549" name="PlannerAgent 内生成候选计划；…"/>
          <p:cNvSpPr txBox="1"/>
          <p:nvPr/>
        </p:nvSpPr>
        <p:spPr>
          <a:xfrm>
            <a:off x="8791575" y="1638298"/>
            <a:ext cx="2228850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PlannerAgent 内生成候选计划；</a:t>
            </a:r>
          </a:p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CEBRA-WP 做约束过滤与运行时重排。</a:t>
            </a:r>
          </a:p>
        </p:txBody>
      </p:sp>
      <p:sp>
        <p:nvSpPr>
          <p:cNvPr id="550" name="圆角矩形 991"/>
          <p:cNvSpPr/>
          <p:nvPr/>
        </p:nvSpPr>
        <p:spPr>
          <a:xfrm>
            <a:off x="8620125" y="2571750"/>
            <a:ext cx="2571750" cy="1485900"/>
          </a:xfrm>
          <a:prstGeom prst="roundRect">
            <a:avLst>
              <a:gd name="adj" fmla="val 5128"/>
            </a:avLst>
          </a:prstGeom>
          <a:solidFill>
            <a:srgbClr val="EAF3FF"/>
          </a:solidFill>
          <a:ln>
            <a:solidFill>
              <a:srgbClr val="9DC3E6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551" name="矩形"/>
          <p:cNvSpPr/>
          <p:nvPr/>
        </p:nvSpPr>
        <p:spPr>
          <a:xfrm>
            <a:off x="8791575" y="2705100"/>
            <a:ext cx="2228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552" name="架构约束"/>
          <p:cNvSpPr txBox="1"/>
          <p:nvPr/>
        </p:nvSpPr>
        <p:spPr>
          <a:xfrm>
            <a:off x="8791575" y="2705100"/>
            <a:ext cx="222885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架构约束</a:t>
            </a:r>
          </a:p>
        </p:txBody>
      </p:sp>
      <p:sp>
        <p:nvSpPr>
          <p:cNvPr id="553" name="矩形"/>
          <p:cNvSpPr/>
          <p:nvPr/>
        </p:nvSpPr>
        <p:spPr>
          <a:xfrm>
            <a:off x="8791575" y="3009899"/>
            <a:ext cx="2228850" cy="9715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2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554" name="规划不执行工具…"/>
          <p:cNvSpPr txBox="1"/>
          <p:nvPr/>
        </p:nvSpPr>
        <p:spPr>
          <a:xfrm>
            <a:off x="8791575" y="3009898"/>
            <a:ext cx="2228850" cy="86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2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规划不执行工具</a:t>
            </a:r>
          </a:p>
          <a:p>
            <a:pPr>
              <a:defRPr sz="12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执行不越过 FSM</a:t>
            </a:r>
          </a:p>
          <a:p>
            <a:pPr>
              <a:defRPr sz="12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安全不改计划</a:t>
            </a:r>
          </a:p>
          <a:p>
            <a:pPr>
              <a:defRPr sz="12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汇总不重新计算</a:t>
            </a:r>
          </a:p>
        </p:txBody>
      </p:sp>
      <p:sp>
        <p:nvSpPr>
          <p:cNvPr id="555" name="矩形"/>
          <p:cNvSpPr/>
          <p:nvPr/>
        </p:nvSpPr>
        <p:spPr>
          <a:xfrm>
            <a:off x="1143000" y="5162548"/>
            <a:ext cx="9906000" cy="3238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300">
                <a:solidFill>
                  <a:srgbClr val="082B6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556" name="CEBRA-WP 的输出不会直接调用工具，而是经过工作流执行层、FSM/HITL 和证据层约束。"/>
          <p:cNvSpPr txBox="1"/>
          <p:nvPr/>
        </p:nvSpPr>
        <p:spPr>
          <a:xfrm>
            <a:off x="1143000" y="5162548"/>
            <a:ext cx="99060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300">
                <a:solidFill>
                  <a:srgbClr val="082B6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CEBRA-WP 的输出不会直接调用工具，而是经过工作流执行层、FSM/HITL 和证据层约束。</a:t>
            </a:r>
          </a:p>
        </p:txBody>
      </p:sp>
      <p:grpSp>
        <p:nvGrpSpPr>
          <p:cNvPr id="559" name="矩形 583"/>
          <p:cNvGrpSpPr/>
          <p:nvPr/>
        </p:nvGrpSpPr>
        <p:grpSpPr>
          <a:xfrm>
            <a:off x="11696700" y="6419850"/>
            <a:ext cx="323850" cy="266700"/>
            <a:chOff x="0" y="0"/>
            <a:chExt cx="323850" cy="266700"/>
          </a:xfrm>
        </p:grpSpPr>
        <p:sp>
          <p:nvSpPr>
            <p:cNvPr id="557" name="矩形"/>
            <p:cNvSpPr/>
            <p:nvPr/>
          </p:nvSpPr>
          <p:spPr>
            <a:xfrm>
              <a:off x="0" y="0"/>
              <a:ext cx="3238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>
                <a:defRPr b="1" sz="1300">
                  <a:solidFill>
                    <a:srgbClr val="8A8A8A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558" name="5"/>
            <p:cNvSpPr txBox="1"/>
            <p:nvPr/>
          </p:nvSpPr>
          <p:spPr>
            <a:xfrm>
              <a:off x="0" y="0"/>
              <a:ext cx="323850" cy="1850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300">
                  <a:solidFill>
                    <a:srgbClr val="8A8A8A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562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pic>
        <p:nvPicPr>
          <p:cNvPr id="563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24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564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65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66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67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68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69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70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71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72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73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74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75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76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77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78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79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80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81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82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83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84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85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86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87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88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89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90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91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92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93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94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95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96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97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98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99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00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01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02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03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04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05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06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07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08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09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10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11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12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13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14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15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16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17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18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19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20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21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22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23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24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25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26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27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28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29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30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31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32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633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63"/>
          </a:xfrm>
          <a:prstGeom prst="rect">
            <a:avLst/>
          </a:prstGeom>
          <a:ln w="12700">
            <a:miter lim="400000"/>
          </a:ln>
        </p:spPr>
      </p:pic>
      <p:sp>
        <p:nvSpPr>
          <p:cNvPr id="634" name="矩形"/>
          <p:cNvSpPr/>
          <p:nvPr/>
        </p:nvSpPr>
        <p:spPr>
          <a:xfrm>
            <a:off x="1000125" y="200025"/>
            <a:ext cx="7239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 anchor="ctr"/>
          <a:lstStyle/>
          <a:p>
            <a:pPr>
              <a:defRPr b="1" sz="2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635" name="算法接口链：模块之间传递什么"/>
          <p:cNvSpPr txBox="1"/>
          <p:nvPr/>
        </p:nvSpPr>
        <p:spPr>
          <a:xfrm>
            <a:off x="1000125" y="238123"/>
            <a:ext cx="7239000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算法接口链：模块之间传递什么</a:t>
            </a:r>
          </a:p>
        </p:txBody>
      </p:sp>
      <p:sp>
        <p:nvSpPr>
          <p:cNvPr id="636" name="矩形"/>
          <p:cNvSpPr/>
          <p:nvPr/>
        </p:nvSpPr>
        <p:spPr>
          <a:xfrm>
            <a:off x="8667750" y="2286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 anchor="ctr"/>
          <a:lstStyle/>
          <a:p>
            <a:pPr algn="ctr">
              <a:defRPr b="1"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37" name="CONTRACTS"/>
          <p:cNvSpPr txBox="1"/>
          <p:nvPr/>
        </p:nvSpPr>
        <p:spPr>
          <a:xfrm>
            <a:off x="8667750" y="269871"/>
            <a:ext cx="142875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CONTRACTS</a:t>
            </a:r>
          </a:p>
        </p:txBody>
      </p:sp>
      <p:sp>
        <p:nvSpPr>
          <p:cNvPr id="638" name="圆角矩形 985"/>
          <p:cNvSpPr/>
          <p:nvPr/>
        </p:nvSpPr>
        <p:spPr>
          <a:xfrm>
            <a:off x="666750" y="1285875"/>
            <a:ext cx="1762125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639" name="矩形"/>
          <p:cNvSpPr/>
          <p:nvPr/>
        </p:nvSpPr>
        <p:spPr>
          <a:xfrm>
            <a:off x="838200" y="1419224"/>
            <a:ext cx="1419225" cy="2286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640" name="TaskSpec"/>
          <p:cNvSpPr txBox="1"/>
          <p:nvPr/>
        </p:nvSpPr>
        <p:spPr>
          <a:xfrm>
            <a:off x="838200" y="1419221"/>
            <a:ext cx="1419225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TaskSpec</a:t>
            </a:r>
          </a:p>
        </p:txBody>
      </p:sp>
      <p:sp>
        <p:nvSpPr>
          <p:cNvPr id="641" name="矩形"/>
          <p:cNvSpPr/>
          <p:nvPr/>
        </p:nvSpPr>
        <p:spPr>
          <a:xfrm>
            <a:off x="838200" y="1724024"/>
            <a:ext cx="1419225" cy="3429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642" name="目标 / 约束 / 预算"/>
          <p:cNvSpPr txBox="1"/>
          <p:nvPr/>
        </p:nvSpPr>
        <p:spPr>
          <a:xfrm>
            <a:off x="838200" y="1724023"/>
            <a:ext cx="1419225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目标 / 约束 / 预算</a:t>
            </a:r>
          </a:p>
        </p:txBody>
      </p:sp>
      <p:sp>
        <p:nvSpPr>
          <p:cNvPr id="643" name="矩形"/>
          <p:cNvSpPr/>
          <p:nvPr/>
        </p:nvSpPr>
        <p:spPr>
          <a:xfrm>
            <a:off x="2400300" y="1581150"/>
            <a:ext cx="333375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600">
                <a:solidFill>
                  <a:srgbClr val="9DC3E6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44" name="→"/>
          <p:cNvSpPr txBox="1"/>
          <p:nvPr/>
        </p:nvSpPr>
        <p:spPr>
          <a:xfrm>
            <a:off x="2400300" y="1581150"/>
            <a:ext cx="333375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600">
                <a:solidFill>
                  <a:srgbClr val="9DC3E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645" name="圆角矩形 989"/>
          <p:cNvSpPr/>
          <p:nvPr/>
        </p:nvSpPr>
        <p:spPr>
          <a:xfrm>
            <a:off x="2905125" y="1285875"/>
            <a:ext cx="1762125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646" name="矩形"/>
          <p:cNvSpPr/>
          <p:nvPr/>
        </p:nvSpPr>
        <p:spPr>
          <a:xfrm>
            <a:off x="3076575" y="1419224"/>
            <a:ext cx="1419225" cy="2286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647" name="CandidateSet"/>
          <p:cNvSpPr txBox="1"/>
          <p:nvPr/>
        </p:nvSpPr>
        <p:spPr>
          <a:xfrm>
            <a:off x="3076575" y="1419221"/>
            <a:ext cx="1419225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CandidateSet</a:t>
            </a:r>
          </a:p>
        </p:txBody>
      </p:sp>
      <p:sp>
        <p:nvSpPr>
          <p:cNvPr id="648" name="矩形"/>
          <p:cNvSpPr/>
          <p:nvPr/>
        </p:nvSpPr>
        <p:spPr>
          <a:xfrm>
            <a:off x="3076575" y="1724024"/>
            <a:ext cx="1419225" cy="3429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649" name="Plan / Patch / Replan"/>
          <p:cNvSpPr txBox="1"/>
          <p:nvPr/>
        </p:nvSpPr>
        <p:spPr>
          <a:xfrm>
            <a:off x="3076575" y="1724023"/>
            <a:ext cx="141922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Plan / Patch / Replan</a:t>
            </a:r>
          </a:p>
        </p:txBody>
      </p:sp>
      <p:sp>
        <p:nvSpPr>
          <p:cNvPr id="650" name="矩形"/>
          <p:cNvSpPr/>
          <p:nvPr/>
        </p:nvSpPr>
        <p:spPr>
          <a:xfrm>
            <a:off x="4638675" y="1581150"/>
            <a:ext cx="333375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600">
                <a:solidFill>
                  <a:srgbClr val="9DC3E6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51" name="→"/>
          <p:cNvSpPr txBox="1"/>
          <p:nvPr/>
        </p:nvSpPr>
        <p:spPr>
          <a:xfrm>
            <a:off x="4638675" y="1581150"/>
            <a:ext cx="333375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600">
                <a:solidFill>
                  <a:srgbClr val="9DC3E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652" name="圆角矩形 993"/>
          <p:cNvSpPr/>
          <p:nvPr/>
        </p:nvSpPr>
        <p:spPr>
          <a:xfrm>
            <a:off x="5143500" y="1285875"/>
            <a:ext cx="1762125" cy="857250"/>
          </a:xfrm>
          <a:prstGeom prst="roundRect">
            <a:avLst>
              <a:gd name="adj" fmla="val 8889"/>
            </a:avLst>
          </a:prstGeom>
          <a:solidFill>
            <a:srgbClr val="EAF3FF"/>
          </a:solidFill>
          <a:ln>
            <a:solidFill>
              <a:srgbClr val="9DC3E6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653" name="矩形"/>
          <p:cNvSpPr/>
          <p:nvPr/>
        </p:nvSpPr>
        <p:spPr>
          <a:xfrm>
            <a:off x="5314950" y="1419224"/>
            <a:ext cx="1419225" cy="2286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654" name="Feasibility"/>
          <p:cNvSpPr txBox="1"/>
          <p:nvPr/>
        </p:nvSpPr>
        <p:spPr>
          <a:xfrm>
            <a:off x="5314950" y="1419221"/>
            <a:ext cx="1419225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Feasibility</a:t>
            </a:r>
          </a:p>
        </p:txBody>
      </p:sp>
      <p:sp>
        <p:nvSpPr>
          <p:cNvPr id="655" name="矩形"/>
          <p:cNvSpPr/>
          <p:nvPr/>
        </p:nvSpPr>
        <p:spPr>
          <a:xfrm>
            <a:off x="5314950" y="1724024"/>
            <a:ext cx="1419225" cy="3429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656" name="Score + blocked_by…"/>
          <p:cNvSpPr txBox="1"/>
          <p:nvPr/>
        </p:nvSpPr>
        <p:spPr>
          <a:xfrm>
            <a:off x="5314950" y="1724023"/>
            <a:ext cx="1419225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Score + blocked_by</a:t>
            </a:r>
          </a:p>
          <a:p>
            <a:pPr algn="ctr"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score_breakdown</a:t>
            </a:r>
          </a:p>
        </p:txBody>
      </p:sp>
      <p:sp>
        <p:nvSpPr>
          <p:cNvPr id="657" name="矩形"/>
          <p:cNvSpPr/>
          <p:nvPr/>
        </p:nvSpPr>
        <p:spPr>
          <a:xfrm>
            <a:off x="6877050" y="1581150"/>
            <a:ext cx="333375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600">
                <a:solidFill>
                  <a:srgbClr val="9DC3E6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58" name="→"/>
          <p:cNvSpPr txBox="1"/>
          <p:nvPr/>
        </p:nvSpPr>
        <p:spPr>
          <a:xfrm>
            <a:off x="6877050" y="1581150"/>
            <a:ext cx="333375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600">
                <a:solidFill>
                  <a:srgbClr val="9DC3E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659" name="圆角矩形 997"/>
          <p:cNvSpPr/>
          <p:nvPr/>
        </p:nvSpPr>
        <p:spPr>
          <a:xfrm>
            <a:off x="7381875" y="1285875"/>
            <a:ext cx="1762125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660" name="矩形"/>
          <p:cNvSpPr/>
          <p:nvPr/>
        </p:nvSpPr>
        <p:spPr>
          <a:xfrm>
            <a:off x="7553325" y="1419224"/>
            <a:ext cx="1419225" cy="2286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661" name="PendingAction"/>
          <p:cNvSpPr txBox="1"/>
          <p:nvPr/>
        </p:nvSpPr>
        <p:spPr>
          <a:xfrm>
            <a:off x="7553325" y="1419221"/>
            <a:ext cx="1419225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PendingAction</a:t>
            </a:r>
          </a:p>
        </p:txBody>
      </p:sp>
      <p:sp>
        <p:nvSpPr>
          <p:cNvPr id="662" name="矩形"/>
          <p:cNvSpPr/>
          <p:nvPr/>
        </p:nvSpPr>
        <p:spPr>
          <a:xfrm>
            <a:off x="7553325" y="1724024"/>
            <a:ext cx="1419225" cy="3429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663" name="候选等待确认"/>
          <p:cNvSpPr txBox="1"/>
          <p:nvPr/>
        </p:nvSpPr>
        <p:spPr>
          <a:xfrm>
            <a:off x="7553325" y="1724023"/>
            <a:ext cx="1419225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候选等待确认</a:t>
            </a:r>
          </a:p>
        </p:txBody>
      </p:sp>
      <p:sp>
        <p:nvSpPr>
          <p:cNvPr id="664" name="矩形"/>
          <p:cNvSpPr/>
          <p:nvPr/>
        </p:nvSpPr>
        <p:spPr>
          <a:xfrm>
            <a:off x="9115425" y="1581150"/>
            <a:ext cx="333375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600">
                <a:solidFill>
                  <a:srgbClr val="9DC3E6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65" name="→"/>
          <p:cNvSpPr txBox="1"/>
          <p:nvPr/>
        </p:nvSpPr>
        <p:spPr>
          <a:xfrm>
            <a:off x="9115425" y="1581150"/>
            <a:ext cx="333375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600">
                <a:solidFill>
                  <a:srgbClr val="9DC3E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666" name="圆角矩形 1001"/>
          <p:cNvSpPr/>
          <p:nvPr/>
        </p:nvSpPr>
        <p:spPr>
          <a:xfrm>
            <a:off x="9620250" y="1285875"/>
            <a:ext cx="1762125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667" name="矩形"/>
          <p:cNvSpPr/>
          <p:nvPr/>
        </p:nvSpPr>
        <p:spPr>
          <a:xfrm>
            <a:off x="9791700" y="1419224"/>
            <a:ext cx="1419225" cy="2286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668" name="Decision"/>
          <p:cNvSpPr txBox="1"/>
          <p:nvPr/>
        </p:nvSpPr>
        <p:spPr>
          <a:xfrm>
            <a:off x="9791700" y="1419221"/>
            <a:ext cx="1419225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Decision</a:t>
            </a:r>
          </a:p>
        </p:txBody>
      </p:sp>
      <p:sp>
        <p:nvSpPr>
          <p:cNvPr id="669" name="矩形"/>
          <p:cNvSpPr/>
          <p:nvPr/>
        </p:nvSpPr>
        <p:spPr>
          <a:xfrm>
            <a:off x="9791700" y="1724024"/>
            <a:ext cx="1419225" cy="3429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670" name="接受 / 拒绝 / 修改"/>
          <p:cNvSpPr txBox="1"/>
          <p:nvPr/>
        </p:nvSpPr>
        <p:spPr>
          <a:xfrm>
            <a:off x="9791700" y="1724023"/>
            <a:ext cx="1419225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接受 / 拒绝 / 修改</a:t>
            </a:r>
          </a:p>
        </p:txBody>
      </p:sp>
      <p:sp>
        <p:nvSpPr>
          <p:cNvPr id="671" name="圆角矩形 1004"/>
          <p:cNvSpPr/>
          <p:nvPr/>
        </p:nvSpPr>
        <p:spPr>
          <a:xfrm>
            <a:off x="666750" y="3143250"/>
            <a:ext cx="1762125" cy="9144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672" name="矩形"/>
          <p:cNvSpPr/>
          <p:nvPr/>
        </p:nvSpPr>
        <p:spPr>
          <a:xfrm>
            <a:off x="838200" y="3276598"/>
            <a:ext cx="1419225" cy="2286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673" name="StepResult"/>
          <p:cNvSpPr txBox="1"/>
          <p:nvPr/>
        </p:nvSpPr>
        <p:spPr>
          <a:xfrm>
            <a:off x="838200" y="3276598"/>
            <a:ext cx="1419225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StepResult</a:t>
            </a:r>
          </a:p>
        </p:txBody>
      </p:sp>
      <p:sp>
        <p:nvSpPr>
          <p:cNvPr id="674" name="矩形"/>
          <p:cNvSpPr/>
          <p:nvPr/>
        </p:nvSpPr>
        <p:spPr>
          <a:xfrm>
            <a:off x="838200" y="3581398"/>
            <a:ext cx="1419225" cy="4000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675" name="outputs / metrics / errors"/>
          <p:cNvSpPr txBox="1"/>
          <p:nvPr/>
        </p:nvSpPr>
        <p:spPr>
          <a:xfrm>
            <a:off x="838200" y="3581398"/>
            <a:ext cx="141922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outputs / metrics / errors</a:t>
            </a:r>
          </a:p>
        </p:txBody>
      </p:sp>
      <p:sp>
        <p:nvSpPr>
          <p:cNvPr id="676" name="矩形"/>
          <p:cNvSpPr/>
          <p:nvPr/>
        </p:nvSpPr>
        <p:spPr>
          <a:xfrm>
            <a:off x="2400300" y="3476625"/>
            <a:ext cx="333375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600">
                <a:solidFill>
                  <a:srgbClr val="9DC3E6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77" name="→"/>
          <p:cNvSpPr txBox="1"/>
          <p:nvPr/>
        </p:nvSpPr>
        <p:spPr>
          <a:xfrm>
            <a:off x="2400300" y="3476625"/>
            <a:ext cx="333375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600">
                <a:solidFill>
                  <a:srgbClr val="9DC3E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678" name="圆角矩形 1008"/>
          <p:cNvSpPr/>
          <p:nvPr/>
        </p:nvSpPr>
        <p:spPr>
          <a:xfrm>
            <a:off x="2905125" y="3143250"/>
            <a:ext cx="1762125" cy="9144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679" name="矩形"/>
          <p:cNvSpPr/>
          <p:nvPr/>
        </p:nvSpPr>
        <p:spPr>
          <a:xfrm>
            <a:off x="3076575" y="3276598"/>
            <a:ext cx="1419225" cy="2286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680" name="SafetyResult"/>
          <p:cNvSpPr txBox="1"/>
          <p:nvPr/>
        </p:nvSpPr>
        <p:spPr>
          <a:xfrm>
            <a:off x="3076575" y="3276598"/>
            <a:ext cx="1419225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SafetyResult</a:t>
            </a:r>
          </a:p>
        </p:txBody>
      </p:sp>
      <p:sp>
        <p:nvSpPr>
          <p:cNvPr id="681" name="矩形"/>
          <p:cNvSpPr/>
          <p:nvPr/>
        </p:nvSpPr>
        <p:spPr>
          <a:xfrm>
            <a:off x="3076575" y="3581398"/>
            <a:ext cx="1419225" cy="4000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682" name="risk_flags / action"/>
          <p:cNvSpPr txBox="1"/>
          <p:nvPr/>
        </p:nvSpPr>
        <p:spPr>
          <a:xfrm>
            <a:off x="3076575" y="3581398"/>
            <a:ext cx="141922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risk_flags / action</a:t>
            </a:r>
          </a:p>
        </p:txBody>
      </p:sp>
      <p:sp>
        <p:nvSpPr>
          <p:cNvPr id="683" name="矩形"/>
          <p:cNvSpPr/>
          <p:nvPr/>
        </p:nvSpPr>
        <p:spPr>
          <a:xfrm>
            <a:off x="4638675" y="3476625"/>
            <a:ext cx="333375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600">
                <a:solidFill>
                  <a:srgbClr val="9DC3E6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84" name="→"/>
          <p:cNvSpPr txBox="1"/>
          <p:nvPr/>
        </p:nvSpPr>
        <p:spPr>
          <a:xfrm>
            <a:off x="4638675" y="3476625"/>
            <a:ext cx="333375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600">
                <a:solidFill>
                  <a:srgbClr val="9DC3E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685" name="圆角矩形 1012"/>
          <p:cNvSpPr/>
          <p:nvPr/>
        </p:nvSpPr>
        <p:spPr>
          <a:xfrm>
            <a:off x="5143500" y="3143250"/>
            <a:ext cx="1762125" cy="914400"/>
          </a:xfrm>
          <a:prstGeom prst="roundRect">
            <a:avLst>
              <a:gd name="adj" fmla="val 8333"/>
            </a:avLst>
          </a:prstGeom>
          <a:solidFill>
            <a:srgbClr val="0052A5"/>
          </a:solidFill>
          <a:ln>
            <a:solidFill>
              <a:srgbClr val="0052A5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686" name="矩形"/>
          <p:cNvSpPr/>
          <p:nvPr/>
        </p:nvSpPr>
        <p:spPr>
          <a:xfrm>
            <a:off x="5314950" y="3276598"/>
            <a:ext cx="1419225" cy="2286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3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687" name="RuntimeState"/>
          <p:cNvSpPr txBox="1"/>
          <p:nvPr/>
        </p:nvSpPr>
        <p:spPr>
          <a:xfrm>
            <a:off x="5314950" y="3276598"/>
            <a:ext cx="1419225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3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RuntimeState</a:t>
            </a:r>
          </a:p>
        </p:txBody>
      </p:sp>
      <p:sp>
        <p:nvSpPr>
          <p:cNvPr id="688" name="矩形"/>
          <p:cNvSpPr/>
          <p:nvPr/>
        </p:nvSpPr>
        <p:spPr>
          <a:xfrm>
            <a:off x="5314950" y="3581398"/>
            <a:ext cx="1419225" cy="4000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sz="9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689" name="p_success / cost / evidence"/>
          <p:cNvSpPr txBox="1"/>
          <p:nvPr/>
        </p:nvSpPr>
        <p:spPr>
          <a:xfrm>
            <a:off x="5314950" y="3581398"/>
            <a:ext cx="141922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9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p_success / cost / evidence</a:t>
            </a:r>
          </a:p>
        </p:txBody>
      </p:sp>
      <p:sp>
        <p:nvSpPr>
          <p:cNvPr id="690" name="矩形"/>
          <p:cNvSpPr/>
          <p:nvPr/>
        </p:nvSpPr>
        <p:spPr>
          <a:xfrm>
            <a:off x="6877050" y="3476625"/>
            <a:ext cx="333375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600">
                <a:solidFill>
                  <a:srgbClr val="9DC3E6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91" name="→"/>
          <p:cNvSpPr txBox="1"/>
          <p:nvPr/>
        </p:nvSpPr>
        <p:spPr>
          <a:xfrm>
            <a:off x="6877050" y="3476625"/>
            <a:ext cx="333375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600">
                <a:solidFill>
                  <a:srgbClr val="9DC3E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692" name="圆角矩形 1016"/>
          <p:cNvSpPr/>
          <p:nvPr/>
        </p:nvSpPr>
        <p:spPr>
          <a:xfrm>
            <a:off x="7381875" y="3143250"/>
            <a:ext cx="1762125" cy="9144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693" name="矩形"/>
          <p:cNvSpPr/>
          <p:nvPr/>
        </p:nvSpPr>
        <p:spPr>
          <a:xfrm>
            <a:off x="7553325" y="3276598"/>
            <a:ext cx="1419225" cy="2286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694" name="RecoveryAction"/>
          <p:cNvSpPr txBox="1"/>
          <p:nvPr/>
        </p:nvSpPr>
        <p:spPr>
          <a:xfrm>
            <a:off x="7553325" y="3276598"/>
            <a:ext cx="1419225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RecoveryAction</a:t>
            </a:r>
          </a:p>
        </p:txBody>
      </p:sp>
      <p:sp>
        <p:nvSpPr>
          <p:cNvPr id="695" name="矩形"/>
          <p:cNvSpPr/>
          <p:nvPr/>
        </p:nvSpPr>
        <p:spPr>
          <a:xfrm>
            <a:off x="7553325" y="3581398"/>
            <a:ext cx="1419225" cy="4000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696" name="continue / patch / replan / stop"/>
          <p:cNvSpPr txBox="1"/>
          <p:nvPr/>
        </p:nvSpPr>
        <p:spPr>
          <a:xfrm>
            <a:off x="7553325" y="3581398"/>
            <a:ext cx="1419225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continue / patch / replan / stop</a:t>
            </a:r>
          </a:p>
        </p:txBody>
      </p:sp>
      <p:sp>
        <p:nvSpPr>
          <p:cNvPr id="697" name="矩形"/>
          <p:cNvSpPr/>
          <p:nvPr/>
        </p:nvSpPr>
        <p:spPr>
          <a:xfrm>
            <a:off x="9115425" y="3476625"/>
            <a:ext cx="333375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600">
                <a:solidFill>
                  <a:srgbClr val="9DC3E6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98" name="→"/>
          <p:cNvSpPr txBox="1"/>
          <p:nvPr/>
        </p:nvSpPr>
        <p:spPr>
          <a:xfrm>
            <a:off x="9115425" y="3476625"/>
            <a:ext cx="333375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600">
                <a:solidFill>
                  <a:srgbClr val="9DC3E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699" name="圆角矩形 1020"/>
          <p:cNvSpPr/>
          <p:nvPr/>
        </p:nvSpPr>
        <p:spPr>
          <a:xfrm>
            <a:off x="9620250" y="3143250"/>
            <a:ext cx="1762125" cy="9144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700" name="矩形"/>
          <p:cNvSpPr/>
          <p:nvPr/>
        </p:nvSpPr>
        <p:spPr>
          <a:xfrm>
            <a:off x="9791700" y="3276598"/>
            <a:ext cx="1419225" cy="2286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701" name="EventLog"/>
          <p:cNvSpPr txBox="1"/>
          <p:nvPr/>
        </p:nvSpPr>
        <p:spPr>
          <a:xfrm>
            <a:off x="9791700" y="3276598"/>
            <a:ext cx="1419225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EventLog</a:t>
            </a:r>
          </a:p>
        </p:txBody>
      </p:sp>
      <p:sp>
        <p:nvSpPr>
          <p:cNvPr id="702" name="矩形"/>
          <p:cNvSpPr/>
          <p:nvPr/>
        </p:nvSpPr>
        <p:spPr>
          <a:xfrm>
            <a:off x="9791700" y="3581398"/>
            <a:ext cx="1419225" cy="4000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703" name="Snapshot / 审计恢复"/>
          <p:cNvSpPr txBox="1"/>
          <p:nvPr/>
        </p:nvSpPr>
        <p:spPr>
          <a:xfrm>
            <a:off x="9791700" y="3581398"/>
            <a:ext cx="1419225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Snapshot / 审计恢复</a:t>
            </a:r>
          </a:p>
        </p:txBody>
      </p:sp>
      <p:sp>
        <p:nvSpPr>
          <p:cNvPr id="704" name="矩形"/>
          <p:cNvSpPr/>
          <p:nvPr/>
        </p:nvSpPr>
        <p:spPr>
          <a:xfrm>
            <a:off x="1619250" y="4895848"/>
            <a:ext cx="8953500" cy="3238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500">
                <a:solidFill>
                  <a:srgbClr val="082B6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705" name="算法依赖的是结构化对象流转，而不是 Agent 间直接传递自然语言计划。"/>
          <p:cNvSpPr txBox="1"/>
          <p:nvPr/>
        </p:nvSpPr>
        <p:spPr>
          <a:xfrm>
            <a:off x="1619250" y="4895848"/>
            <a:ext cx="8953500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500">
                <a:solidFill>
                  <a:srgbClr val="082B6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算法依赖的是结构化对象流转，而不是 Agent 间直接传递自然语言计划。</a:t>
            </a:r>
          </a:p>
        </p:txBody>
      </p:sp>
      <p:grpSp>
        <p:nvGrpSpPr>
          <p:cNvPr id="708" name="矩形 732"/>
          <p:cNvGrpSpPr/>
          <p:nvPr/>
        </p:nvGrpSpPr>
        <p:grpSpPr>
          <a:xfrm>
            <a:off x="11696700" y="6419850"/>
            <a:ext cx="323850" cy="266700"/>
            <a:chOff x="0" y="0"/>
            <a:chExt cx="323850" cy="266700"/>
          </a:xfrm>
        </p:grpSpPr>
        <p:sp>
          <p:nvSpPr>
            <p:cNvPr id="706" name="矩形"/>
            <p:cNvSpPr/>
            <p:nvPr/>
          </p:nvSpPr>
          <p:spPr>
            <a:xfrm>
              <a:off x="0" y="0"/>
              <a:ext cx="3238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>
                <a:defRPr b="1" sz="1300">
                  <a:solidFill>
                    <a:srgbClr val="8A8A8A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707" name="6"/>
            <p:cNvSpPr txBox="1"/>
            <p:nvPr/>
          </p:nvSpPr>
          <p:spPr>
            <a:xfrm>
              <a:off x="0" y="0"/>
              <a:ext cx="323850" cy="1850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300">
                  <a:solidFill>
                    <a:srgbClr val="8A8A8A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711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pic>
        <p:nvPicPr>
          <p:cNvPr id="712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24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713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14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15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16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17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18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19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0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1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2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3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4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5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6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7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8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9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30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31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32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33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34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35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36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37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38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39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40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41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42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43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44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45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46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47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48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49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50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51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52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53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54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55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56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57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58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59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60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61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62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63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64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65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66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67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68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69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70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71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72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73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74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75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76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77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78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79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80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81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782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63"/>
          </a:xfrm>
          <a:prstGeom prst="rect">
            <a:avLst/>
          </a:prstGeom>
          <a:ln w="12700">
            <a:miter lim="400000"/>
          </a:ln>
        </p:spPr>
      </p:pic>
      <p:sp>
        <p:nvSpPr>
          <p:cNvPr id="783" name="矩形"/>
          <p:cNvSpPr/>
          <p:nvPr/>
        </p:nvSpPr>
        <p:spPr>
          <a:xfrm>
            <a:off x="1000125" y="200025"/>
            <a:ext cx="7239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 anchor="ctr"/>
          <a:lstStyle/>
          <a:p>
            <a:pPr>
              <a:defRPr b="1" sz="2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784" name="FSM/HITL：恢复动作如何被约束"/>
          <p:cNvSpPr txBox="1"/>
          <p:nvPr/>
        </p:nvSpPr>
        <p:spPr>
          <a:xfrm>
            <a:off x="1000125" y="238123"/>
            <a:ext cx="7239000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FSM/HITL：恢复动作如何被约束</a:t>
            </a:r>
          </a:p>
        </p:txBody>
      </p:sp>
      <p:sp>
        <p:nvSpPr>
          <p:cNvPr id="785" name="矩形"/>
          <p:cNvSpPr/>
          <p:nvPr/>
        </p:nvSpPr>
        <p:spPr>
          <a:xfrm>
            <a:off x="8667750" y="2286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 anchor="ctr"/>
          <a:lstStyle/>
          <a:p>
            <a:pPr algn="ctr">
              <a:defRPr b="1"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86" name="FSM / HITL"/>
          <p:cNvSpPr txBox="1"/>
          <p:nvPr/>
        </p:nvSpPr>
        <p:spPr>
          <a:xfrm>
            <a:off x="8667750" y="269871"/>
            <a:ext cx="142875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FSM / HITL</a:t>
            </a:r>
          </a:p>
        </p:txBody>
      </p:sp>
      <p:sp>
        <p:nvSpPr>
          <p:cNvPr id="787" name="矩形 985"/>
          <p:cNvSpPr/>
          <p:nvPr/>
        </p:nvSpPr>
        <p:spPr>
          <a:xfrm>
            <a:off x="733425" y="1114425"/>
            <a:ext cx="7258050" cy="3848100"/>
          </a:xfrm>
          <a:prstGeom prst="rect">
            <a:avLst/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pic>
        <p:nvPicPr>
          <p:cNvPr id="788" name="图片 986" descr="图片 986"/>
          <p:cNvPicPr>
            <a:picLocks noChangeAspect="1"/>
          </p:cNvPicPr>
          <p:nvPr/>
        </p:nvPicPr>
        <p:blipFill>
          <a:blip r:embed="rId5">
            <a:extLst/>
          </a:blip>
          <a:srcRect l="0" t="8375" r="0" b="8375"/>
          <a:stretch>
            <a:fillRect/>
          </a:stretch>
        </p:blipFill>
        <p:spPr>
          <a:xfrm>
            <a:off x="742950" y="1123945"/>
            <a:ext cx="7239000" cy="3829057"/>
          </a:xfrm>
          <a:prstGeom prst="rect">
            <a:avLst/>
          </a:prstGeom>
          <a:ln w="12700">
            <a:miter lim="400000"/>
          </a:ln>
        </p:spPr>
      </p:pic>
      <p:sp>
        <p:nvSpPr>
          <p:cNvPr id="789" name="矩形 987"/>
          <p:cNvSpPr/>
          <p:nvPr/>
        </p:nvSpPr>
        <p:spPr>
          <a:xfrm>
            <a:off x="733425" y="1114425"/>
            <a:ext cx="7258050" cy="3848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790" name="圆角矩形 988"/>
          <p:cNvSpPr/>
          <p:nvPr/>
        </p:nvSpPr>
        <p:spPr>
          <a:xfrm>
            <a:off x="8334375" y="1238250"/>
            <a:ext cx="2905125" cy="877888"/>
          </a:xfrm>
          <a:prstGeom prst="roundRect">
            <a:avLst>
              <a:gd name="adj" fmla="val 8680"/>
            </a:avLst>
          </a:prstGeom>
          <a:solidFill>
            <a:srgbClr val="FFFFFF"/>
          </a:solidFill>
          <a:ln>
            <a:solidFill>
              <a:srgbClr val="0052A5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791" name="矩形"/>
          <p:cNvSpPr/>
          <p:nvPr/>
        </p:nvSpPr>
        <p:spPr>
          <a:xfrm>
            <a:off x="8505825" y="1371600"/>
            <a:ext cx="25622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792" name="等待态"/>
          <p:cNvSpPr txBox="1"/>
          <p:nvPr/>
        </p:nvSpPr>
        <p:spPr>
          <a:xfrm>
            <a:off x="8505825" y="1371600"/>
            <a:ext cx="2562225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等待态</a:t>
            </a:r>
          </a:p>
        </p:txBody>
      </p:sp>
      <p:sp>
        <p:nvSpPr>
          <p:cNvPr id="793" name="矩形"/>
          <p:cNvSpPr/>
          <p:nvPr/>
        </p:nvSpPr>
        <p:spPr>
          <a:xfrm>
            <a:off x="8505825" y="1676398"/>
            <a:ext cx="2562225" cy="2286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794" name="PLAN / PATCH / REPLAN 三类确认态均通过 PendingAction 暴露。"/>
          <p:cNvSpPr txBox="1"/>
          <p:nvPr/>
        </p:nvSpPr>
        <p:spPr>
          <a:xfrm>
            <a:off x="8505825" y="1676399"/>
            <a:ext cx="2562225" cy="330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PLAN / PATCH / REPLAN 三类确认态均通过 PendingAction 暴露。</a:t>
            </a:r>
          </a:p>
        </p:txBody>
      </p:sp>
      <p:sp>
        <p:nvSpPr>
          <p:cNvPr id="795" name="圆角矩形 991"/>
          <p:cNvSpPr/>
          <p:nvPr/>
        </p:nvSpPr>
        <p:spPr>
          <a:xfrm>
            <a:off x="8334375" y="2190750"/>
            <a:ext cx="2905125" cy="881063"/>
          </a:xfrm>
          <a:prstGeom prst="roundRect">
            <a:avLst>
              <a:gd name="adj" fmla="val 8648"/>
            </a:avLst>
          </a:prstGeom>
          <a:solidFill>
            <a:srgbClr val="F5F9FE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796" name="矩形"/>
          <p:cNvSpPr/>
          <p:nvPr/>
        </p:nvSpPr>
        <p:spPr>
          <a:xfrm>
            <a:off x="8505825" y="2324100"/>
            <a:ext cx="25622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797" name="恢复动作"/>
          <p:cNvSpPr txBox="1"/>
          <p:nvPr/>
        </p:nvSpPr>
        <p:spPr>
          <a:xfrm>
            <a:off x="8505825" y="2324100"/>
            <a:ext cx="2562225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恢复动作</a:t>
            </a:r>
          </a:p>
        </p:txBody>
      </p:sp>
      <p:sp>
        <p:nvSpPr>
          <p:cNvPr id="798" name="矩形"/>
          <p:cNvSpPr/>
          <p:nvPr/>
        </p:nvSpPr>
        <p:spPr>
          <a:xfrm>
            <a:off x="8505825" y="2628898"/>
            <a:ext cx="2562225" cy="2286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799" name="continue、patch_local、suffix_replan、stop 只改变状态机路径。"/>
          <p:cNvSpPr txBox="1"/>
          <p:nvPr/>
        </p:nvSpPr>
        <p:spPr>
          <a:xfrm>
            <a:off x="8505825" y="2628899"/>
            <a:ext cx="2562225" cy="330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continue、patch_local、suffix_replan、stop 只改变状态机路径。</a:t>
            </a:r>
          </a:p>
        </p:txBody>
      </p:sp>
      <p:sp>
        <p:nvSpPr>
          <p:cNvPr id="800" name="圆角矩形 994"/>
          <p:cNvSpPr/>
          <p:nvPr/>
        </p:nvSpPr>
        <p:spPr>
          <a:xfrm>
            <a:off x="8334375" y="3143250"/>
            <a:ext cx="2905125" cy="9525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solidFill>
              <a:srgbClr val="9DC3E6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801" name="矩形"/>
          <p:cNvSpPr/>
          <p:nvPr/>
        </p:nvSpPr>
        <p:spPr>
          <a:xfrm>
            <a:off x="8505825" y="3276600"/>
            <a:ext cx="25622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802" name="约束方式"/>
          <p:cNvSpPr txBox="1"/>
          <p:nvPr/>
        </p:nvSpPr>
        <p:spPr>
          <a:xfrm>
            <a:off x="8505825" y="3276600"/>
            <a:ext cx="2562225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约束方式</a:t>
            </a:r>
          </a:p>
        </p:txBody>
      </p:sp>
      <p:sp>
        <p:nvSpPr>
          <p:cNvPr id="803" name="矩形"/>
          <p:cNvSpPr/>
          <p:nvPr/>
        </p:nvSpPr>
        <p:spPr>
          <a:xfrm>
            <a:off x="8505825" y="3581398"/>
            <a:ext cx="2562225" cy="4381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804" name="系统把算法建议转为 Decision、EventLog、Snapshot；等待态下 Executor 不继续调用工具。"/>
          <p:cNvSpPr txBox="1"/>
          <p:nvPr/>
        </p:nvSpPr>
        <p:spPr>
          <a:xfrm>
            <a:off x="8505825" y="3581398"/>
            <a:ext cx="2562225" cy="330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系统把算法建议转为 Decision、EventLog、Snapshot；等待态下 Executor 不继续调用工具。</a:t>
            </a:r>
          </a:p>
        </p:txBody>
      </p:sp>
      <p:sp>
        <p:nvSpPr>
          <p:cNvPr id="805" name="矩形"/>
          <p:cNvSpPr/>
          <p:nvPr/>
        </p:nvSpPr>
        <p:spPr>
          <a:xfrm>
            <a:off x="1295400" y="5181598"/>
            <a:ext cx="9525000" cy="2857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300">
                <a:solidFill>
                  <a:srgbClr val="082B6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806" name="图中虚线区域对应人工确认边界，保证恢复动作可审查、可追溯。"/>
          <p:cNvSpPr txBox="1"/>
          <p:nvPr/>
        </p:nvSpPr>
        <p:spPr>
          <a:xfrm>
            <a:off x="1295400" y="5181598"/>
            <a:ext cx="95250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300">
                <a:solidFill>
                  <a:srgbClr val="082B6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图中虚线区域对应人工确认边界，保证恢复动作可审查、可追溯。</a:t>
            </a:r>
          </a:p>
        </p:txBody>
      </p:sp>
      <p:grpSp>
        <p:nvGrpSpPr>
          <p:cNvPr id="809" name="矩形 835"/>
          <p:cNvGrpSpPr/>
          <p:nvPr/>
        </p:nvGrpSpPr>
        <p:grpSpPr>
          <a:xfrm>
            <a:off x="11696700" y="6419850"/>
            <a:ext cx="323850" cy="266700"/>
            <a:chOff x="0" y="0"/>
            <a:chExt cx="323850" cy="266700"/>
          </a:xfrm>
        </p:grpSpPr>
        <p:sp>
          <p:nvSpPr>
            <p:cNvPr id="807" name="矩形"/>
            <p:cNvSpPr/>
            <p:nvPr/>
          </p:nvSpPr>
          <p:spPr>
            <a:xfrm>
              <a:off x="0" y="0"/>
              <a:ext cx="3238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>
                <a:defRPr b="1" sz="1300">
                  <a:solidFill>
                    <a:srgbClr val="8A8A8A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808" name="7"/>
            <p:cNvSpPr txBox="1"/>
            <p:nvPr/>
          </p:nvSpPr>
          <p:spPr>
            <a:xfrm>
              <a:off x="0" y="0"/>
              <a:ext cx="323850" cy="1850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300">
                  <a:solidFill>
                    <a:srgbClr val="8A8A8A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812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pic>
        <p:nvPicPr>
          <p:cNvPr id="813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24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814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15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16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17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18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19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20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21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22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23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24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25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26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27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28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29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30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31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32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33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34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35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36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37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38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39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0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1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2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3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4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5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6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7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8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9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50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51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52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53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54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55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56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57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58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59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60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61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62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63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64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65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66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67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68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69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70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71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72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73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74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75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76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77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78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79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80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81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82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883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63"/>
          </a:xfrm>
          <a:prstGeom prst="rect">
            <a:avLst/>
          </a:prstGeom>
          <a:ln w="12700">
            <a:miter lim="400000"/>
          </a:ln>
        </p:spPr>
      </p:pic>
      <p:sp>
        <p:nvSpPr>
          <p:cNvPr id="884" name="矩形"/>
          <p:cNvSpPr/>
          <p:nvPr/>
        </p:nvSpPr>
        <p:spPr>
          <a:xfrm>
            <a:off x="1000125" y="200025"/>
            <a:ext cx="7239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 anchor="ctr"/>
          <a:lstStyle/>
          <a:p>
            <a:pPr>
              <a:defRPr b="1" sz="2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885" name="CEBRA-WP：静态规划层 + 运行时自适应层"/>
          <p:cNvSpPr txBox="1"/>
          <p:nvPr/>
        </p:nvSpPr>
        <p:spPr>
          <a:xfrm>
            <a:off x="1000125" y="238123"/>
            <a:ext cx="7239000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CEBRA-WP：静态规划层 + 运行时自适应层</a:t>
            </a:r>
          </a:p>
        </p:txBody>
      </p:sp>
      <p:sp>
        <p:nvSpPr>
          <p:cNvPr id="886" name="矩形"/>
          <p:cNvSpPr/>
          <p:nvPr/>
        </p:nvSpPr>
        <p:spPr>
          <a:xfrm>
            <a:off x="8667750" y="2286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 anchor="ctr"/>
          <a:lstStyle/>
          <a:p>
            <a:pPr algn="ctr">
              <a:defRPr b="1"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87" name="ALGORITHM"/>
          <p:cNvSpPr txBox="1"/>
          <p:nvPr/>
        </p:nvSpPr>
        <p:spPr>
          <a:xfrm>
            <a:off x="8667750" y="269871"/>
            <a:ext cx="142875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ALGORITHM</a:t>
            </a:r>
          </a:p>
        </p:txBody>
      </p:sp>
      <p:sp>
        <p:nvSpPr>
          <p:cNvPr id="888" name="圆角矩形 985"/>
          <p:cNvSpPr/>
          <p:nvPr/>
        </p:nvSpPr>
        <p:spPr>
          <a:xfrm>
            <a:off x="714375" y="1285875"/>
            <a:ext cx="2000250" cy="1038225"/>
          </a:xfrm>
          <a:prstGeom prst="roundRect">
            <a:avLst>
              <a:gd name="adj" fmla="val 7339"/>
            </a:avLst>
          </a:prstGeom>
          <a:solidFill>
            <a:srgbClr val="EAF3FF"/>
          </a:solidFill>
          <a:ln>
            <a:solidFill>
              <a:srgbClr val="9DC3E6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889" name="矩形"/>
          <p:cNvSpPr/>
          <p:nvPr/>
        </p:nvSpPr>
        <p:spPr>
          <a:xfrm>
            <a:off x="885825" y="1419225"/>
            <a:ext cx="16573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890" name="静态规划层"/>
          <p:cNvSpPr txBox="1"/>
          <p:nvPr/>
        </p:nvSpPr>
        <p:spPr>
          <a:xfrm>
            <a:off x="885825" y="1419225"/>
            <a:ext cx="165735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静态规划层</a:t>
            </a:r>
          </a:p>
        </p:txBody>
      </p:sp>
      <p:sp>
        <p:nvSpPr>
          <p:cNvPr id="891" name="矩形"/>
          <p:cNvSpPr/>
          <p:nvPr/>
        </p:nvSpPr>
        <p:spPr>
          <a:xfrm>
            <a:off x="885825" y="1724023"/>
            <a:ext cx="1657350" cy="485779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892" name="候选生成…"/>
          <p:cNvSpPr txBox="1"/>
          <p:nvPr/>
        </p:nvSpPr>
        <p:spPr>
          <a:xfrm>
            <a:off x="885825" y="1724024"/>
            <a:ext cx="1657350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候选生成</a:t>
            </a:r>
          </a:p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硬可行性过滤</a:t>
            </a:r>
          </a:p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静态评分</a:t>
            </a:r>
          </a:p>
        </p:txBody>
      </p:sp>
      <p:sp>
        <p:nvSpPr>
          <p:cNvPr id="893" name="矩形"/>
          <p:cNvSpPr/>
          <p:nvPr/>
        </p:nvSpPr>
        <p:spPr>
          <a:xfrm>
            <a:off x="2781300" y="1571625"/>
            <a:ext cx="2476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6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94" name="→"/>
          <p:cNvSpPr txBox="1"/>
          <p:nvPr/>
        </p:nvSpPr>
        <p:spPr>
          <a:xfrm>
            <a:off x="2781300" y="1571625"/>
            <a:ext cx="247650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6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895" name="圆角矩形 989"/>
          <p:cNvSpPr/>
          <p:nvPr/>
        </p:nvSpPr>
        <p:spPr>
          <a:xfrm>
            <a:off x="3143250" y="1285875"/>
            <a:ext cx="2238375" cy="1038225"/>
          </a:xfrm>
          <a:prstGeom prst="roundRect">
            <a:avLst>
              <a:gd name="adj" fmla="val 7339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896" name="矩形"/>
          <p:cNvSpPr/>
          <p:nvPr/>
        </p:nvSpPr>
        <p:spPr>
          <a:xfrm>
            <a:off x="3314700" y="1419225"/>
            <a:ext cx="189547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897" name="Top-K 候选"/>
          <p:cNvSpPr txBox="1"/>
          <p:nvPr/>
        </p:nvSpPr>
        <p:spPr>
          <a:xfrm>
            <a:off x="3314700" y="1419225"/>
            <a:ext cx="1895475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Top-K 候选</a:t>
            </a:r>
          </a:p>
        </p:txBody>
      </p:sp>
      <p:sp>
        <p:nvSpPr>
          <p:cNvPr id="898" name="矩形"/>
          <p:cNvSpPr/>
          <p:nvPr/>
        </p:nvSpPr>
        <p:spPr>
          <a:xfrm>
            <a:off x="3314700" y="1724024"/>
            <a:ext cx="1895475" cy="485779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899" name="Plan / Patch / Replan…"/>
          <p:cNvSpPr txBox="1"/>
          <p:nvPr/>
        </p:nvSpPr>
        <p:spPr>
          <a:xfrm>
            <a:off x="3314700" y="1724023"/>
            <a:ext cx="1895475" cy="330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Plan / Patch / Replan</a:t>
            </a:r>
          </a:p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保留多样候选</a:t>
            </a:r>
          </a:p>
        </p:txBody>
      </p:sp>
      <p:sp>
        <p:nvSpPr>
          <p:cNvPr id="900" name="矩形"/>
          <p:cNvSpPr/>
          <p:nvPr/>
        </p:nvSpPr>
        <p:spPr>
          <a:xfrm>
            <a:off x="5448300" y="1571625"/>
            <a:ext cx="2476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6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01" name="→"/>
          <p:cNvSpPr txBox="1"/>
          <p:nvPr/>
        </p:nvSpPr>
        <p:spPr>
          <a:xfrm>
            <a:off x="5448300" y="1571625"/>
            <a:ext cx="247650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6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902" name="圆角矩形 993"/>
          <p:cNvSpPr/>
          <p:nvPr/>
        </p:nvSpPr>
        <p:spPr>
          <a:xfrm>
            <a:off x="5810250" y="1285875"/>
            <a:ext cx="2238375" cy="1038225"/>
          </a:xfrm>
          <a:prstGeom prst="roundRect">
            <a:avLst>
              <a:gd name="adj" fmla="val 7339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903" name="矩形"/>
          <p:cNvSpPr/>
          <p:nvPr/>
        </p:nvSpPr>
        <p:spPr>
          <a:xfrm>
            <a:off x="5981700" y="1419225"/>
            <a:ext cx="189547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904" name="执行与观测"/>
          <p:cNvSpPr txBox="1"/>
          <p:nvPr/>
        </p:nvSpPr>
        <p:spPr>
          <a:xfrm>
            <a:off x="5981700" y="1419225"/>
            <a:ext cx="1895475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执行与观测</a:t>
            </a:r>
          </a:p>
        </p:txBody>
      </p:sp>
      <p:sp>
        <p:nvSpPr>
          <p:cNvPr id="905" name="矩形"/>
          <p:cNvSpPr/>
          <p:nvPr/>
        </p:nvSpPr>
        <p:spPr>
          <a:xfrm>
            <a:off x="5981700" y="1724024"/>
            <a:ext cx="1895475" cy="485779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906" name="StepResult…"/>
          <p:cNvSpPr txBox="1"/>
          <p:nvPr/>
        </p:nvSpPr>
        <p:spPr>
          <a:xfrm>
            <a:off x="5981700" y="1724023"/>
            <a:ext cx="1895475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StepResult</a:t>
            </a:r>
          </a:p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SafetyResult</a:t>
            </a:r>
          </a:p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失败与预算历史</a:t>
            </a:r>
          </a:p>
        </p:txBody>
      </p:sp>
      <p:sp>
        <p:nvSpPr>
          <p:cNvPr id="907" name="矩形"/>
          <p:cNvSpPr/>
          <p:nvPr/>
        </p:nvSpPr>
        <p:spPr>
          <a:xfrm>
            <a:off x="8115300" y="1571625"/>
            <a:ext cx="2476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6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08" name="→"/>
          <p:cNvSpPr txBox="1"/>
          <p:nvPr/>
        </p:nvSpPr>
        <p:spPr>
          <a:xfrm>
            <a:off x="8115300" y="1571625"/>
            <a:ext cx="247650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6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909" name="圆角矩形 997"/>
          <p:cNvSpPr/>
          <p:nvPr/>
        </p:nvSpPr>
        <p:spPr>
          <a:xfrm>
            <a:off x="8477250" y="1285875"/>
            <a:ext cx="2238375" cy="1038225"/>
          </a:xfrm>
          <a:prstGeom prst="roundRect">
            <a:avLst>
              <a:gd name="adj" fmla="val 7339"/>
            </a:avLst>
          </a:prstGeom>
          <a:solidFill>
            <a:srgbClr val="0052A5"/>
          </a:solidFill>
          <a:ln>
            <a:solidFill>
              <a:srgbClr val="0052A5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910" name="矩形"/>
          <p:cNvSpPr/>
          <p:nvPr/>
        </p:nvSpPr>
        <p:spPr>
          <a:xfrm>
            <a:off x="8648700" y="1419225"/>
            <a:ext cx="189547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911" name="运行时自适应层"/>
          <p:cNvSpPr txBox="1"/>
          <p:nvPr/>
        </p:nvSpPr>
        <p:spPr>
          <a:xfrm>
            <a:off x="8648700" y="1419225"/>
            <a:ext cx="1895475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运行时自适应层</a:t>
            </a:r>
          </a:p>
        </p:txBody>
      </p:sp>
      <p:sp>
        <p:nvSpPr>
          <p:cNvPr id="912" name="矩形"/>
          <p:cNvSpPr/>
          <p:nvPr/>
        </p:nvSpPr>
        <p:spPr>
          <a:xfrm>
            <a:off x="8648700" y="1724023"/>
            <a:ext cx="1895475" cy="485779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0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913" name="Lite state…"/>
          <p:cNvSpPr txBox="1"/>
          <p:nvPr/>
        </p:nvSpPr>
        <p:spPr>
          <a:xfrm>
            <a:off x="8648700" y="1724024"/>
            <a:ext cx="1895475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Lite state</a:t>
            </a:r>
          </a:p>
          <a:p>
            <a:pPr>
              <a:defRPr sz="10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候选重排</a:t>
            </a:r>
          </a:p>
          <a:p>
            <a:pPr>
              <a:defRPr sz="10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动作选择</a:t>
            </a:r>
          </a:p>
        </p:txBody>
      </p:sp>
      <p:sp>
        <p:nvSpPr>
          <p:cNvPr id="914" name="圆角矩形 1000"/>
          <p:cNvSpPr/>
          <p:nvPr/>
        </p:nvSpPr>
        <p:spPr>
          <a:xfrm>
            <a:off x="1762125" y="2762250"/>
            <a:ext cx="2524125" cy="904875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915" name="矩形"/>
          <p:cNvSpPr/>
          <p:nvPr/>
        </p:nvSpPr>
        <p:spPr>
          <a:xfrm>
            <a:off x="1933575" y="2895600"/>
            <a:ext cx="21812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916" name="输入"/>
          <p:cNvSpPr txBox="1"/>
          <p:nvPr/>
        </p:nvSpPr>
        <p:spPr>
          <a:xfrm>
            <a:off x="1933575" y="2895600"/>
            <a:ext cx="2181225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输入</a:t>
            </a:r>
          </a:p>
        </p:txBody>
      </p:sp>
      <p:sp>
        <p:nvSpPr>
          <p:cNvPr id="917" name="矩形"/>
          <p:cNvSpPr/>
          <p:nvPr/>
        </p:nvSpPr>
        <p:spPr>
          <a:xfrm>
            <a:off x="1933575" y="3200399"/>
            <a:ext cx="2181225" cy="390529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918" name="Task / Constraints / ToolKG…"/>
          <p:cNvSpPr txBox="1"/>
          <p:nvPr/>
        </p:nvSpPr>
        <p:spPr>
          <a:xfrm>
            <a:off x="1933575" y="3200398"/>
            <a:ext cx="2181225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Task / Constraints / ToolKG</a:t>
            </a:r>
          </a:p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runtime_context / policy</a:t>
            </a:r>
          </a:p>
        </p:txBody>
      </p:sp>
      <p:sp>
        <p:nvSpPr>
          <p:cNvPr id="919" name="矩形"/>
          <p:cNvSpPr/>
          <p:nvPr/>
        </p:nvSpPr>
        <p:spPr>
          <a:xfrm>
            <a:off x="4333875" y="3086100"/>
            <a:ext cx="2476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6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20" name="→"/>
          <p:cNvSpPr txBox="1"/>
          <p:nvPr/>
        </p:nvSpPr>
        <p:spPr>
          <a:xfrm>
            <a:off x="4333875" y="3086100"/>
            <a:ext cx="247650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6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921" name="圆角矩形 1004"/>
          <p:cNvSpPr/>
          <p:nvPr/>
        </p:nvSpPr>
        <p:spPr>
          <a:xfrm>
            <a:off x="4762500" y="2762250"/>
            <a:ext cx="2667000" cy="904875"/>
          </a:xfrm>
          <a:prstGeom prst="roundRect">
            <a:avLst>
              <a:gd name="adj" fmla="val 8421"/>
            </a:avLst>
          </a:prstGeom>
          <a:solidFill>
            <a:srgbClr val="EAF3FF"/>
          </a:solidFill>
          <a:ln>
            <a:solidFill>
              <a:srgbClr val="9DC3E6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922" name="矩形"/>
          <p:cNvSpPr/>
          <p:nvPr/>
        </p:nvSpPr>
        <p:spPr>
          <a:xfrm>
            <a:off x="4933950" y="2895600"/>
            <a:ext cx="23241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923" name="核心状态"/>
          <p:cNvSpPr txBox="1"/>
          <p:nvPr/>
        </p:nvSpPr>
        <p:spPr>
          <a:xfrm>
            <a:off x="4933950" y="2895600"/>
            <a:ext cx="23241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核心状态</a:t>
            </a:r>
          </a:p>
        </p:txBody>
      </p:sp>
      <p:sp>
        <p:nvSpPr>
          <p:cNvPr id="924" name="矩形"/>
          <p:cNvSpPr/>
          <p:nvPr/>
        </p:nvSpPr>
        <p:spPr>
          <a:xfrm>
            <a:off x="4933950" y="3200399"/>
            <a:ext cx="2324100" cy="390529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925" name="x_t = [success, structural_failure,…"/>
          <p:cNvSpPr txBox="1"/>
          <p:nvPr/>
        </p:nvSpPr>
        <p:spPr>
          <a:xfrm>
            <a:off x="4933950" y="3200398"/>
            <a:ext cx="2324100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x_t = [success, structural_failure,</a:t>
            </a:r>
          </a:p>
          <a:p>
            <a: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recovery_margin, cost, evidence]</a:t>
            </a:r>
          </a:p>
        </p:txBody>
      </p:sp>
      <p:sp>
        <p:nvSpPr>
          <p:cNvPr id="926" name="矩形"/>
          <p:cNvSpPr/>
          <p:nvPr/>
        </p:nvSpPr>
        <p:spPr>
          <a:xfrm>
            <a:off x="7477125" y="3086100"/>
            <a:ext cx="2476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6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27" name="→"/>
          <p:cNvSpPr txBox="1"/>
          <p:nvPr/>
        </p:nvSpPr>
        <p:spPr>
          <a:xfrm>
            <a:off x="7477125" y="3086100"/>
            <a:ext cx="247650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6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928" name="圆角矩形 1008"/>
          <p:cNvSpPr/>
          <p:nvPr/>
        </p:nvSpPr>
        <p:spPr>
          <a:xfrm>
            <a:off x="7905750" y="2762250"/>
            <a:ext cx="2524125" cy="904875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929" name="矩形"/>
          <p:cNvSpPr/>
          <p:nvPr/>
        </p:nvSpPr>
        <p:spPr>
          <a:xfrm>
            <a:off x="8077200" y="2895600"/>
            <a:ext cx="21812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930" name="输出"/>
          <p:cNvSpPr txBox="1"/>
          <p:nvPr/>
        </p:nvSpPr>
        <p:spPr>
          <a:xfrm>
            <a:off x="8077200" y="2895600"/>
            <a:ext cx="2181225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输出</a:t>
            </a:r>
          </a:p>
        </p:txBody>
      </p:sp>
      <p:sp>
        <p:nvSpPr>
          <p:cNvPr id="931" name="矩形"/>
          <p:cNvSpPr/>
          <p:nvPr/>
        </p:nvSpPr>
        <p:spPr>
          <a:xfrm>
            <a:off x="8077200" y="3200399"/>
            <a:ext cx="2181225" cy="390529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932" name="continue / patch_local…"/>
          <p:cNvSpPr txBox="1"/>
          <p:nvPr/>
        </p:nvSpPr>
        <p:spPr>
          <a:xfrm>
            <a:off x="8077200" y="3200398"/>
            <a:ext cx="2181225" cy="330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continue / patch_local</a:t>
            </a:r>
          </a:p>
          <a:p>
            <a:pPr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suffix_replan / stop</a:t>
            </a:r>
          </a:p>
        </p:txBody>
      </p:sp>
      <p:sp>
        <p:nvSpPr>
          <p:cNvPr id="933" name="矩形"/>
          <p:cNvSpPr/>
          <p:nvPr/>
        </p:nvSpPr>
        <p:spPr>
          <a:xfrm>
            <a:off x="1352550" y="4762498"/>
            <a:ext cx="9525000" cy="3238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500">
                <a:solidFill>
                  <a:srgbClr val="082B6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934" name="核心边界：运行时状态只修正已合法候选，不覆盖 tool / schema / I-O / safety / budget 硬约束。"/>
          <p:cNvSpPr txBox="1"/>
          <p:nvPr/>
        </p:nvSpPr>
        <p:spPr>
          <a:xfrm>
            <a:off x="1352550" y="4762498"/>
            <a:ext cx="9525000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500">
                <a:solidFill>
                  <a:srgbClr val="082B6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核心边界：运行时状态只修正已合法候选，不覆盖 tool / schema / I-O / safety / budget 硬约束。</a:t>
            </a:r>
          </a:p>
        </p:txBody>
      </p:sp>
      <p:grpSp>
        <p:nvGrpSpPr>
          <p:cNvPr id="937" name="矩形 963"/>
          <p:cNvGrpSpPr/>
          <p:nvPr/>
        </p:nvGrpSpPr>
        <p:grpSpPr>
          <a:xfrm>
            <a:off x="11696700" y="6419850"/>
            <a:ext cx="323850" cy="266700"/>
            <a:chOff x="0" y="0"/>
            <a:chExt cx="323850" cy="266700"/>
          </a:xfrm>
        </p:grpSpPr>
        <p:sp>
          <p:nvSpPr>
            <p:cNvPr id="935" name="矩形"/>
            <p:cNvSpPr/>
            <p:nvPr/>
          </p:nvSpPr>
          <p:spPr>
            <a:xfrm>
              <a:off x="0" y="0"/>
              <a:ext cx="3238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>
                <a:defRPr b="1" sz="1300">
                  <a:solidFill>
                    <a:srgbClr val="8A8A8A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936" name="8"/>
            <p:cNvSpPr txBox="1"/>
            <p:nvPr/>
          </p:nvSpPr>
          <p:spPr>
            <a:xfrm>
              <a:off x="0" y="0"/>
              <a:ext cx="323850" cy="1850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300">
                  <a:solidFill>
                    <a:srgbClr val="8A8A8A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940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pic>
        <p:nvPicPr>
          <p:cNvPr id="941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24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942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3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4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5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6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7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8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9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50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51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52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53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54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55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56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57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58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59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0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1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2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3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4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5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6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7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8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9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0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1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2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3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4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5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6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7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8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9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0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1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2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3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4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5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6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7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8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9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0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1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2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3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4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5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6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7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8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9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0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1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2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3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4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5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6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7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8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9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10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011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63"/>
          </a:xfrm>
          <a:prstGeom prst="rect">
            <a:avLst/>
          </a:prstGeom>
          <a:ln w="12700">
            <a:miter lim="400000"/>
          </a:ln>
        </p:spPr>
      </p:pic>
      <p:sp>
        <p:nvSpPr>
          <p:cNvPr id="1012" name="矩形"/>
          <p:cNvSpPr/>
          <p:nvPr/>
        </p:nvSpPr>
        <p:spPr>
          <a:xfrm>
            <a:off x="1000125" y="200025"/>
            <a:ext cx="7239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 anchor="ctr"/>
          <a:lstStyle/>
          <a:p>
            <a:pPr>
              <a:defRPr b="1" sz="2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013" name="静态规划：候选、硬过滤与静态评分"/>
          <p:cNvSpPr txBox="1"/>
          <p:nvPr/>
        </p:nvSpPr>
        <p:spPr>
          <a:xfrm>
            <a:off x="1000125" y="238123"/>
            <a:ext cx="7239000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静态规划：候选、硬过滤与静态评分</a:t>
            </a:r>
          </a:p>
        </p:txBody>
      </p:sp>
      <p:sp>
        <p:nvSpPr>
          <p:cNvPr id="1014" name="矩形"/>
          <p:cNvSpPr/>
          <p:nvPr/>
        </p:nvSpPr>
        <p:spPr>
          <a:xfrm>
            <a:off x="8667750" y="2286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 anchor="ctr"/>
          <a:lstStyle/>
          <a:p>
            <a:pPr algn="ctr">
              <a:defRPr b="1"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15" name="STATIC PLANNING"/>
          <p:cNvSpPr txBox="1"/>
          <p:nvPr/>
        </p:nvSpPr>
        <p:spPr>
          <a:xfrm>
            <a:off x="8667750" y="269871"/>
            <a:ext cx="142875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STATIC PLANNING</a:t>
            </a:r>
          </a:p>
        </p:txBody>
      </p:sp>
      <p:sp>
        <p:nvSpPr>
          <p:cNvPr id="1016" name="圆角矩形 985"/>
          <p:cNvSpPr/>
          <p:nvPr/>
        </p:nvSpPr>
        <p:spPr>
          <a:xfrm>
            <a:off x="619125" y="1238250"/>
            <a:ext cx="1733550" cy="10668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1017" name="矩形"/>
          <p:cNvSpPr/>
          <p:nvPr/>
        </p:nvSpPr>
        <p:spPr>
          <a:xfrm>
            <a:off x="790575" y="1371599"/>
            <a:ext cx="1390650" cy="2286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1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018" name="Task / Constraints"/>
          <p:cNvSpPr txBox="1"/>
          <p:nvPr/>
        </p:nvSpPr>
        <p:spPr>
          <a:xfrm>
            <a:off x="790575" y="1371596"/>
            <a:ext cx="1390650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1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Task / Constraints</a:t>
            </a:r>
          </a:p>
        </p:txBody>
      </p:sp>
      <p:sp>
        <p:nvSpPr>
          <p:cNvPr id="1019" name="矩形"/>
          <p:cNvSpPr/>
          <p:nvPr/>
        </p:nvSpPr>
        <p:spPr>
          <a:xfrm>
            <a:off x="790575" y="1777999"/>
            <a:ext cx="1390650" cy="5524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020" name="目标、预算…"/>
          <p:cNvSpPr txBox="1"/>
          <p:nvPr/>
        </p:nvSpPr>
        <p:spPr>
          <a:xfrm>
            <a:off x="790575" y="1777998"/>
            <a:ext cx="1390650" cy="330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目标、预算</a:t>
            </a:r>
          </a:p>
          <a:p>
            <a:pPr algn="ctr"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允许/禁用工具</a:t>
            </a:r>
          </a:p>
        </p:txBody>
      </p:sp>
      <p:sp>
        <p:nvSpPr>
          <p:cNvPr id="1021" name="矩形"/>
          <p:cNvSpPr/>
          <p:nvPr/>
        </p:nvSpPr>
        <p:spPr>
          <a:xfrm>
            <a:off x="2362200" y="1619250"/>
            <a:ext cx="3048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600">
                <a:solidFill>
                  <a:srgbClr val="9DC3E6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22" name="→"/>
          <p:cNvSpPr txBox="1"/>
          <p:nvPr/>
        </p:nvSpPr>
        <p:spPr>
          <a:xfrm>
            <a:off x="2362200" y="1619250"/>
            <a:ext cx="304800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600">
                <a:solidFill>
                  <a:srgbClr val="9DC3E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1023" name="圆角矩形 989"/>
          <p:cNvSpPr/>
          <p:nvPr/>
        </p:nvSpPr>
        <p:spPr>
          <a:xfrm>
            <a:off x="2857500" y="1238250"/>
            <a:ext cx="1733550" cy="10668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1024" name="矩形"/>
          <p:cNvSpPr/>
          <p:nvPr/>
        </p:nvSpPr>
        <p:spPr>
          <a:xfrm>
            <a:off x="3028950" y="1371599"/>
            <a:ext cx="1390650" cy="2286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1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025" name="Tool Retrieval"/>
          <p:cNvSpPr txBox="1"/>
          <p:nvPr/>
        </p:nvSpPr>
        <p:spPr>
          <a:xfrm>
            <a:off x="3028950" y="1371596"/>
            <a:ext cx="1390650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1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Tool Retrieval</a:t>
            </a:r>
          </a:p>
        </p:txBody>
      </p:sp>
      <p:sp>
        <p:nvSpPr>
          <p:cNvPr id="1026" name="矩形"/>
          <p:cNvSpPr/>
          <p:nvPr/>
        </p:nvSpPr>
        <p:spPr>
          <a:xfrm>
            <a:off x="3028950" y="1777999"/>
            <a:ext cx="1390650" cy="5524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027" name="能力匹配…"/>
          <p:cNvSpPr txBox="1"/>
          <p:nvPr/>
        </p:nvSpPr>
        <p:spPr>
          <a:xfrm>
            <a:off x="3028950" y="1777998"/>
            <a:ext cx="1390650" cy="330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能力匹配</a:t>
            </a:r>
          </a:p>
          <a:p>
            <a:pPr algn="ctr"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I/O 兼容</a:t>
            </a:r>
          </a:p>
        </p:txBody>
      </p:sp>
      <p:sp>
        <p:nvSpPr>
          <p:cNvPr id="1028" name="矩形"/>
          <p:cNvSpPr/>
          <p:nvPr/>
        </p:nvSpPr>
        <p:spPr>
          <a:xfrm>
            <a:off x="4600575" y="1619250"/>
            <a:ext cx="3048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600">
                <a:solidFill>
                  <a:srgbClr val="9DC3E6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29" name="→"/>
          <p:cNvSpPr txBox="1"/>
          <p:nvPr/>
        </p:nvSpPr>
        <p:spPr>
          <a:xfrm>
            <a:off x="4600575" y="1619250"/>
            <a:ext cx="304800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600">
                <a:solidFill>
                  <a:srgbClr val="9DC3E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1030" name="圆角矩形 993"/>
          <p:cNvSpPr/>
          <p:nvPr/>
        </p:nvSpPr>
        <p:spPr>
          <a:xfrm>
            <a:off x="5095875" y="1238250"/>
            <a:ext cx="1733550" cy="10668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1031" name="矩形"/>
          <p:cNvSpPr/>
          <p:nvPr/>
        </p:nvSpPr>
        <p:spPr>
          <a:xfrm>
            <a:off x="5267325" y="1371596"/>
            <a:ext cx="1390650" cy="22860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1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032" name="Candidate Generation"/>
          <p:cNvSpPr txBox="1"/>
          <p:nvPr/>
        </p:nvSpPr>
        <p:spPr>
          <a:xfrm>
            <a:off x="5267325" y="1371599"/>
            <a:ext cx="1390650" cy="330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1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Candidate Generation</a:t>
            </a:r>
          </a:p>
        </p:txBody>
      </p:sp>
      <p:sp>
        <p:nvSpPr>
          <p:cNvPr id="1033" name="矩形"/>
          <p:cNvSpPr/>
          <p:nvPr/>
        </p:nvSpPr>
        <p:spPr>
          <a:xfrm>
            <a:off x="5267325" y="1777999"/>
            <a:ext cx="1390650" cy="5524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034" name="Plan / Patch…"/>
          <p:cNvSpPr txBox="1"/>
          <p:nvPr/>
        </p:nvSpPr>
        <p:spPr>
          <a:xfrm>
            <a:off x="5267325" y="1777998"/>
            <a:ext cx="1390650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Plan / Patch</a:t>
            </a:r>
          </a:p>
          <a:p>
            <a:pPr algn="ctr"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Replan Top-K</a:t>
            </a:r>
          </a:p>
        </p:txBody>
      </p:sp>
      <p:sp>
        <p:nvSpPr>
          <p:cNvPr id="1035" name="矩形"/>
          <p:cNvSpPr/>
          <p:nvPr/>
        </p:nvSpPr>
        <p:spPr>
          <a:xfrm>
            <a:off x="6838950" y="1619250"/>
            <a:ext cx="3048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600">
                <a:solidFill>
                  <a:srgbClr val="9DC3E6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36" name="→"/>
          <p:cNvSpPr txBox="1"/>
          <p:nvPr/>
        </p:nvSpPr>
        <p:spPr>
          <a:xfrm>
            <a:off x="6838950" y="1619250"/>
            <a:ext cx="304800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600">
                <a:solidFill>
                  <a:srgbClr val="9DC3E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1037" name="圆角矩形 997"/>
          <p:cNvSpPr/>
          <p:nvPr/>
        </p:nvSpPr>
        <p:spPr>
          <a:xfrm>
            <a:off x="7334250" y="1238250"/>
            <a:ext cx="1733550" cy="1066800"/>
          </a:xfrm>
          <a:prstGeom prst="roundRect">
            <a:avLst>
              <a:gd name="adj" fmla="val 7143"/>
            </a:avLst>
          </a:prstGeom>
          <a:solidFill>
            <a:srgbClr val="0052A5"/>
          </a:solidFill>
          <a:ln>
            <a:solidFill>
              <a:srgbClr val="0052A5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1038" name="矩形"/>
          <p:cNvSpPr/>
          <p:nvPr/>
        </p:nvSpPr>
        <p:spPr>
          <a:xfrm>
            <a:off x="7505700" y="1371599"/>
            <a:ext cx="1390650" cy="2286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039" name="Hard Feasibility"/>
          <p:cNvSpPr txBox="1"/>
          <p:nvPr/>
        </p:nvSpPr>
        <p:spPr>
          <a:xfrm>
            <a:off x="7505700" y="1371596"/>
            <a:ext cx="1390650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Hard Feasibility</a:t>
            </a:r>
          </a:p>
        </p:txBody>
      </p:sp>
      <p:sp>
        <p:nvSpPr>
          <p:cNvPr id="1040" name="矩形"/>
          <p:cNvSpPr/>
          <p:nvPr/>
        </p:nvSpPr>
        <p:spPr>
          <a:xfrm>
            <a:off x="7505700" y="1777999"/>
            <a:ext cx="1390650" cy="5524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sz="9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041" name="tool / schema / I-O…"/>
          <p:cNvSpPr txBox="1"/>
          <p:nvPr/>
        </p:nvSpPr>
        <p:spPr>
          <a:xfrm>
            <a:off x="7505700" y="1777998"/>
            <a:ext cx="1390650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9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tool / schema / I-O</a:t>
            </a:r>
          </a:p>
          <a:p>
            <a:pPr algn="ctr">
              <a:defRPr sz="9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safety / budget</a:t>
            </a:r>
          </a:p>
        </p:txBody>
      </p:sp>
      <p:sp>
        <p:nvSpPr>
          <p:cNvPr id="1042" name="矩形"/>
          <p:cNvSpPr/>
          <p:nvPr/>
        </p:nvSpPr>
        <p:spPr>
          <a:xfrm>
            <a:off x="9077325" y="1619250"/>
            <a:ext cx="3048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600">
                <a:solidFill>
                  <a:srgbClr val="9DC3E6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43" name="→"/>
          <p:cNvSpPr txBox="1"/>
          <p:nvPr/>
        </p:nvSpPr>
        <p:spPr>
          <a:xfrm>
            <a:off x="9077325" y="1619250"/>
            <a:ext cx="304800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600">
                <a:solidFill>
                  <a:srgbClr val="9DC3E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1044" name="圆角矩形 1001"/>
          <p:cNvSpPr/>
          <p:nvPr/>
        </p:nvSpPr>
        <p:spPr>
          <a:xfrm>
            <a:off x="9572625" y="1238250"/>
            <a:ext cx="1733550" cy="10668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1045" name="矩形"/>
          <p:cNvSpPr/>
          <p:nvPr/>
        </p:nvSpPr>
        <p:spPr>
          <a:xfrm>
            <a:off x="9744075" y="1371599"/>
            <a:ext cx="1390650" cy="2286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1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046" name="Static Score"/>
          <p:cNvSpPr txBox="1"/>
          <p:nvPr/>
        </p:nvSpPr>
        <p:spPr>
          <a:xfrm>
            <a:off x="9744075" y="1371596"/>
            <a:ext cx="1390650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1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Static Score</a:t>
            </a:r>
          </a:p>
        </p:txBody>
      </p:sp>
      <p:sp>
        <p:nvSpPr>
          <p:cNvPr id="1047" name="矩形"/>
          <p:cNvSpPr/>
          <p:nvPr/>
        </p:nvSpPr>
        <p:spPr>
          <a:xfrm>
            <a:off x="9744075" y="1777999"/>
            <a:ext cx="1390650" cy="5524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048" name="objective / cost / risk…"/>
          <p:cNvSpPr txBox="1"/>
          <p:nvPr/>
        </p:nvSpPr>
        <p:spPr>
          <a:xfrm>
            <a:off x="9744075" y="1777998"/>
            <a:ext cx="1390650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objective / cost / risk</a:t>
            </a:r>
          </a:p>
          <a:p>
            <a:pPr algn="ctr"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recovery / reliability</a:t>
            </a:r>
          </a:p>
        </p:txBody>
      </p:sp>
      <p:sp>
        <p:nvSpPr>
          <p:cNvPr id="1049" name="圆角矩形 1004"/>
          <p:cNvSpPr/>
          <p:nvPr/>
        </p:nvSpPr>
        <p:spPr>
          <a:xfrm>
            <a:off x="1000125" y="3028950"/>
            <a:ext cx="4191000" cy="1285875"/>
          </a:xfrm>
          <a:prstGeom prst="roundRect">
            <a:avLst>
              <a:gd name="adj" fmla="val 5926"/>
            </a:avLst>
          </a:prstGeom>
          <a:solidFill>
            <a:srgbClr val="EAF3FF"/>
          </a:solidFill>
          <a:ln>
            <a:solidFill>
              <a:srgbClr val="9DC3E6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1050" name="矩形"/>
          <p:cNvSpPr/>
          <p:nvPr/>
        </p:nvSpPr>
        <p:spPr>
          <a:xfrm>
            <a:off x="1171575" y="3162300"/>
            <a:ext cx="38481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051" name="硬过滤的目的"/>
          <p:cNvSpPr txBox="1"/>
          <p:nvPr/>
        </p:nvSpPr>
        <p:spPr>
          <a:xfrm>
            <a:off x="1171575" y="3162300"/>
            <a:ext cx="38481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硬过滤的目的</a:t>
            </a:r>
          </a:p>
        </p:txBody>
      </p:sp>
      <p:sp>
        <p:nvSpPr>
          <p:cNvPr id="1052" name="矩形"/>
          <p:cNvSpPr/>
          <p:nvPr/>
        </p:nvSpPr>
        <p:spPr>
          <a:xfrm>
            <a:off x="1171575" y="3467098"/>
            <a:ext cx="3848100" cy="771529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2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053" name="非法候选不进入评分和执行：工具不存在、schema 错误、I/O 不闭合、安全阻断、硬预算越界。"/>
          <p:cNvSpPr txBox="1"/>
          <p:nvPr/>
        </p:nvSpPr>
        <p:spPr>
          <a:xfrm>
            <a:off x="1171575" y="3467098"/>
            <a:ext cx="384810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非法候选不进入评分和执行：工具不存在、schema 错误、I/O 不闭合、安全阻断、硬预算越界。</a:t>
            </a:r>
          </a:p>
        </p:txBody>
      </p:sp>
      <p:sp>
        <p:nvSpPr>
          <p:cNvPr id="1054" name="圆角矩形 1007"/>
          <p:cNvSpPr/>
          <p:nvPr/>
        </p:nvSpPr>
        <p:spPr>
          <a:xfrm>
            <a:off x="5810250" y="3028950"/>
            <a:ext cx="4191000" cy="1285875"/>
          </a:xfrm>
          <a:prstGeom prst="roundRect">
            <a:avLst>
              <a:gd name="adj" fmla="val 5926"/>
            </a:avLst>
          </a:prstGeom>
          <a:solidFill>
            <a:srgbClr val="F5F9FE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1055" name="矩形"/>
          <p:cNvSpPr/>
          <p:nvPr/>
        </p:nvSpPr>
        <p:spPr>
          <a:xfrm>
            <a:off x="5981700" y="3162300"/>
            <a:ext cx="38481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056" name="静态评分的目的"/>
          <p:cNvSpPr txBox="1"/>
          <p:nvPr/>
        </p:nvSpPr>
        <p:spPr>
          <a:xfrm>
            <a:off x="5981700" y="3162300"/>
            <a:ext cx="38481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静态评分的目的</a:t>
            </a:r>
          </a:p>
        </p:txBody>
      </p:sp>
      <p:sp>
        <p:nvSpPr>
          <p:cNvPr id="1057" name="矩形"/>
          <p:cNvSpPr/>
          <p:nvPr/>
        </p:nvSpPr>
        <p:spPr>
          <a:xfrm>
            <a:off x="5981700" y="3467098"/>
            <a:ext cx="3848100" cy="771529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2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058" name="在未消费运行时观测前，用 score_breakdown 建立先验排序，并保留 Top-K 多样性。"/>
          <p:cNvSpPr txBox="1"/>
          <p:nvPr/>
        </p:nvSpPr>
        <p:spPr>
          <a:xfrm>
            <a:off x="5981700" y="3467098"/>
            <a:ext cx="384810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在未消费运行时观测前，用 score_breakdown 建立先验排序，并保留 Top-K 多样性。</a:t>
            </a:r>
          </a:p>
        </p:txBody>
      </p:sp>
      <p:sp>
        <p:nvSpPr>
          <p:cNvPr id="1059" name="矩形"/>
          <p:cNvSpPr/>
          <p:nvPr/>
        </p:nvSpPr>
        <p:spPr>
          <a:xfrm>
            <a:off x="1809750" y="4810125"/>
            <a:ext cx="8572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500">
                <a:solidFill>
                  <a:srgbClr val="082B6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60" name="S_static = f(feasibility, objective, cost, risk, recovery_complexity, reliability)"/>
          <p:cNvSpPr txBox="1"/>
          <p:nvPr/>
        </p:nvSpPr>
        <p:spPr>
          <a:xfrm>
            <a:off x="2493680" y="4810125"/>
            <a:ext cx="7204640" cy="213469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1800" i="1">
                          <a:solidFill>
                            <a:srgbClr val="082B6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</m:e>
                    <m:sub>
                      <m:r>
                        <a:rPr xmlns:a="http://schemas.openxmlformats.org/drawingml/2006/main" sz="1800" i="1">
                          <a:solidFill>
                            <a:srgbClr val="082B60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xmlns:a="http://schemas.openxmlformats.org/drawingml/2006/main" sz="1800" i="1">
                          <a:solidFill>
                            <a:srgbClr val="082B6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xmlns:a="http://schemas.openxmlformats.org/drawingml/2006/main" sz="1800" i="1">
                          <a:solidFill>
                            <a:srgbClr val="082B60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xmlns:a="http://schemas.openxmlformats.org/drawingml/2006/main" sz="1800" i="1">
                          <a:solidFill>
                            <a:srgbClr val="082B6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xmlns:a="http://schemas.openxmlformats.org/drawingml/2006/main" sz="1800" i="1">
                          <a:solidFill>
                            <a:srgbClr val="082B60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xmlns:a="http://schemas.openxmlformats.org/drawingml/2006/main" sz="1800" i="1">
                          <a:solidFill>
                            <a:srgbClr val="082B6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</m:sub>
                  </m:sSub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𝑓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𝑓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𝑒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𝑎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𝑠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𝑖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𝑏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𝑖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𝑙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𝑖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𝑡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𝑦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,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𝑜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𝑏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𝑗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𝑒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𝑐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𝑡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𝑖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𝑣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𝑒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,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𝑐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𝑜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𝑠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𝑡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,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𝑟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𝑖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𝑠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𝑘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,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𝑟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𝑒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𝑐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𝑜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𝑣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𝑒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𝑟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𝑦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_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𝑐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𝑜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𝑚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𝑝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𝑙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𝑒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𝑥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𝑖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𝑡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𝑦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,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𝑟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𝑒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𝑙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𝑖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𝑎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𝑏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𝑖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𝑙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𝑖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𝑡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𝑦</m:t>
                  </m:r>
                  <m:r>
                    <a:rPr xmlns:a="http://schemas.openxmlformats.org/drawingml/2006/main" sz="1800" i="1">
                      <a:solidFill>
                        <a:srgbClr val="082B60"/>
                      </a:solidFill>
                      <a:latin typeface="Cambria Math" panose="02040503050406030204" pitchFamily="18" charset="0"/>
                    </a:rPr>
                    <m:t>)</m:t>
                  </m:r>
                </m:oMath>
              </m:oMathPara>
            </a14:m>
            <a:endParaRPr>
              <a:solidFill>
                <a:srgbClr val="082B60"/>
              </a:solidFill>
            </a:endParaRPr>
          </a:p>
        </p:txBody>
      </p:sp>
      <p:grpSp>
        <p:nvGrpSpPr>
          <p:cNvPr id="1063" name="矩形 1090"/>
          <p:cNvGrpSpPr/>
          <p:nvPr/>
        </p:nvGrpSpPr>
        <p:grpSpPr>
          <a:xfrm>
            <a:off x="11696700" y="6419850"/>
            <a:ext cx="323850" cy="266700"/>
            <a:chOff x="0" y="0"/>
            <a:chExt cx="323850" cy="266700"/>
          </a:xfrm>
        </p:grpSpPr>
        <p:sp>
          <p:nvSpPr>
            <p:cNvPr id="1061" name="矩形"/>
            <p:cNvSpPr/>
            <p:nvPr/>
          </p:nvSpPr>
          <p:spPr>
            <a:xfrm>
              <a:off x="0" y="0"/>
              <a:ext cx="3238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>
                <a:defRPr b="1" sz="1300">
                  <a:solidFill>
                    <a:srgbClr val="8A8A8A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062" name="9"/>
            <p:cNvSpPr txBox="1"/>
            <p:nvPr/>
          </p:nvSpPr>
          <p:spPr>
            <a:xfrm>
              <a:off x="0" y="0"/>
              <a:ext cx="323850" cy="1850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300">
                  <a:solidFill>
                    <a:srgbClr val="8A8A8A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5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066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pic>
        <p:nvPicPr>
          <p:cNvPr id="1067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24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1068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69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0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1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2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3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4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5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6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7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8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9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80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81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82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83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84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85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86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87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88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89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90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91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92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93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94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95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96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97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98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99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00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01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02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03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04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05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06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07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08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09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10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11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12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13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14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15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16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17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18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19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20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21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22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23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24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25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26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27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28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29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30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31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32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33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34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35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36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137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63"/>
          </a:xfrm>
          <a:prstGeom prst="rect">
            <a:avLst/>
          </a:prstGeom>
          <a:ln w="12700">
            <a:miter lim="400000"/>
          </a:ln>
        </p:spPr>
      </p:pic>
      <p:sp>
        <p:nvSpPr>
          <p:cNvPr id="1138" name="矩形"/>
          <p:cNvSpPr/>
          <p:nvPr/>
        </p:nvSpPr>
        <p:spPr>
          <a:xfrm>
            <a:off x="1000125" y="200025"/>
            <a:ext cx="7239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 anchor="ctr"/>
          <a:lstStyle/>
          <a:p>
            <a:pPr>
              <a:defRPr b="1" sz="2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139" name="Lite belief-state：把稀疏观测压缩成可解释状态"/>
          <p:cNvSpPr txBox="1"/>
          <p:nvPr/>
        </p:nvSpPr>
        <p:spPr>
          <a:xfrm>
            <a:off x="1000125" y="238123"/>
            <a:ext cx="7239000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Lite belief-state：把稀疏观测压缩成可解释状态</a:t>
            </a:r>
          </a:p>
        </p:txBody>
      </p:sp>
      <p:sp>
        <p:nvSpPr>
          <p:cNvPr id="1140" name="矩形"/>
          <p:cNvSpPr/>
          <p:nvPr/>
        </p:nvSpPr>
        <p:spPr>
          <a:xfrm>
            <a:off x="8667750" y="2286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 anchor="ctr"/>
          <a:lstStyle/>
          <a:p>
            <a:pPr algn="ctr">
              <a:defRPr b="1"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41" name="RUNTIME STATE"/>
          <p:cNvSpPr txBox="1"/>
          <p:nvPr/>
        </p:nvSpPr>
        <p:spPr>
          <a:xfrm>
            <a:off x="8667750" y="269871"/>
            <a:ext cx="142875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RUNTIME STATE</a:t>
            </a:r>
          </a:p>
        </p:txBody>
      </p:sp>
      <p:sp>
        <p:nvSpPr>
          <p:cNvPr id="1142" name="圆角矩形 985"/>
          <p:cNvSpPr/>
          <p:nvPr/>
        </p:nvSpPr>
        <p:spPr>
          <a:xfrm>
            <a:off x="666750" y="1104900"/>
            <a:ext cx="2333625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1143" name="矩形"/>
          <p:cNvSpPr/>
          <p:nvPr/>
        </p:nvSpPr>
        <p:spPr>
          <a:xfrm>
            <a:off x="838200" y="1190621"/>
            <a:ext cx="1990725" cy="1905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144" name="StepResult"/>
          <p:cNvSpPr txBox="1"/>
          <p:nvPr/>
        </p:nvSpPr>
        <p:spPr>
          <a:xfrm>
            <a:off x="838200" y="1190624"/>
            <a:ext cx="1990725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StepResult</a:t>
            </a:r>
          </a:p>
        </p:txBody>
      </p:sp>
      <p:sp>
        <p:nvSpPr>
          <p:cNvPr id="1145" name="矩形"/>
          <p:cNvSpPr/>
          <p:nvPr/>
        </p:nvSpPr>
        <p:spPr>
          <a:xfrm>
            <a:off x="838200" y="1419224"/>
            <a:ext cx="1990725" cy="2476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146" name="outputs / metrics / errors"/>
          <p:cNvSpPr txBox="1"/>
          <p:nvPr/>
        </p:nvSpPr>
        <p:spPr>
          <a:xfrm>
            <a:off x="838200" y="1419221"/>
            <a:ext cx="199072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outputs / metrics / errors</a:t>
            </a:r>
          </a:p>
        </p:txBody>
      </p:sp>
      <p:sp>
        <p:nvSpPr>
          <p:cNvPr id="1147" name="矩形"/>
          <p:cNvSpPr/>
          <p:nvPr/>
        </p:nvSpPr>
        <p:spPr>
          <a:xfrm>
            <a:off x="3048000" y="1238250"/>
            <a:ext cx="2667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600">
                <a:solidFill>
                  <a:srgbClr val="9DC3E6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48" name="→"/>
          <p:cNvSpPr txBox="1"/>
          <p:nvPr/>
        </p:nvSpPr>
        <p:spPr>
          <a:xfrm>
            <a:off x="3048000" y="1238250"/>
            <a:ext cx="266700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600">
                <a:solidFill>
                  <a:srgbClr val="9DC3E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1149" name="圆角矩形 989"/>
          <p:cNvSpPr/>
          <p:nvPr/>
        </p:nvSpPr>
        <p:spPr>
          <a:xfrm>
            <a:off x="666750" y="1885950"/>
            <a:ext cx="2333625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1150" name="矩形"/>
          <p:cNvSpPr/>
          <p:nvPr/>
        </p:nvSpPr>
        <p:spPr>
          <a:xfrm>
            <a:off x="838200" y="1971673"/>
            <a:ext cx="1990725" cy="1905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151" name="SafetyResult"/>
          <p:cNvSpPr txBox="1"/>
          <p:nvPr/>
        </p:nvSpPr>
        <p:spPr>
          <a:xfrm>
            <a:off x="838200" y="1971674"/>
            <a:ext cx="1990725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SafetyResult</a:t>
            </a:r>
          </a:p>
        </p:txBody>
      </p:sp>
      <p:sp>
        <p:nvSpPr>
          <p:cNvPr id="1152" name="矩形"/>
          <p:cNvSpPr/>
          <p:nvPr/>
        </p:nvSpPr>
        <p:spPr>
          <a:xfrm>
            <a:off x="838200" y="2200274"/>
            <a:ext cx="1990725" cy="2476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153" name="risk_flags / action"/>
          <p:cNvSpPr txBox="1"/>
          <p:nvPr/>
        </p:nvSpPr>
        <p:spPr>
          <a:xfrm>
            <a:off x="838200" y="2200273"/>
            <a:ext cx="199072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risk_flags / action</a:t>
            </a:r>
          </a:p>
        </p:txBody>
      </p:sp>
      <p:sp>
        <p:nvSpPr>
          <p:cNvPr id="1154" name="矩形"/>
          <p:cNvSpPr/>
          <p:nvPr/>
        </p:nvSpPr>
        <p:spPr>
          <a:xfrm>
            <a:off x="3048000" y="2019300"/>
            <a:ext cx="2667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600">
                <a:solidFill>
                  <a:srgbClr val="9DC3E6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55" name="→"/>
          <p:cNvSpPr txBox="1"/>
          <p:nvPr/>
        </p:nvSpPr>
        <p:spPr>
          <a:xfrm>
            <a:off x="3048000" y="2019300"/>
            <a:ext cx="266700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600">
                <a:solidFill>
                  <a:srgbClr val="9DC3E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1156" name="圆角矩形 993"/>
          <p:cNvSpPr/>
          <p:nvPr/>
        </p:nvSpPr>
        <p:spPr>
          <a:xfrm>
            <a:off x="666750" y="2667000"/>
            <a:ext cx="2333625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1157" name="矩形"/>
          <p:cNvSpPr/>
          <p:nvPr/>
        </p:nvSpPr>
        <p:spPr>
          <a:xfrm>
            <a:off x="838200" y="2752723"/>
            <a:ext cx="1990725" cy="1905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158" name="failure context"/>
          <p:cNvSpPr txBox="1"/>
          <p:nvPr/>
        </p:nvSpPr>
        <p:spPr>
          <a:xfrm>
            <a:off x="838200" y="2752724"/>
            <a:ext cx="1990725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failure context</a:t>
            </a:r>
          </a:p>
        </p:txBody>
      </p:sp>
      <p:sp>
        <p:nvSpPr>
          <p:cNvPr id="1159" name="矩形"/>
          <p:cNvSpPr/>
          <p:nvPr/>
        </p:nvSpPr>
        <p:spPr>
          <a:xfrm>
            <a:off x="838200" y="2981324"/>
            <a:ext cx="1990725" cy="2476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160" name="patch / replan history"/>
          <p:cNvSpPr txBox="1"/>
          <p:nvPr/>
        </p:nvSpPr>
        <p:spPr>
          <a:xfrm>
            <a:off x="838200" y="2981323"/>
            <a:ext cx="199072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patch / replan history</a:t>
            </a:r>
          </a:p>
        </p:txBody>
      </p:sp>
      <p:sp>
        <p:nvSpPr>
          <p:cNvPr id="1161" name="矩形"/>
          <p:cNvSpPr/>
          <p:nvPr/>
        </p:nvSpPr>
        <p:spPr>
          <a:xfrm>
            <a:off x="3048000" y="2800350"/>
            <a:ext cx="2667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600">
                <a:solidFill>
                  <a:srgbClr val="9DC3E6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62" name="→"/>
          <p:cNvSpPr txBox="1"/>
          <p:nvPr/>
        </p:nvSpPr>
        <p:spPr>
          <a:xfrm>
            <a:off x="3048000" y="2800350"/>
            <a:ext cx="266700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600">
                <a:solidFill>
                  <a:srgbClr val="9DC3E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1163" name="圆角矩形 997"/>
          <p:cNvSpPr/>
          <p:nvPr/>
        </p:nvSpPr>
        <p:spPr>
          <a:xfrm>
            <a:off x="666750" y="3448050"/>
            <a:ext cx="2333625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1164" name="矩形"/>
          <p:cNvSpPr/>
          <p:nvPr/>
        </p:nvSpPr>
        <p:spPr>
          <a:xfrm>
            <a:off x="838200" y="3533773"/>
            <a:ext cx="1990725" cy="1905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165" name="budget &amp; progress"/>
          <p:cNvSpPr txBox="1"/>
          <p:nvPr/>
        </p:nvSpPr>
        <p:spPr>
          <a:xfrm>
            <a:off x="838200" y="3533773"/>
            <a:ext cx="1990725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budget &amp; progress</a:t>
            </a:r>
          </a:p>
        </p:txBody>
      </p:sp>
      <p:sp>
        <p:nvSpPr>
          <p:cNvPr id="1166" name="矩形"/>
          <p:cNvSpPr/>
          <p:nvPr/>
        </p:nvSpPr>
        <p:spPr>
          <a:xfrm>
            <a:off x="838200" y="3762373"/>
            <a:ext cx="1990725" cy="2476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167" name="remaining suffix"/>
          <p:cNvSpPr txBox="1"/>
          <p:nvPr/>
        </p:nvSpPr>
        <p:spPr>
          <a:xfrm>
            <a:off x="838200" y="3762373"/>
            <a:ext cx="199072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remaining suffix</a:t>
            </a:r>
          </a:p>
        </p:txBody>
      </p:sp>
      <p:sp>
        <p:nvSpPr>
          <p:cNvPr id="1168" name="矩形"/>
          <p:cNvSpPr/>
          <p:nvPr/>
        </p:nvSpPr>
        <p:spPr>
          <a:xfrm>
            <a:off x="3048000" y="3581400"/>
            <a:ext cx="2667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600">
                <a:solidFill>
                  <a:srgbClr val="9DC3E6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69" name="→"/>
          <p:cNvSpPr txBox="1"/>
          <p:nvPr/>
        </p:nvSpPr>
        <p:spPr>
          <a:xfrm>
            <a:off x="3048000" y="3581400"/>
            <a:ext cx="266700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600">
                <a:solidFill>
                  <a:srgbClr val="9DC3E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1170" name="圆角矩形 1001"/>
          <p:cNvSpPr/>
          <p:nvPr/>
        </p:nvSpPr>
        <p:spPr>
          <a:xfrm>
            <a:off x="666750" y="4229100"/>
            <a:ext cx="2333625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1171" name="矩形"/>
          <p:cNvSpPr/>
          <p:nvPr/>
        </p:nvSpPr>
        <p:spPr>
          <a:xfrm>
            <a:off x="838200" y="4314823"/>
            <a:ext cx="1990725" cy="1905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172" name="HITL Decision"/>
          <p:cNvSpPr txBox="1"/>
          <p:nvPr/>
        </p:nvSpPr>
        <p:spPr>
          <a:xfrm>
            <a:off x="838200" y="4314823"/>
            <a:ext cx="1990725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HITL Decision</a:t>
            </a:r>
          </a:p>
        </p:txBody>
      </p:sp>
      <p:sp>
        <p:nvSpPr>
          <p:cNvPr id="1173" name="矩形"/>
          <p:cNvSpPr/>
          <p:nvPr/>
        </p:nvSpPr>
        <p:spPr>
          <a:xfrm>
            <a:off x="838200" y="4543423"/>
            <a:ext cx="1990725" cy="2476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174" name="accepted candidate"/>
          <p:cNvSpPr txBox="1"/>
          <p:nvPr/>
        </p:nvSpPr>
        <p:spPr>
          <a:xfrm>
            <a:off x="838200" y="4543423"/>
            <a:ext cx="199072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accepted candidate</a:t>
            </a:r>
          </a:p>
        </p:txBody>
      </p:sp>
      <p:sp>
        <p:nvSpPr>
          <p:cNvPr id="1175" name="矩形"/>
          <p:cNvSpPr/>
          <p:nvPr/>
        </p:nvSpPr>
        <p:spPr>
          <a:xfrm>
            <a:off x="3048000" y="4362450"/>
            <a:ext cx="2667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600">
                <a:solidFill>
                  <a:srgbClr val="9DC3E6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76" name="→"/>
          <p:cNvSpPr txBox="1"/>
          <p:nvPr/>
        </p:nvSpPr>
        <p:spPr>
          <a:xfrm>
            <a:off x="3048000" y="4362450"/>
            <a:ext cx="266700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600">
                <a:solidFill>
                  <a:srgbClr val="9DC3E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1177" name="圆角矩形 1005"/>
          <p:cNvSpPr/>
          <p:nvPr/>
        </p:nvSpPr>
        <p:spPr>
          <a:xfrm>
            <a:off x="3714750" y="1619250"/>
            <a:ext cx="2333625" cy="2286000"/>
          </a:xfrm>
          <a:prstGeom prst="roundRect">
            <a:avLst>
              <a:gd name="adj" fmla="val 3333"/>
            </a:avLst>
          </a:prstGeom>
          <a:solidFill>
            <a:srgbClr val="0052A5"/>
          </a:solidFill>
          <a:ln>
            <a:solidFill>
              <a:srgbClr val="0052A5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1178" name="矩形"/>
          <p:cNvSpPr/>
          <p:nvPr/>
        </p:nvSpPr>
        <p:spPr>
          <a:xfrm>
            <a:off x="3886200" y="1752600"/>
            <a:ext cx="19907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5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179" name="Lite belief-state"/>
          <p:cNvSpPr txBox="1"/>
          <p:nvPr/>
        </p:nvSpPr>
        <p:spPr>
          <a:xfrm>
            <a:off x="3886200" y="1752600"/>
            <a:ext cx="1990725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5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Lite belief-state</a:t>
            </a:r>
          </a:p>
        </p:txBody>
      </p:sp>
      <p:sp>
        <p:nvSpPr>
          <p:cNvPr id="1180" name="矩形"/>
          <p:cNvSpPr/>
          <p:nvPr/>
        </p:nvSpPr>
        <p:spPr>
          <a:xfrm>
            <a:off x="3886200" y="2057399"/>
            <a:ext cx="1990725" cy="1771652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181" name="x_t = [s, f, r, c, e]…"/>
          <p:cNvSpPr txBox="1"/>
          <p:nvPr/>
        </p:nvSpPr>
        <p:spPr>
          <a:xfrm>
            <a:off x="3886200" y="2057398"/>
            <a:ext cx="1990725" cy="12327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14:m>
              <m:oMathPara>
                <m:oMathParaPr>
                  <m:jc m:val="center"/>
                </m:oMathParaPr>
                <m:oMath>
                  <m:sSub>
                    <m:e>
                      <m:r>
                        <a:rPr xmlns:a="http://schemas.openxmlformats.org/drawingml/2006/main" sz="1450" i="1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</m:e>
                    <m:sub>
                      <m:r>
                        <a:rPr xmlns:a="http://schemas.openxmlformats.org/drawingml/2006/main" sz="1450" i="1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</m:sub>
                  </m:sSub>
                  <m:r>
                    <a:rPr xmlns:a="http://schemas.openxmlformats.org/drawingml/2006/main" sz="1450" i="1">
                      <a:solidFill>
                        <a:srgbClr val="FFFFFF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1450" i="1">
                      <a:solidFill>
                        <a:srgbClr val="FFFFFF"/>
                      </a:solidFill>
                      <a:latin typeface="Cambria Math" panose="02040503050406030204" pitchFamily="18" charset="0"/>
                    </a:rPr>
                    <m:t>[</m:t>
                  </m:r>
                  <m:r>
                    <a:rPr xmlns:a="http://schemas.openxmlformats.org/drawingml/2006/main" sz="1450" i="1">
                      <a:solidFill>
                        <a:srgbClr val="FFFFFF"/>
                      </a:solidFill>
                      <a:latin typeface="Cambria Math" panose="02040503050406030204" pitchFamily="18" charset="0"/>
                    </a:rPr>
                    <m:t>s</m:t>
                  </m:r>
                  <m:r>
                    <a:rPr xmlns:a="http://schemas.openxmlformats.org/drawingml/2006/main" sz="1450" i="1">
                      <a:solidFill>
                        <a:srgbClr val="FFFFFF"/>
                      </a:solidFill>
                      <a:latin typeface="Cambria Math" panose="02040503050406030204" pitchFamily="18" charset="0"/>
                    </a:rPr>
                    <m:t>,</m:t>
                  </m:r>
                  <m:r>
                    <a:rPr xmlns:a="http://schemas.openxmlformats.org/drawingml/2006/main" sz="1450" i="1">
                      <a:solidFill>
                        <a:srgbClr val="FFFFFF"/>
                      </a:solidFill>
                      <a:latin typeface="Cambria Math" panose="02040503050406030204" pitchFamily="18" charset="0"/>
                    </a:rPr>
                    <m:t>f</m:t>
                  </m:r>
                  <m:r>
                    <a:rPr xmlns:a="http://schemas.openxmlformats.org/drawingml/2006/main" sz="1450" i="1">
                      <a:solidFill>
                        <a:srgbClr val="FFFFFF"/>
                      </a:solidFill>
                      <a:latin typeface="Cambria Math" panose="02040503050406030204" pitchFamily="18" charset="0"/>
                    </a:rPr>
                    <m:t>,</m:t>
                  </m:r>
                  <m:r>
                    <a:rPr xmlns:a="http://schemas.openxmlformats.org/drawingml/2006/main" sz="1450" i="1">
                      <a:solidFill>
                        <a:srgbClr val="FFFFFF"/>
                      </a:solidFill>
                      <a:latin typeface="Cambria Math" panose="02040503050406030204" pitchFamily="18" charset="0"/>
                    </a:rPr>
                    <m:t>r</m:t>
                  </m:r>
                  <m:r>
                    <a:rPr xmlns:a="http://schemas.openxmlformats.org/drawingml/2006/main" sz="1450" i="1">
                      <a:solidFill>
                        <a:srgbClr val="FFFFFF"/>
                      </a:solidFill>
                      <a:latin typeface="Cambria Math" panose="02040503050406030204" pitchFamily="18" charset="0"/>
                    </a:rPr>
                    <m:t>,</m:t>
                  </m:r>
                  <m:r>
                    <a:rPr xmlns:a="http://schemas.openxmlformats.org/drawingml/2006/main" sz="1450" i="1">
                      <a:solidFill>
                        <a:srgbClr val="FFFFFF"/>
                      </a:solidFill>
                      <a:latin typeface="Cambria Math" panose="02040503050406030204" pitchFamily="18" charset="0"/>
                    </a:rPr>
                    <m:t>c</m:t>
                  </m:r>
                  <m:r>
                    <a:rPr xmlns:a="http://schemas.openxmlformats.org/drawingml/2006/main" sz="1450" i="1">
                      <a:solidFill>
                        <a:srgbClr val="FFFFFF"/>
                      </a:solidFill>
                      <a:latin typeface="Cambria Math" panose="02040503050406030204" pitchFamily="18" charset="0"/>
                    </a:rPr>
                    <m:t>,</m:t>
                  </m:r>
                  <m:r>
                    <a:rPr xmlns:a="http://schemas.openxmlformats.org/drawingml/2006/main" sz="1450" i="1">
                      <a:solidFill>
                        <a:srgbClr val="FFFFFF"/>
                      </a:solidFill>
                      <a:latin typeface="Cambria Math" panose="02040503050406030204" pitchFamily="18" charset="0"/>
                    </a:rPr>
                    <m:t>e</m:t>
                  </m:r>
                  <m:r>
                    <a:rPr xmlns:a="http://schemas.openxmlformats.org/drawingml/2006/main" sz="1450" i="1">
                      <a:solidFill>
                        <a:srgbClr val="FFFFFF"/>
                      </a:solidFill>
                      <a:latin typeface="Cambria Math" panose="02040503050406030204" pitchFamily="18" charset="0"/>
                    </a:rPr>
                    <m:t>]</m:t>
                  </m:r>
                </m:oMath>
              </m:oMathPara>
            </a14:m>
          </a:p>
          <a:p>
            <a:pPr algn="ctr">
              <a:defRPr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  <a:p>
            <a:pPr algn="ctr">
              <a:defRPr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可解释</a:t>
            </a:r>
          </a:p>
          <a:p>
            <a:pPr algn="ctr">
              <a:defRPr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可序列化</a:t>
            </a:r>
          </a:p>
          <a:p>
            <a:pPr algn="ctr">
              <a:defRPr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可进入 Snapshot</a:t>
            </a:r>
          </a:p>
          <a:p>
            <a:pPr algn="ctr">
              <a:defRPr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可在实验中观察</a:t>
            </a:r>
          </a:p>
        </p:txBody>
      </p:sp>
      <p:sp>
        <p:nvSpPr>
          <p:cNvPr id="1182" name="圆角矩形 1008"/>
          <p:cNvSpPr/>
          <p:nvPr/>
        </p:nvSpPr>
        <p:spPr>
          <a:xfrm>
            <a:off x="6477000" y="1104900"/>
            <a:ext cx="4095750" cy="609600"/>
          </a:xfrm>
          <a:prstGeom prst="roundRect">
            <a:avLst>
              <a:gd name="adj" fmla="val 12500"/>
            </a:avLst>
          </a:prstGeom>
          <a:solidFill>
            <a:srgbClr val="EAF3FF"/>
          </a:solidFill>
          <a:ln>
            <a:solidFill>
              <a:srgbClr val="9DC3E6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1183" name="矩形"/>
          <p:cNvSpPr/>
          <p:nvPr/>
        </p:nvSpPr>
        <p:spPr>
          <a:xfrm>
            <a:off x="6667500" y="1295399"/>
            <a:ext cx="1952625" cy="2095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1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84" name="p_success"/>
          <p:cNvSpPr txBox="1"/>
          <p:nvPr/>
        </p:nvSpPr>
        <p:spPr>
          <a:xfrm>
            <a:off x="6667500" y="1295396"/>
            <a:ext cx="1952625" cy="147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1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p_success</a:t>
            </a:r>
          </a:p>
        </p:txBody>
      </p:sp>
      <p:sp>
        <p:nvSpPr>
          <p:cNvPr id="1185" name="矩形"/>
          <p:cNvSpPr/>
          <p:nvPr/>
        </p:nvSpPr>
        <p:spPr>
          <a:xfrm>
            <a:off x="8715375" y="1295399"/>
            <a:ext cx="1666875" cy="2095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186" name="完成任务的代理概率"/>
          <p:cNvSpPr txBox="1"/>
          <p:nvPr/>
        </p:nvSpPr>
        <p:spPr>
          <a:xfrm>
            <a:off x="8715375" y="1295396"/>
            <a:ext cx="166687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完成任务的代理概率</a:t>
            </a:r>
          </a:p>
        </p:txBody>
      </p:sp>
      <p:sp>
        <p:nvSpPr>
          <p:cNvPr id="1187" name="圆角矩形 1011"/>
          <p:cNvSpPr/>
          <p:nvPr/>
        </p:nvSpPr>
        <p:spPr>
          <a:xfrm>
            <a:off x="6477000" y="1885950"/>
            <a:ext cx="409575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1188" name="矩形"/>
          <p:cNvSpPr/>
          <p:nvPr/>
        </p:nvSpPr>
        <p:spPr>
          <a:xfrm>
            <a:off x="6667500" y="2076449"/>
            <a:ext cx="1952625" cy="2095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1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89" name="p_structural_failure"/>
          <p:cNvSpPr txBox="1"/>
          <p:nvPr/>
        </p:nvSpPr>
        <p:spPr>
          <a:xfrm>
            <a:off x="6667500" y="2076448"/>
            <a:ext cx="1952625" cy="147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1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p_structural_failure</a:t>
            </a:r>
          </a:p>
        </p:txBody>
      </p:sp>
      <p:sp>
        <p:nvSpPr>
          <p:cNvPr id="1190" name="矩形"/>
          <p:cNvSpPr/>
          <p:nvPr/>
        </p:nvSpPr>
        <p:spPr>
          <a:xfrm>
            <a:off x="8715375" y="2076449"/>
            <a:ext cx="1666875" cy="2095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191" name="结构性失败压力"/>
          <p:cNvSpPr txBox="1"/>
          <p:nvPr/>
        </p:nvSpPr>
        <p:spPr>
          <a:xfrm>
            <a:off x="8715375" y="2076448"/>
            <a:ext cx="166687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结构性失败压力</a:t>
            </a:r>
          </a:p>
        </p:txBody>
      </p:sp>
      <p:sp>
        <p:nvSpPr>
          <p:cNvPr id="1192" name="圆角矩形 1014"/>
          <p:cNvSpPr/>
          <p:nvPr/>
        </p:nvSpPr>
        <p:spPr>
          <a:xfrm>
            <a:off x="6477000" y="2667000"/>
            <a:ext cx="4095750" cy="609600"/>
          </a:xfrm>
          <a:prstGeom prst="roundRect">
            <a:avLst>
              <a:gd name="adj" fmla="val 12500"/>
            </a:avLst>
          </a:prstGeom>
          <a:solidFill>
            <a:srgbClr val="EAF3FF"/>
          </a:solidFill>
          <a:ln>
            <a:solidFill>
              <a:srgbClr val="9DC3E6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1193" name="矩形"/>
          <p:cNvSpPr/>
          <p:nvPr/>
        </p:nvSpPr>
        <p:spPr>
          <a:xfrm>
            <a:off x="6667500" y="2857499"/>
            <a:ext cx="1952625" cy="2095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1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94" name="recovery_margin"/>
          <p:cNvSpPr txBox="1"/>
          <p:nvPr/>
        </p:nvSpPr>
        <p:spPr>
          <a:xfrm>
            <a:off x="6667500" y="2857498"/>
            <a:ext cx="1952625" cy="147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1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recovery_margin</a:t>
            </a:r>
          </a:p>
        </p:txBody>
      </p:sp>
      <p:sp>
        <p:nvSpPr>
          <p:cNvPr id="1195" name="矩形"/>
          <p:cNvSpPr/>
          <p:nvPr/>
        </p:nvSpPr>
        <p:spPr>
          <a:xfrm>
            <a:off x="8715375" y="2857499"/>
            <a:ext cx="1666875" cy="2095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196" name="保留前缀继续恢复的余量"/>
          <p:cNvSpPr txBox="1"/>
          <p:nvPr/>
        </p:nvSpPr>
        <p:spPr>
          <a:xfrm>
            <a:off x="8715375" y="2857498"/>
            <a:ext cx="166687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保留前缀继续恢复的余量</a:t>
            </a:r>
          </a:p>
        </p:txBody>
      </p:sp>
      <p:sp>
        <p:nvSpPr>
          <p:cNvPr id="1197" name="圆角矩形 1017"/>
          <p:cNvSpPr/>
          <p:nvPr/>
        </p:nvSpPr>
        <p:spPr>
          <a:xfrm>
            <a:off x="6477000" y="3448050"/>
            <a:ext cx="409575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1198" name="矩形"/>
          <p:cNvSpPr/>
          <p:nvPr/>
        </p:nvSpPr>
        <p:spPr>
          <a:xfrm>
            <a:off x="6667500" y="3638548"/>
            <a:ext cx="1952625" cy="2095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1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99" name="expected_remaining_cost"/>
          <p:cNvSpPr txBox="1"/>
          <p:nvPr/>
        </p:nvSpPr>
        <p:spPr>
          <a:xfrm>
            <a:off x="6667500" y="3638548"/>
            <a:ext cx="1952625" cy="147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1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expected_remaining_cost</a:t>
            </a:r>
          </a:p>
        </p:txBody>
      </p:sp>
      <p:sp>
        <p:nvSpPr>
          <p:cNvPr id="1200" name="矩形"/>
          <p:cNvSpPr/>
          <p:nvPr/>
        </p:nvSpPr>
        <p:spPr>
          <a:xfrm>
            <a:off x="8715375" y="3638548"/>
            <a:ext cx="1666875" cy="2095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201" name="预期剩余成本"/>
          <p:cNvSpPr txBox="1"/>
          <p:nvPr/>
        </p:nvSpPr>
        <p:spPr>
          <a:xfrm>
            <a:off x="8715375" y="3638548"/>
            <a:ext cx="166687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预期剩余成本</a:t>
            </a:r>
          </a:p>
        </p:txBody>
      </p:sp>
      <p:sp>
        <p:nvSpPr>
          <p:cNvPr id="1202" name="圆角矩形 1020"/>
          <p:cNvSpPr/>
          <p:nvPr/>
        </p:nvSpPr>
        <p:spPr>
          <a:xfrm>
            <a:off x="6477000" y="4229100"/>
            <a:ext cx="4095750" cy="609600"/>
          </a:xfrm>
          <a:prstGeom prst="roundRect">
            <a:avLst>
              <a:gd name="adj" fmla="val 12500"/>
            </a:avLst>
          </a:prstGeom>
          <a:solidFill>
            <a:srgbClr val="EAF3FF"/>
          </a:solidFill>
          <a:ln>
            <a:solidFill>
              <a:srgbClr val="9DC3E6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1203" name="矩形"/>
          <p:cNvSpPr/>
          <p:nvPr/>
        </p:nvSpPr>
        <p:spPr>
          <a:xfrm>
            <a:off x="6667500" y="4419598"/>
            <a:ext cx="1952625" cy="2095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1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04" name="evidence_sufficiency"/>
          <p:cNvSpPr txBox="1"/>
          <p:nvPr/>
        </p:nvSpPr>
        <p:spPr>
          <a:xfrm>
            <a:off x="6667500" y="4419598"/>
            <a:ext cx="1952625" cy="147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1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evidence_sufficiency</a:t>
            </a:r>
          </a:p>
        </p:txBody>
      </p:sp>
      <p:sp>
        <p:nvSpPr>
          <p:cNvPr id="1205" name="矩形"/>
          <p:cNvSpPr/>
          <p:nvPr/>
        </p:nvSpPr>
        <p:spPr>
          <a:xfrm>
            <a:off x="8715375" y="4419598"/>
            <a:ext cx="1666875" cy="2095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206" name="证据是否足以进入高代价步骤"/>
          <p:cNvSpPr txBox="1"/>
          <p:nvPr/>
        </p:nvSpPr>
        <p:spPr>
          <a:xfrm>
            <a:off x="8715375" y="4419598"/>
            <a:ext cx="166687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证据是否足以进入高代价步骤</a:t>
            </a:r>
          </a:p>
        </p:txBody>
      </p:sp>
      <p:sp>
        <p:nvSpPr>
          <p:cNvPr id="1207" name="矩形"/>
          <p:cNvSpPr/>
          <p:nvPr/>
        </p:nvSpPr>
        <p:spPr>
          <a:xfrm>
            <a:off x="1524000" y="5314948"/>
            <a:ext cx="9048750" cy="3238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200">
                <a:solidFill>
                  <a:srgbClr val="082B6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208" name="当前实现采用确定性更新规则表：成功提高 s/r，失败提高 f/c，safety block 作为强负证据。"/>
          <p:cNvSpPr txBox="1"/>
          <p:nvPr/>
        </p:nvSpPr>
        <p:spPr>
          <a:xfrm>
            <a:off x="1524000" y="5314948"/>
            <a:ext cx="904875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082B6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当前实现采用确定性更新规则表：成功提高 s/r，失败提高 f/c，safety block 作为强负证据。</a:t>
            </a:r>
          </a:p>
        </p:txBody>
      </p:sp>
      <p:grpSp>
        <p:nvGrpSpPr>
          <p:cNvPr id="1211" name="矩形 1239"/>
          <p:cNvGrpSpPr/>
          <p:nvPr/>
        </p:nvGrpSpPr>
        <p:grpSpPr>
          <a:xfrm>
            <a:off x="11696700" y="6419850"/>
            <a:ext cx="323850" cy="266700"/>
            <a:chOff x="0" y="0"/>
            <a:chExt cx="323850" cy="266700"/>
          </a:xfrm>
        </p:grpSpPr>
        <p:sp>
          <p:nvSpPr>
            <p:cNvPr id="1209" name="矩形"/>
            <p:cNvSpPr/>
            <p:nvPr/>
          </p:nvSpPr>
          <p:spPr>
            <a:xfrm>
              <a:off x="0" y="0"/>
              <a:ext cx="3238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>
                <a:defRPr b="1" sz="1300">
                  <a:solidFill>
                    <a:srgbClr val="8A8A8A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210" name="10"/>
            <p:cNvSpPr txBox="1"/>
            <p:nvPr/>
          </p:nvSpPr>
          <p:spPr>
            <a:xfrm>
              <a:off x="0" y="0"/>
              <a:ext cx="323850" cy="1850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300">
                  <a:solidFill>
                    <a:srgbClr val="8A8A8A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3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214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15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24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1216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17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18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19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20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21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22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23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24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25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26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27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28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29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30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31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32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33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34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35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36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37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38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39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40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41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42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43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44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45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46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47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48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49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50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51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52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53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54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55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56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57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58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59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60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61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62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63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64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65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66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67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68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69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70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71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72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73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74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75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76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77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78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79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80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81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82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83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84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285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63"/>
          </a:xfrm>
          <a:prstGeom prst="rect">
            <a:avLst/>
          </a:prstGeom>
          <a:ln w="12700">
            <a:miter lim="400000"/>
          </a:ln>
        </p:spPr>
      </p:pic>
      <p:sp>
        <p:nvSpPr>
          <p:cNvPr id="1286" name="矩形"/>
          <p:cNvSpPr/>
          <p:nvPr/>
        </p:nvSpPr>
        <p:spPr>
          <a:xfrm>
            <a:off x="1000125" y="200025"/>
            <a:ext cx="7239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 anchor="ctr"/>
          <a:lstStyle/>
          <a:p>
            <a:pPr>
              <a:defRPr b="1" sz="2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287" name="动态决策：重排候选并选择恢复动作"/>
          <p:cNvSpPr txBox="1"/>
          <p:nvPr/>
        </p:nvSpPr>
        <p:spPr>
          <a:xfrm>
            <a:off x="1000125" y="238123"/>
            <a:ext cx="7239000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动态决策：重排候选并选择恢复动作</a:t>
            </a:r>
          </a:p>
        </p:txBody>
      </p:sp>
      <p:sp>
        <p:nvSpPr>
          <p:cNvPr id="1288" name="矩形"/>
          <p:cNvSpPr/>
          <p:nvPr/>
        </p:nvSpPr>
        <p:spPr>
          <a:xfrm>
            <a:off x="8667750" y="2286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 anchor="ctr"/>
          <a:lstStyle/>
          <a:p>
            <a:pPr algn="ctr">
              <a:defRPr b="1"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89" name="DECISION"/>
          <p:cNvSpPr txBox="1"/>
          <p:nvPr/>
        </p:nvSpPr>
        <p:spPr>
          <a:xfrm>
            <a:off x="8667750" y="269871"/>
            <a:ext cx="142875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DECISION</a:t>
            </a:r>
          </a:p>
        </p:txBody>
      </p:sp>
      <p:sp>
        <p:nvSpPr>
          <p:cNvPr id="1290" name="圆角矩形 985"/>
          <p:cNvSpPr/>
          <p:nvPr/>
        </p:nvSpPr>
        <p:spPr>
          <a:xfrm>
            <a:off x="838200" y="1143000"/>
            <a:ext cx="4762500" cy="1104900"/>
          </a:xfrm>
          <a:prstGeom prst="roundRect">
            <a:avLst>
              <a:gd name="adj" fmla="val 6897"/>
            </a:avLst>
          </a:prstGeom>
          <a:solidFill>
            <a:srgbClr val="EAF3FF"/>
          </a:solidFill>
          <a:ln>
            <a:solidFill>
              <a:srgbClr val="9DC3E6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1291" name="矩形"/>
          <p:cNvSpPr/>
          <p:nvPr/>
        </p:nvSpPr>
        <p:spPr>
          <a:xfrm>
            <a:off x="1009650" y="1276350"/>
            <a:ext cx="44196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292" name="候选重排"/>
          <p:cNvSpPr txBox="1"/>
          <p:nvPr/>
        </p:nvSpPr>
        <p:spPr>
          <a:xfrm>
            <a:off x="1009650" y="1276350"/>
            <a:ext cx="44196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候选重排</a:t>
            </a:r>
          </a:p>
        </p:txBody>
      </p:sp>
      <p:sp>
        <p:nvSpPr>
          <p:cNvPr id="1293" name="矩形"/>
          <p:cNvSpPr/>
          <p:nvPr/>
        </p:nvSpPr>
        <p:spPr>
          <a:xfrm>
            <a:off x="1009650" y="1581149"/>
            <a:ext cx="4419600" cy="5905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294" name="U_pi = clip(S_post + Delta, 0, 1)…"/>
          <p:cNvSpPr txBox="1"/>
          <p:nvPr/>
        </p:nvSpPr>
        <p:spPr>
          <a:xfrm>
            <a:off x="1009650" y="1581146"/>
            <a:ext cx="4419600" cy="6068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14:m>
              <m:oMathPara>
                <m:oMathParaPr>
                  <m:jc m:val="left"/>
                </m:oMathParaPr>
                <m:oMath>
                  <m:sSub>
                    <m:e>
                      <m:r>
                        <a:rPr xmlns:a="http://schemas.openxmlformats.org/drawingml/2006/main" sz="1300" i="1">
                          <a:solidFill>
                            <a:srgbClr val="46566A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</m:e>
                    <m:sub>
                      <m:r>
                        <a:rPr xmlns:a="http://schemas.openxmlformats.org/drawingml/2006/main" sz="1300" i="1">
                          <a:solidFill>
                            <a:srgbClr val="46566A"/>
                          </a:solidFill>
                          <a:latin typeface="Cambria Math" panose="02040503050406030204" pitchFamily="18" charset="0"/>
                        </a:rPr>
                        <m:t>π</m:t>
                      </m:r>
                    </m:sub>
                  </m:sSub>
                  <m:r>
                    <a:rPr xmlns:a="http://schemas.openxmlformats.org/drawingml/2006/main" sz="1300" i="1">
                      <a:solidFill>
                        <a:srgbClr val="46566A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1300" i="1">
                      <a:solidFill>
                        <a:srgbClr val="46566A"/>
                      </a:solidFill>
                      <a:latin typeface="Cambria Math" panose="02040503050406030204" pitchFamily="18" charset="0"/>
                    </a:rPr>
                    <m:t>c</m:t>
                  </m:r>
                  <m:r>
                    <a:rPr xmlns:a="http://schemas.openxmlformats.org/drawingml/2006/main" sz="1300" i="1">
                      <a:solidFill>
                        <a:srgbClr val="46566A"/>
                      </a:solidFill>
                      <a:latin typeface="Cambria Math" panose="02040503050406030204" pitchFamily="18" charset="0"/>
                    </a:rPr>
                    <m:t>l</m:t>
                  </m:r>
                  <m:r>
                    <a:rPr xmlns:a="http://schemas.openxmlformats.org/drawingml/2006/main" sz="1300" i="1">
                      <a:solidFill>
                        <a:srgbClr val="46566A"/>
                      </a:solidFill>
                      <a:latin typeface="Cambria Math" panose="02040503050406030204" pitchFamily="18" charset="0"/>
                    </a:rPr>
                    <m:t>i</m:t>
                  </m:r>
                  <m:r>
                    <a:rPr xmlns:a="http://schemas.openxmlformats.org/drawingml/2006/main" sz="1300" i="1">
                      <a:solidFill>
                        <a:srgbClr val="46566A"/>
                      </a:solidFill>
                      <a:latin typeface="Cambria Math" panose="02040503050406030204" pitchFamily="18" charset="0"/>
                    </a:rPr>
                    <m:t>p</m:t>
                  </m:r>
                  <m:r>
                    <a:rPr xmlns:a="http://schemas.openxmlformats.org/drawingml/2006/main" sz="1300" i="1">
                      <a:solidFill>
                        <a:srgbClr val="46566A"/>
                      </a:solidFill>
                      <a:latin typeface="Cambria Math" panose="02040503050406030204" pitchFamily="18" charset="0"/>
                    </a:rPr>
                    <m:t>(</m:t>
                  </m:r>
                  <m:sSub>
                    <m:e>
                      <m:r>
                        <a:rPr xmlns:a="http://schemas.openxmlformats.org/drawingml/2006/main" sz="1300" i="1">
                          <a:solidFill>
                            <a:srgbClr val="46566A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</m:e>
                    <m:sub>
                      <m:r>
                        <a:rPr xmlns:a="http://schemas.openxmlformats.org/drawingml/2006/main" sz="1300" i="1">
                          <a:solidFill>
                            <a:srgbClr val="46566A"/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  <m:r>
                        <a:rPr xmlns:a="http://schemas.openxmlformats.org/drawingml/2006/main" sz="1300" i="1">
                          <a:solidFill>
                            <a:srgbClr val="46566A"/>
                          </a:solidFill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xmlns:a="http://schemas.openxmlformats.org/drawingml/2006/main" sz="1300" i="1">
                          <a:solidFill>
                            <a:srgbClr val="46566A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xmlns:a="http://schemas.openxmlformats.org/drawingml/2006/main" sz="1300" i="1">
                          <a:solidFill>
                            <a:srgbClr val="46566A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</m:sub>
                  </m:sSub>
                  <m:r>
                    <a:rPr xmlns:a="http://schemas.openxmlformats.org/drawingml/2006/main" sz="1300" i="1">
                      <a:solidFill>
                        <a:srgbClr val="46566A"/>
                      </a:solidFill>
                      <a:latin typeface="Cambria Math" panose="02040503050406030204" pitchFamily="18" charset="0"/>
                    </a:rPr>
                    <m:t>+</m:t>
                  </m:r>
                  <m:r>
                    <m:rPr>
                      <m:sty m:val="p"/>
                    </m:rPr>
                    <a:rPr xmlns:a="http://schemas.openxmlformats.org/drawingml/2006/main" sz="1300" i="1">
                      <a:solidFill>
                        <a:srgbClr val="46566A"/>
                      </a:solidFill>
                      <a:latin typeface="Cambria Math" panose="02040503050406030204" pitchFamily="18" charset="0"/>
                    </a:rPr>
                    <m:t>Δ</m:t>
                  </m:r>
                  <m:r>
                    <a:rPr xmlns:a="http://schemas.openxmlformats.org/drawingml/2006/main" sz="1300" i="1">
                      <a:solidFill>
                        <a:srgbClr val="46566A"/>
                      </a:solidFill>
                      <a:latin typeface="Cambria Math" panose="02040503050406030204" pitchFamily="18" charset="0"/>
                    </a:rPr>
                    <m:t>,0,1</m:t>
                  </m:r>
                  <m:r>
                    <a:rPr xmlns:a="http://schemas.openxmlformats.org/drawingml/2006/main" sz="1300" i="1">
                      <a:solidFill>
                        <a:srgbClr val="46566A"/>
                      </a:solidFill>
                      <a:latin typeface="Cambria Math" panose="02040503050406030204" pitchFamily="18" charset="0"/>
                    </a:rPr>
                    <m:t>)</m:t>
                  </m:r>
                </m:oMath>
              </m:oMathPara>
            </a14:m>
          </a:p>
          <a:p>
            <a:pPr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Delta 是有界运行时修正，</a:t>
            </a:r>
          </a:p>
          <a:p>
            <a:pPr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只作用于已通过硬过滤的候选。</a:t>
            </a:r>
          </a:p>
        </p:txBody>
      </p:sp>
      <p:sp>
        <p:nvSpPr>
          <p:cNvPr id="1295" name="圆角矩形 988"/>
          <p:cNvSpPr/>
          <p:nvPr/>
        </p:nvSpPr>
        <p:spPr>
          <a:xfrm>
            <a:off x="6591300" y="1143000"/>
            <a:ext cx="3905250" cy="1104900"/>
          </a:xfrm>
          <a:prstGeom prst="roundRect">
            <a:avLst>
              <a:gd name="adj" fmla="val 6897"/>
            </a:avLst>
          </a:prstGeom>
          <a:solidFill>
            <a:srgbClr val="F5F9FE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1296" name="矩形"/>
          <p:cNvSpPr/>
          <p:nvPr/>
        </p:nvSpPr>
        <p:spPr>
          <a:xfrm>
            <a:off x="6762750" y="1276350"/>
            <a:ext cx="35623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297" name="动作选择"/>
          <p:cNvSpPr txBox="1"/>
          <p:nvPr/>
        </p:nvSpPr>
        <p:spPr>
          <a:xfrm>
            <a:off x="6762750" y="1276350"/>
            <a:ext cx="356235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动作选择</a:t>
            </a:r>
          </a:p>
        </p:txBody>
      </p:sp>
      <p:sp>
        <p:nvSpPr>
          <p:cNvPr id="1298" name="矩形"/>
          <p:cNvSpPr/>
          <p:nvPr/>
        </p:nvSpPr>
        <p:spPr>
          <a:xfrm>
            <a:off x="6762750" y="1581149"/>
            <a:ext cx="3562350" cy="5905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299" name="ActionUtility 根据状态、预算、…"/>
          <p:cNvSpPr txBox="1"/>
          <p:nvPr/>
        </p:nvSpPr>
        <p:spPr>
          <a:xfrm>
            <a:off x="6762750" y="1581146"/>
            <a:ext cx="3562350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ActionUtility 根据状态、预算、</a:t>
            </a:r>
          </a:p>
          <a:p>
            <a:pPr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恢复余量和候选形状选择下一步动作。</a:t>
            </a:r>
          </a:p>
        </p:txBody>
      </p:sp>
      <p:sp>
        <p:nvSpPr>
          <p:cNvPr id="1300" name="圆角矩形 991"/>
          <p:cNvSpPr/>
          <p:nvPr/>
        </p:nvSpPr>
        <p:spPr>
          <a:xfrm>
            <a:off x="876300" y="2952750"/>
            <a:ext cx="2190750" cy="1200150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>
            <a:solidFill>
              <a:srgbClr val="2F9D68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1301" name="矩形 992"/>
          <p:cNvSpPr/>
          <p:nvPr/>
        </p:nvSpPr>
        <p:spPr>
          <a:xfrm>
            <a:off x="876300" y="2952750"/>
            <a:ext cx="57150" cy="1200150"/>
          </a:xfrm>
          <a:prstGeom prst="rect">
            <a:avLst/>
          </a:prstGeom>
          <a:solidFill>
            <a:srgbClr val="2F9D68"/>
          </a:solidFill>
          <a:ln w="3175">
            <a:solidFill>
              <a:srgbClr val="2F9D68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1302" name="矩形"/>
          <p:cNvSpPr/>
          <p:nvPr/>
        </p:nvSpPr>
        <p:spPr>
          <a:xfrm>
            <a:off x="1047750" y="3086099"/>
            <a:ext cx="1847850" cy="2286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2F9D68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303" name="continue"/>
          <p:cNvSpPr txBox="1"/>
          <p:nvPr/>
        </p:nvSpPr>
        <p:spPr>
          <a:xfrm>
            <a:off x="1047750" y="3086098"/>
            <a:ext cx="1847850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2F9D68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continue</a:t>
            </a:r>
          </a:p>
        </p:txBody>
      </p:sp>
      <p:sp>
        <p:nvSpPr>
          <p:cNvPr id="1304" name="矩形"/>
          <p:cNvSpPr/>
          <p:nvPr/>
        </p:nvSpPr>
        <p:spPr>
          <a:xfrm>
            <a:off x="1047750" y="3390898"/>
            <a:ext cx="1847850" cy="6858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305" name="成功概率和证据充分度尚可"/>
          <p:cNvSpPr txBox="1"/>
          <p:nvPr/>
        </p:nvSpPr>
        <p:spPr>
          <a:xfrm>
            <a:off x="1047750" y="3390898"/>
            <a:ext cx="184785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成功概率和证据充分度尚可</a:t>
            </a:r>
          </a:p>
        </p:txBody>
      </p:sp>
      <p:sp>
        <p:nvSpPr>
          <p:cNvPr id="1306" name="圆角矩形 995"/>
          <p:cNvSpPr/>
          <p:nvPr/>
        </p:nvSpPr>
        <p:spPr>
          <a:xfrm>
            <a:off x="3590925" y="2952750"/>
            <a:ext cx="2190750" cy="1200150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>
            <a:solidFill>
              <a:srgbClr val="D9A12A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1307" name="矩形 996"/>
          <p:cNvSpPr/>
          <p:nvPr/>
        </p:nvSpPr>
        <p:spPr>
          <a:xfrm>
            <a:off x="3590925" y="2952750"/>
            <a:ext cx="57150" cy="1200150"/>
          </a:xfrm>
          <a:prstGeom prst="rect">
            <a:avLst/>
          </a:prstGeom>
          <a:solidFill>
            <a:srgbClr val="D9A12A"/>
          </a:solidFill>
          <a:ln w="3175">
            <a:solidFill>
              <a:srgbClr val="D9A12A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1308" name="矩形"/>
          <p:cNvSpPr/>
          <p:nvPr/>
        </p:nvSpPr>
        <p:spPr>
          <a:xfrm>
            <a:off x="3762375" y="3086099"/>
            <a:ext cx="1847850" cy="2286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D9A12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309" name="patch_local"/>
          <p:cNvSpPr txBox="1"/>
          <p:nvPr/>
        </p:nvSpPr>
        <p:spPr>
          <a:xfrm>
            <a:off x="3762375" y="3086098"/>
            <a:ext cx="1847850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D9A12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patch_local</a:t>
            </a:r>
          </a:p>
        </p:txBody>
      </p:sp>
      <p:sp>
        <p:nvSpPr>
          <p:cNvPr id="1310" name="矩形"/>
          <p:cNvSpPr/>
          <p:nvPr/>
        </p:nvSpPr>
        <p:spPr>
          <a:xfrm>
            <a:off x="3762375" y="3390898"/>
            <a:ext cx="1847850" cy="6858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311" name="故障局部化，恢复余量足"/>
          <p:cNvSpPr txBox="1"/>
          <p:nvPr/>
        </p:nvSpPr>
        <p:spPr>
          <a:xfrm>
            <a:off x="3762375" y="3390898"/>
            <a:ext cx="184785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故障局部化，恢复余量足</a:t>
            </a:r>
          </a:p>
        </p:txBody>
      </p:sp>
      <p:sp>
        <p:nvSpPr>
          <p:cNvPr id="1312" name="圆角矩形 999"/>
          <p:cNvSpPr/>
          <p:nvPr/>
        </p:nvSpPr>
        <p:spPr>
          <a:xfrm>
            <a:off x="6305550" y="2952750"/>
            <a:ext cx="2190750" cy="1200150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>
            <a:solidFill>
              <a:srgbClr val="0052A5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1313" name="矩形 1000"/>
          <p:cNvSpPr/>
          <p:nvPr/>
        </p:nvSpPr>
        <p:spPr>
          <a:xfrm>
            <a:off x="6305550" y="2952750"/>
            <a:ext cx="57150" cy="1200150"/>
          </a:xfrm>
          <a:prstGeom prst="rect">
            <a:avLst/>
          </a:prstGeom>
          <a:solidFill>
            <a:srgbClr val="0052A5"/>
          </a:solidFill>
          <a:ln w="3175">
            <a:solidFill>
              <a:srgbClr val="0052A5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1314" name="矩形"/>
          <p:cNvSpPr/>
          <p:nvPr/>
        </p:nvSpPr>
        <p:spPr>
          <a:xfrm>
            <a:off x="6477000" y="3086099"/>
            <a:ext cx="1847850" cy="2286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315" name="suffix_replan"/>
          <p:cNvSpPr txBox="1"/>
          <p:nvPr/>
        </p:nvSpPr>
        <p:spPr>
          <a:xfrm>
            <a:off x="6477000" y="3086098"/>
            <a:ext cx="1847850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suffix_replan</a:t>
            </a:r>
          </a:p>
        </p:txBody>
      </p:sp>
      <p:sp>
        <p:nvSpPr>
          <p:cNvPr id="1316" name="矩形"/>
          <p:cNvSpPr/>
          <p:nvPr/>
        </p:nvSpPr>
        <p:spPr>
          <a:xfrm>
            <a:off x="6477000" y="3390898"/>
            <a:ext cx="1847850" cy="6858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317" name="结构性失败压力高，当前后缀不可靠"/>
          <p:cNvSpPr txBox="1"/>
          <p:nvPr/>
        </p:nvSpPr>
        <p:spPr>
          <a:xfrm>
            <a:off x="6477000" y="3390898"/>
            <a:ext cx="1847850" cy="355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结构性失败压力高，当前后缀不可靠</a:t>
            </a:r>
          </a:p>
        </p:txBody>
      </p:sp>
      <p:sp>
        <p:nvSpPr>
          <p:cNvPr id="1318" name="圆角矩形 1003"/>
          <p:cNvSpPr/>
          <p:nvPr/>
        </p:nvSpPr>
        <p:spPr>
          <a:xfrm>
            <a:off x="9020175" y="2952750"/>
            <a:ext cx="2190750" cy="1200150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>
            <a:solidFill>
              <a:srgbClr val="C94C4C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1319" name="矩形 1004"/>
          <p:cNvSpPr/>
          <p:nvPr/>
        </p:nvSpPr>
        <p:spPr>
          <a:xfrm>
            <a:off x="9020175" y="2952750"/>
            <a:ext cx="57150" cy="1200150"/>
          </a:xfrm>
          <a:prstGeom prst="rect">
            <a:avLst/>
          </a:prstGeom>
          <a:solidFill>
            <a:srgbClr val="C94C4C"/>
          </a:solidFill>
          <a:ln w="3175">
            <a:solidFill>
              <a:srgbClr val="C94C4C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1320" name="矩形"/>
          <p:cNvSpPr/>
          <p:nvPr/>
        </p:nvSpPr>
        <p:spPr>
          <a:xfrm>
            <a:off x="9191625" y="3086099"/>
            <a:ext cx="1847850" cy="2286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C94C4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321" name="stop"/>
          <p:cNvSpPr txBox="1"/>
          <p:nvPr/>
        </p:nvSpPr>
        <p:spPr>
          <a:xfrm>
            <a:off x="9191625" y="3086098"/>
            <a:ext cx="1847850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C94C4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stop</a:t>
            </a:r>
          </a:p>
        </p:txBody>
      </p:sp>
      <p:sp>
        <p:nvSpPr>
          <p:cNvPr id="1322" name="矩形"/>
          <p:cNvSpPr/>
          <p:nvPr/>
        </p:nvSpPr>
        <p:spPr>
          <a:xfrm>
            <a:off x="9191625" y="3390898"/>
            <a:ext cx="1847850" cy="6858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323" name="成功率低、预算压力高；受保护进入 HITL"/>
          <p:cNvSpPr txBox="1"/>
          <p:nvPr/>
        </p:nvSpPr>
        <p:spPr>
          <a:xfrm>
            <a:off x="9191625" y="3390898"/>
            <a:ext cx="1847850" cy="355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成功率低、预算压力高；受保护进入 HITL</a:t>
            </a:r>
          </a:p>
        </p:txBody>
      </p:sp>
      <p:sp>
        <p:nvSpPr>
          <p:cNvPr id="1324" name="圆角矩形 1007"/>
          <p:cNvSpPr/>
          <p:nvPr/>
        </p:nvSpPr>
        <p:spPr>
          <a:xfrm>
            <a:off x="1524000" y="4714875"/>
            <a:ext cx="9144000" cy="781050"/>
          </a:xfrm>
          <a:prstGeom prst="roundRect">
            <a:avLst>
              <a:gd name="adj" fmla="val 9756"/>
            </a:avLst>
          </a:prstGeom>
          <a:solidFill>
            <a:srgbClr val="EAF3FF"/>
          </a:solidFill>
          <a:ln>
            <a:solidFill>
              <a:srgbClr val="9DC3E6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1325" name="矩形"/>
          <p:cNvSpPr/>
          <p:nvPr/>
        </p:nvSpPr>
        <p:spPr>
          <a:xfrm>
            <a:off x="1695450" y="4848225"/>
            <a:ext cx="88011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326" name="保护边界"/>
          <p:cNvSpPr txBox="1"/>
          <p:nvPr/>
        </p:nvSpPr>
        <p:spPr>
          <a:xfrm>
            <a:off x="1695450" y="4848225"/>
            <a:ext cx="88011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保护边界</a:t>
            </a:r>
          </a:p>
        </p:txBody>
      </p:sp>
      <p:sp>
        <p:nvSpPr>
          <p:cNvPr id="1327" name="矩形"/>
          <p:cNvSpPr/>
          <p:nvPr/>
        </p:nvSpPr>
        <p:spPr>
          <a:xfrm>
            <a:off x="1695450" y="5102223"/>
            <a:ext cx="8801100" cy="2667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328" name="运行时调整不覆盖 hard feasibility；stop 作为 terminal_stop 候选进入 replan_confirm / HITL，…"/>
          <p:cNvSpPr txBox="1"/>
          <p:nvPr/>
        </p:nvSpPr>
        <p:spPr>
          <a:xfrm>
            <a:off x="1695450" y="5102223"/>
            <a:ext cx="8801100" cy="355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运行时调整不覆盖 hard feasibility；stop 作为 terminal_stop 候选进入 replan_confirm / HITL，</a:t>
            </a:r>
          </a:p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不由算法悄悄终止任务。</a:t>
            </a:r>
          </a:p>
        </p:txBody>
      </p:sp>
      <p:grpSp>
        <p:nvGrpSpPr>
          <p:cNvPr id="1331" name="矩形 1360"/>
          <p:cNvGrpSpPr/>
          <p:nvPr/>
        </p:nvGrpSpPr>
        <p:grpSpPr>
          <a:xfrm>
            <a:off x="11696700" y="6419850"/>
            <a:ext cx="323850" cy="266700"/>
            <a:chOff x="0" y="0"/>
            <a:chExt cx="323850" cy="266700"/>
          </a:xfrm>
        </p:grpSpPr>
        <p:sp>
          <p:nvSpPr>
            <p:cNvPr id="1329" name="矩形"/>
            <p:cNvSpPr/>
            <p:nvPr/>
          </p:nvSpPr>
          <p:spPr>
            <a:xfrm>
              <a:off x="0" y="0"/>
              <a:ext cx="3238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>
                <a:defRPr b="1" sz="1300">
                  <a:solidFill>
                    <a:srgbClr val="8A8A8A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330" name="11"/>
            <p:cNvSpPr txBox="1"/>
            <p:nvPr/>
          </p:nvSpPr>
          <p:spPr>
            <a:xfrm>
              <a:off x="0" y="0"/>
              <a:ext cx="323850" cy="1850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300">
                  <a:solidFill>
                    <a:srgbClr val="8A8A8A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3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334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pic>
        <p:nvPicPr>
          <p:cNvPr id="1335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24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1336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37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38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39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40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41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42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43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44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45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46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47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48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49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50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51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52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53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54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55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56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57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58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59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60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61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62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63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64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65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66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67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68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69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70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71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72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73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74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75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76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77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78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79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80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81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82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83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84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85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86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87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88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89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90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91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92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93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94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95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96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97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98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99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00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01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02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03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04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405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63"/>
          </a:xfrm>
          <a:prstGeom prst="rect">
            <a:avLst/>
          </a:prstGeom>
          <a:ln w="12700">
            <a:miter lim="400000"/>
          </a:ln>
        </p:spPr>
      </p:pic>
      <p:sp>
        <p:nvSpPr>
          <p:cNvPr id="1406" name="矩形"/>
          <p:cNvSpPr/>
          <p:nvPr/>
        </p:nvSpPr>
        <p:spPr>
          <a:xfrm>
            <a:off x="1000125" y="200025"/>
            <a:ext cx="7239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 anchor="ctr"/>
          <a:lstStyle/>
          <a:p>
            <a:pPr>
              <a:defRPr b="1" sz="2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407" name="算法对象如何落到代码"/>
          <p:cNvSpPr txBox="1"/>
          <p:nvPr/>
        </p:nvSpPr>
        <p:spPr>
          <a:xfrm>
            <a:off x="1000125" y="238123"/>
            <a:ext cx="7239000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算法对象如何落到代码</a:t>
            </a:r>
          </a:p>
        </p:txBody>
      </p:sp>
      <p:sp>
        <p:nvSpPr>
          <p:cNvPr id="1408" name="矩形"/>
          <p:cNvSpPr/>
          <p:nvPr/>
        </p:nvSpPr>
        <p:spPr>
          <a:xfrm>
            <a:off x="8667750" y="2286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 anchor="ctr"/>
          <a:lstStyle/>
          <a:p>
            <a:pPr algn="ctr">
              <a:defRPr b="1"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409" name="IMPLEMENTATION"/>
          <p:cNvSpPr txBox="1"/>
          <p:nvPr/>
        </p:nvSpPr>
        <p:spPr>
          <a:xfrm>
            <a:off x="8667750" y="269871"/>
            <a:ext cx="142875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IMPLEMENTATION</a:t>
            </a:r>
          </a:p>
        </p:txBody>
      </p:sp>
      <p:sp>
        <p:nvSpPr>
          <p:cNvPr id="1410" name="矩形 985"/>
          <p:cNvSpPr/>
          <p:nvPr/>
        </p:nvSpPr>
        <p:spPr>
          <a:xfrm>
            <a:off x="552450" y="990600"/>
            <a:ext cx="10382250" cy="361950"/>
          </a:xfrm>
          <a:prstGeom prst="rect">
            <a:avLst/>
          </a:prstGeom>
          <a:solidFill>
            <a:srgbClr val="0052A5"/>
          </a:solidFill>
          <a:ln w="3175">
            <a:solidFill>
              <a:srgbClr val="0052A5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1411" name="矩形"/>
          <p:cNvSpPr/>
          <p:nvPr/>
        </p:nvSpPr>
        <p:spPr>
          <a:xfrm>
            <a:off x="666750" y="1066799"/>
            <a:ext cx="2381250" cy="2286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412" name="算法对象"/>
          <p:cNvSpPr txBox="1"/>
          <p:nvPr/>
        </p:nvSpPr>
        <p:spPr>
          <a:xfrm>
            <a:off x="666750" y="1066796"/>
            <a:ext cx="238125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算法对象</a:t>
            </a:r>
          </a:p>
        </p:txBody>
      </p:sp>
      <p:sp>
        <p:nvSpPr>
          <p:cNvPr id="1413" name="矩形"/>
          <p:cNvSpPr/>
          <p:nvPr/>
        </p:nvSpPr>
        <p:spPr>
          <a:xfrm>
            <a:off x="3333750" y="1066799"/>
            <a:ext cx="2667000" cy="2286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414" name="实现字段 / 模块"/>
          <p:cNvSpPr txBox="1"/>
          <p:nvPr/>
        </p:nvSpPr>
        <p:spPr>
          <a:xfrm>
            <a:off x="3333750" y="1066796"/>
            <a:ext cx="26670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实现字段 / 模块</a:t>
            </a:r>
          </a:p>
        </p:txBody>
      </p:sp>
      <p:sp>
        <p:nvSpPr>
          <p:cNvPr id="1415" name="矩形"/>
          <p:cNvSpPr/>
          <p:nvPr/>
        </p:nvSpPr>
        <p:spPr>
          <a:xfrm>
            <a:off x="6381750" y="1066799"/>
            <a:ext cx="4953000" cy="2286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416" name="作用"/>
          <p:cNvSpPr txBox="1"/>
          <p:nvPr/>
        </p:nvSpPr>
        <p:spPr>
          <a:xfrm>
            <a:off x="6381750" y="1066796"/>
            <a:ext cx="49530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作用</a:t>
            </a:r>
          </a:p>
        </p:txBody>
      </p:sp>
      <p:sp>
        <p:nvSpPr>
          <p:cNvPr id="1417" name="矩形 989"/>
          <p:cNvSpPr/>
          <p:nvPr/>
        </p:nvSpPr>
        <p:spPr>
          <a:xfrm>
            <a:off x="552450" y="1428750"/>
            <a:ext cx="10382250" cy="457200"/>
          </a:xfrm>
          <a:prstGeom prst="rect">
            <a:avLst/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1418" name="矩形"/>
          <p:cNvSpPr/>
          <p:nvPr/>
        </p:nvSpPr>
        <p:spPr>
          <a:xfrm>
            <a:off x="666750" y="1543049"/>
            <a:ext cx="2381250" cy="1905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0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419" name="硬可行性过滤 F_h"/>
          <p:cNvSpPr txBox="1"/>
          <p:nvPr/>
        </p:nvSpPr>
        <p:spPr>
          <a:xfrm>
            <a:off x="666750" y="1543046"/>
            <a:ext cx="238125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0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硬可行性过滤 </a:t>
            </a:r>
            <a14:m>
              <m:oMath>
                <m:sSub>
                  <m:e>
                    <m:r>
                      <a:rPr xmlns:a="http://schemas.openxmlformats.org/drawingml/2006/main" sz="1200" i="1">
                        <a:solidFill>
                          <a:srgbClr val="0052A5"/>
                        </a:solidFill>
                        <a:latin typeface="Cambria Math" panose="02040503050406030204" pitchFamily="18" charset="0"/>
                      </a:rPr>
                      <m:t>F</m:t>
                    </m:r>
                  </m:e>
                  <m:sub>
                    <m:r>
                      <a:rPr xmlns:a="http://schemas.openxmlformats.org/drawingml/2006/main" sz="1200" i="1">
                        <a:solidFill>
                          <a:srgbClr val="0052A5"/>
                        </a:solidFill>
                        <a:latin typeface="Cambria Math" panose="02040503050406030204" pitchFamily="18" charset="0"/>
                      </a:rPr>
                      <m:t>h</m:t>
                    </m:r>
                  </m:sub>
                </m:sSub>
              </m:oMath>
            </a14:m>
          </a:p>
        </p:txBody>
      </p:sp>
      <p:sp>
        <p:nvSpPr>
          <p:cNvPr id="1420" name="矩形"/>
          <p:cNvSpPr/>
          <p:nvPr/>
        </p:nvSpPr>
        <p:spPr>
          <a:xfrm>
            <a:off x="3333750" y="1543049"/>
            <a:ext cx="2667000" cy="1905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421" name="candidate_feasibility / generator"/>
          <p:cNvSpPr txBox="1"/>
          <p:nvPr/>
        </p:nvSpPr>
        <p:spPr>
          <a:xfrm>
            <a:off x="3333750" y="1543046"/>
            <a:ext cx="26670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candidate_feasibility / generator</a:t>
            </a:r>
          </a:p>
        </p:txBody>
      </p:sp>
      <p:sp>
        <p:nvSpPr>
          <p:cNvPr id="1422" name="矩形"/>
          <p:cNvSpPr/>
          <p:nvPr/>
        </p:nvSpPr>
        <p:spPr>
          <a:xfrm>
            <a:off x="6381750" y="1543049"/>
            <a:ext cx="4953000" cy="1905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423" name="阻断 tool、schema、I/O、safety、budget 违规候选"/>
          <p:cNvSpPr txBox="1"/>
          <p:nvPr/>
        </p:nvSpPr>
        <p:spPr>
          <a:xfrm>
            <a:off x="6381750" y="1543046"/>
            <a:ext cx="4953000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阻断 tool、schema、I/O、safety、budget 违规候选</a:t>
            </a:r>
          </a:p>
        </p:txBody>
      </p:sp>
      <p:sp>
        <p:nvSpPr>
          <p:cNvPr id="1424" name="矩形 993"/>
          <p:cNvSpPr/>
          <p:nvPr/>
        </p:nvSpPr>
        <p:spPr>
          <a:xfrm>
            <a:off x="552450" y="1952625"/>
            <a:ext cx="10382250" cy="457200"/>
          </a:xfrm>
          <a:prstGeom prst="rect">
            <a:avLst/>
          </a:prstGeom>
          <a:solidFill>
            <a:srgbClr val="F5F9FE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1425" name="矩形"/>
          <p:cNvSpPr/>
          <p:nvPr/>
        </p:nvSpPr>
        <p:spPr>
          <a:xfrm>
            <a:off x="666750" y="2066924"/>
            <a:ext cx="2381250" cy="1905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0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426" name="静态评分 S_static"/>
          <p:cNvSpPr txBox="1"/>
          <p:nvPr/>
        </p:nvSpPr>
        <p:spPr>
          <a:xfrm>
            <a:off x="666750" y="2066923"/>
            <a:ext cx="238125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0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静态评分 </a:t>
            </a:r>
            <a14:m>
              <m:oMath>
                <m:sSub>
                  <m:e>
                    <m:r>
                      <a:rPr xmlns:a="http://schemas.openxmlformats.org/drawingml/2006/main" sz="1200" i="1">
                        <a:solidFill>
                          <a:srgbClr val="0052A5"/>
                        </a:solidFill>
                        <a:latin typeface="Cambria Math" panose="02040503050406030204" pitchFamily="18" charset="0"/>
                      </a:rPr>
                      <m:t>S</m:t>
                    </m:r>
                  </m:e>
                  <m:sub>
                    <m:r>
                      <a:rPr xmlns:a="http://schemas.openxmlformats.org/drawingml/2006/main" sz="1200" i="1">
                        <a:solidFill>
                          <a:srgbClr val="0052A5"/>
                        </a:solidFill>
                        <a:latin typeface="Cambria Math" panose="02040503050406030204" pitchFamily="18" charset="0"/>
                      </a:rPr>
                      <m:t>s</m:t>
                    </m:r>
                    <m:r>
                      <a:rPr xmlns:a="http://schemas.openxmlformats.org/drawingml/2006/main" sz="1200" i="1">
                        <a:solidFill>
                          <a:srgbClr val="0052A5"/>
                        </a:solidFill>
                        <a:latin typeface="Cambria Math" panose="02040503050406030204" pitchFamily="18" charset="0"/>
                      </a:rPr>
                      <m:t>t</m:t>
                    </m:r>
                    <m:r>
                      <a:rPr xmlns:a="http://schemas.openxmlformats.org/drawingml/2006/main" sz="1200" i="1">
                        <a:solidFill>
                          <a:srgbClr val="0052A5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xmlns:a="http://schemas.openxmlformats.org/drawingml/2006/main" sz="1200" i="1">
                        <a:solidFill>
                          <a:srgbClr val="0052A5"/>
                        </a:solidFill>
                        <a:latin typeface="Cambria Math" panose="02040503050406030204" pitchFamily="18" charset="0"/>
                      </a:rPr>
                      <m:t>t</m:t>
                    </m:r>
                    <m:r>
                      <a:rPr xmlns:a="http://schemas.openxmlformats.org/drawingml/2006/main" sz="1200" i="1">
                        <a:solidFill>
                          <a:srgbClr val="0052A5"/>
                        </a:solidFill>
                        <a:latin typeface="Cambria Math" panose="02040503050406030204" pitchFamily="18" charset="0"/>
                      </a:rPr>
                      <m:t>i</m:t>
                    </m:r>
                    <m:r>
                      <a:rPr xmlns:a="http://schemas.openxmlformats.org/drawingml/2006/main" sz="1200" i="1">
                        <a:solidFill>
                          <a:srgbClr val="0052A5"/>
                        </a:solidFill>
                        <a:latin typeface="Cambria Math" panose="02040503050406030204" pitchFamily="18" charset="0"/>
                      </a:rPr>
                      <m:t>c</m:t>
                    </m:r>
                  </m:sub>
                </m:sSub>
              </m:oMath>
            </a14:m>
          </a:p>
        </p:txBody>
      </p:sp>
      <p:sp>
        <p:nvSpPr>
          <p:cNvPr id="1427" name="矩形"/>
          <p:cNvSpPr/>
          <p:nvPr/>
        </p:nvSpPr>
        <p:spPr>
          <a:xfrm>
            <a:off x="3333750" y="2066924"/>
            <a:ext cx="2667000" cy="1905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428" name="score_breakdown.overall / static_score"/>
          <p:cNvSpPr txBox="1"/>
          <p:nvPr/>
        </p:nvSpPr>
        <p:spPr>
          <a:xfrm>
            <a:off x="3333750" y="2066923"/>
            <a:ext cx="26670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score_breakdown.overall / static_score</a:t>
            </a:r>
          </a:p>
        </p:txBody>
      </p:sp>
      <p:sp>
        <p:nvSpPr>
          <p:cNvPr id="1429" name="矩形"/>
          <p:cNvSpPr/>
          <p:nvPr/>
        </p:nvSpPr>
        <p:spPr>
          <a:xfrm>
            <a:off x="6381750" y="2066924"/>
            <a:ext cx="4953000" cy="1905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430" name="建立执行前候选排序"/>
          <p:cNvSpPr txBox="1"/>
          <p:nvPr/>
        </p:nvSpPr>
        <p:spPr>
          <a:xfrm>
            <a:off x="6381750" y="2066923"/>
            <a:ext cx="4953000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建立执行前候选排序</a:t>
            </a:r>
          </a:p>
        </p:txBody>
      </p:sp>
      <p:sp>
        <p:nvSpPr>
          <p:cNvPr id="1431" name="矩形 997"/>
          <p:cNvSpPr/>
          <p:nvPr/>
        </p:nvSpPr>
        <p:spPr>
          <a:xfrm>
            <a:off x="552450" y="2476500"/>
            <a:ext cx="10382250" cy="457200"/>
          </a:xfrm>
          <a:prstGeom prst="rect">
            <a:avLst/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1432" name="矩形"/>
          <p:cNvSpPr/>
          <p:nvPr/>
        </p:nvSpPr>
        <p:spPr>
          <a:xfrm>
            <a:off x="666750" y="2590799"/>
            <a:ext cx="2381250" cy="1905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0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433" name="后验目标 G_post"/>
          <p:cNvSpPr txBox="1"/>
          <p:nvPr/>
        </p:nvSpPr>
        <p:spPr>
          <a:xfrm>
            <a:off x="666750" y="2590798"/>
            <a:ext cx="2381250" cy="197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0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后验目标 </a:t>
            </a:r>
            <a14:m>
              <m:oMath>
                <m:sSub>
                  <m:e>
                    <m:r>
                      <a:rPr xmlns:a="http://schemas.openxmlformats.org/drawingml/2006/main" sz="1200" i="1">
                        <a:solidFill>
                          <a:srgbClr val="0052A5"/>
                        </a:solidFill>
                        <a:latin typeface="Cambria Math" panose="02040503050406030204" pitchFamily="18" charset="0"/>
                      </a:rPr>
                      <m:t>G</m:t>
                    </m:r>
                  </m:e>
                  <m:sub>
                    <m:r>
                      <a:rPr xmlns:a="http://schemas.openxmlformats.org/drawingml/2006/main" sz="1200" i="1">
                        <a:solidFill>
                          <a:srgbClr val="0052A5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xmlns:a="http://schemas.openxmlformats.org/drawingml/2006/main" sz="1200" i="1">
                        <a:solidFill>
                          <a:srgbClr val="0052A5"/>
                        </a:solidFill>
                        <a:latin typeface="Cambria Math" panose="02040503050406030204" pitchFamily="18" charset="0"/>
                      </a:rPr>
                      <m:t>o</m:t>
                    </m:r>
                    <m:r>
                      <a:rPr xmlns:a="http://schemas.openxmlformats.org/drawingml/2006/main" sz="1200" i="1">
                        <a:solidFill>
                          <a:srgbClr val="0052A5"/>
                        </a:solidFill>
                        <a:latin typeface="Cambria Math" panose="02040503050406030204" pitchFamily="18" charset="0"/>
                      </a:rPr>
                      <m:t>s</m:t>
                    </m:r>
                    <m:r>
                      <a:rPr xmlns:a="http://schemas.openxmlformats.org/drawingml/2006/main" sz="1200" i="1">
                        <a:solidFill>
                          <a:srgbClr val="0052A5"/>
                        </a:solidFill>
                        <a:latin typeface="Cambria Math" panose="02040503050406030204" pitchFamily="18" charset="0"/>
                      </a:rPr>
                      <m:t>t</m:t>
                    </m:r>
                  </m:sub>
                </m:sSub>
              </m:oMath>
            </a14:m>
          </a:p>
        </p:txBody>
      </p:sp>
      <p:sp>
        <p:nvSpPr>
          <p:cNvPr id="1434" name="矩形"/>
          <p:cNvSpPr/>
          <p:nvPr/>
        </p:nvSpPr>
        <p:spPr>
          <a:xfrm>
            <a:off x="3333750" y="2590799"/>
            <a:ext cx="2667000" cy="1905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435" name="posterior_objective"/>
          <p:cNvSpPr txBox="1"/>
          <p:nvPr/>
        </p:nvSpPr>
        <p:spPr>
          <a:xfrm>
            <a:off x="3333750" y="2590798"/>
            <a:ext cx="26670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posterior_objective</a:t>
            </a:r>
          </a:p>
        </p:txBody>
      </p:sp>
      <p:sp>
        <p:nvSpPr>
          <p:cNvPr id="1436" name="矩形"/>
          <p:cNvSpPr/>
          <p:nvPr/>
        </p:nvSpPr>
        <p:spPr>
          <a:xfrm>
            <a:off x="6381750" y="2590799"/>
            <a:ext cx="4953000" cy="1905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437" name="用计算证据更新目标匹配项"/>
          <p:cNvSpPr txBox="1"/>
          <p:nvPr/>
        </p:nvSpPr>
        <p:spPr>
          <a:xfrm>
            <a:off x="6381750" y="2590798"/>
            <a:ext cx="4953000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用计算证据更新目标匹配项</a:t>
            </a:r>
          </a:p>
        </p:txBody>
      </p:sp>
      <p:sp>
        <p:nvSpPr>
          <p:cNvPr id="1438" name="矩形 1001"/>
          <p:cNvSpPr/>
          <p:nvPr/>
        </p:nvSpPr>
        <p:spPr>
          <a:xfrm>
            <a:off x="552450" y="3000375"/>
            <a:ext cx="10382250" cy="457200"/>
          </a:xfrm>
          <a:prstGeom prst="rect">
            <a:avLst/>
          </a:prstGeom>
          <a:solidFill>
            <a:srgbClr val="F5F9FE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1439" name="矩形"/>
          <p:cNvSpPr/>
          <p:nvPr/>
        </p:nvSpPr>
        <p:spPr>
          <a:xfrm>
            <a:off x="666750" y="3114674"/>
            <a:ext cx="2381250" cy="1905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0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440" name="Lite belief-state x_t"/>
          <p:cNvSpPr txBox="1"/>
          <p:nvPr/>
        </p:nvSpPr>
        <p:spPr>
          <a:xfrm>
            <a:off x="666750" y="3114673"/>
            <a:ext cx="2381250" cy="1639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0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Lite belief-state </a:t>
            </a:r>
            <a14:m>
              <m:oMath>
                <m:sSub>
                  <m:e>
                    <m:r>
                      <a:rPr xmlns:a="http://schemas.openxmlformats.org/drawingml/2006/main" sz="1200" i="1">
                        <a:solidFill>
                          <a:srgbClr val="0052A5"/>
                        </a:solidFill>
                        <a:latin typeface="Cambria Math" panose="02040503050406030204" pitchFamily="18" charset="0"/>
                      </a:rPr>
                      <m:t>x</m:t>
                    </m:r>
                  </m:e>
                  <m:sub>
                    <m:r>
                      <a:rPr xmlns:a="http://schemas.openxmlformats.org/drawingml/2006/main" sz="1200" i="1">
                        <a:solidFill>
                          <a:srgbClr val="0052A5"/>
                        </a:solidFill>
                        <a:latin typeface="Cambria Math" panose="02040503050406030204" pitchFamily="18" charset="0"/>
                      </a:rPr>
                      <m:t>t</m:t>
                    </m:r>
                  </m:sub>
                </m:sSub>
              </m:oMath>
            </a14:m>
          </a:p>
        </p:txBody>
      </p:sp>
      <p:sp>
        <p:nvSpPr>
          <p:cNvPr id="1441" name="矩形"/>
          <p:cNvSpPr/>
          <p:nvPr/>
        </p:nvSpPr>
        <p:spPr>
          <a:xfrm>
            <a:off x="3333750" y="3114674"/>
            <a:ext cx="2667000" cy="1905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442" name="RuntimeState / belief_state.py"/>
          <p:cNvSpPr txBox="1"/>
          <p:nvPr/>
        </p:nvSpPr>
        <p:spPr>
          <a:xfrm>
            <a:off x="3333750" y="3114673"/>
            <a:ext cx="26670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RuntimeState / belief_state.py</a:t>
            </a:r>
          </a:p>
        </p:txBody>
      </p:sp>
      <p:sp>
        <p:nvSpPr>
          <p:cNvPr id="1443" name="矩形"/>
          <p:cNvSpPr/>
          <p:nvPr/>
        </p:nvSpPr>
        <p:spPr>
          <a:xfrm>
            <a:off x="6381750" y="3114674"/>
            <a:ext cx="4953000" cy="1905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444" name="保存运行时五维状态"/>
          <p:cNvSpPr txBox="1"/>
          <p:nvPr/>
        </p:nvSpPr>
        <p:spPr>
          <a:xfrm>
            <a:off x="6381750" y="3114673"/>
            <a:ext cx="4953000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保存运行时五维状态</a:t>
            </a:r>
          </a:p>
        </p:txBody>
      </p:sp>
      <p:sp>
        <p:nvSpPr>
          <p:cNvPr id="1445" name="矩形 1005"/>
          <p:cNvSpPr/>
          <p:nvPr/>
        </p:nvSpPr>
        <p:spPr>
          <a:xfrm>
            <a:off x="552450" y="3524250"/>
            <a:ext cx="10382250" cy="457200"/>
          </a:xfrm>
          <a:prstGeom prst="rect">
            <a:avLst/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1446" name="矩形"/>
          <p:cNvSpPr/>
          <p:nvPr/>
        </p:nvSpPr>
        <p:spPr>
          <a:xfrm>
            <a:off x="666750" y="3638548"/>
            <a:ext cx="2381250" cy="1905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0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447" name="运行时修正 Delta"/>
          <p:cNvSpPr txBox="1"/>
          <p:nvPr/>
        </p:nvSpPr>
        <p:spPr>
          <a:xfrm>
            <a:off x="666750" y="3638548"/>
            <a:ext cx="238125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0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运行时修正 </a:t>
            </a:r>
            <a14:m>
              <m:oMath>
                <m:r>
                  <m:rPr>
                    <m:sty m:val="p"/>
                  </m:rPr>
                  <a:rPr xmlns:a="http://schemas.openxmlformats.org/drawingml/2006/main" sz="1200" i="1">
                    <a:solidFill>
                      <a:srgbClr val="0052A5"/>
                    </a:solidFill>
                    <a:latin typeface="Cambria Math" panose="02040503050406030204" pitchFamily="18" charset="0"/>
                  </a:rPr>
                  <m:t>Δ</m:t>
                </m:r>
              </m:oMath>
            </a14:m>
          </a:p>
        </p:txBody>
      </p:sp>
      <p:sp>
        <p:nvSpPr>
          <p:cNvPr id="1448" name="矩形"/>
          <p:cNvSpPr/>
          <p:nvPr/>
        </p:nvSpPr>
        <p:spPr>
          <a:xfrm>
            <a:off x="3333750" y="3638548"/>
            <a:ext cx="2667000" cy="1905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449" name="runtime_adjustment / RuntimeEvaluator"/>
          <p:cNvSpPr txBox="1"/>
          <p:nvPr/>
        </p:nvSpPr>
        <p:spPr>
          <a:xfrm>
            <a:off x="3333750" y="3638548"/>
            <a:ext cx="26670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runtime_adjustment / RuntimeEvaluator</a:t>
            </a:r>
          </a:p>
        </p:txBody>
      </p:sp>
      <p:sp>
        <p:nvSpPr>
          <p:cNvPr id="1450" name="矩形"/>
          <p:cNvSpPr/>
          <p:nvPr/>
        </p:nvSpPr>
        <p:spPr>
          <a:xfrm>
            <a:off x="6381750" y="3638548"/>
            <a:ext cx="4953000" cy="1905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451" name="对合法候选做有界重排"/>
          <p:cNvSpPr txBox="1"/>
          <p:nvPr/>
        </p:nvSpPr>
        <p:spPr>
          <a:xfrm>
            <a:off x="6381750" y="3638548"/>
            <a:ext cx="4953000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对合法候选做有界重排</a:t>
            </a:r>
          </a:p>
        </p:txBody>
      </p:sp>
      <p:sp>
        <p:nvSpPr>
          <p:cNvPr id="1452" name="矩形 1009"/>
          <p:cNvSpPr/>
          <p:nvPr/>
        </p:nvSpPr>
        <p:spPr>
          <a:xfrm>
            <a:off x="552450" y="4048125"/>
            <a:ext cx="10382250" cy="457200"/>
          </a:xfrm>
          <a:prstGeom prst="rect">
            <a:avLst/>
          </a:prstGeom>
          <a:solidFill>
            <a:srgbClr val="F5F9FE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1453" name="矩形"/>
          <p:cNvSpPr/>
          <p:nvPr/>
        </p:nvSpPr>
        <p:spPr>
          <a:xfrm>
            <a:off x="666750" y="4162423"/>
            <a:ext cx="2381250" cy="1905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0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454" name="动作效用 U_a"/>
          <p:cNvSpPr txBox="1"/>
          <p:nvPr/>
        </p:nvSpPr>
        <p:spPr>
          <a:xfrm>
            <a:off x="666750" y="4162423"/>
            <a:ext cx="238125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0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动作效用 </a:t>
            </a:r>
            <a14:m>
              <m:oMath>
                <m:sSub>
                  <m:e>
                    <m:r>
                      <a:rPr xmlns:a="http://schemas.openxmlformats.org/drawingml/2006/main" sz="1200" i="1">
                        <a:solidFill>
                          <a:srgbClr val="0052A5"/>
                        </a:solidFill>
                        <a:latin typeface="Cambria Math" panose="02040503050406030204" pitchFamily="18" charset="0"/>
                      </a:rPr>
                      <m:t>U</m:t>
                    </m:r>
                  </m:e>
                  <m:sub>
                    <m:r>
                      <a:rPr xmlns:a="http://schemas.openxmlformats.org/drawingml/2006/main" sz="1200" i="1">
                        <a:solidFill>
                          <a:srgbClr val="0052A5"/>
                        </a:solidFill>
                        <a:latin typeface="Cambria Math" panose="02040503050406030204" pitchFamily="18" charset="0"/>
                      </a:rPr>
                      <m:t>a</m:t>
                    </m:r>
                  </m:sub>
                </m:sSub>
              </m:oMath>
            </a14:m>
          </a:p>
        </p:txBody>
      </p:sp>
      <p:sp>
        <p:nvSpPr>
          <p:cNvPr id="1455" name="矩形"/>
          <p:cNvSpPr/>
          <p:nvPr/>
        </p:nvSpPr>
        <p:spPr>
          <a:xfrm>
            <a:off x="3333750" y="4162423"/>
            <a:ext cx="2667000" cy="1905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456" name="ActionUtility"/>
          <p:cNvSpPr txBox="1"/>
          <p:nvPr/>
        </p:nvSpPr>
        <p:spPr>
          <a:xfrm>
            <a:off x="3333750" y="4162423"/>
            <a:ext cx="26670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ActionUtility</a:t>
            </a:r>
          </a:p>
        </p:txBody>
      </p:sp>
      <p:sp>
        <p:nvSpPr>
          <p:cNvPr id="1457" name="矩形"/>
          <p:cNvSpPr/>
          <p:nvPr/>
        </p:nvSpPr>
        <p:spPr>
          <a:xfrm>
            <a:off x="6381750" y="4162423"/>
            <a:ext cx="4953000" cy="1905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458" name="选择 continue / patch / replan / stop"/>
          <p:cNvSpPr txBox="1"/>
          <p:nvPr/>
        </p:nvSpPr>
        <p:spPr>
          <a:xfrm>
            <a:off x="6381750" y="4162423"/>
            <a:ext cx="4953000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选择 continue / patch / replan / stop</a:t>
            </a:r>
          </a:p>
        </p:txBody>
      </p:sp>
      <p:sp>
        <p:nvSpPr>
          <p:cNvPr id="1459" name="矩形 1013"/>
          <p:cNvSpPr/>
          <p:nvPr/>
        </p:nvSpPr>
        <p:spPr>
          <a:xfrm>
            <a:off x="552450" y="4572000"/>
            <a:ext cx="10382250" cy="457200"/>
          </a:xfrm>
          <a:prstGeom prst="rect">
            <a:avLst/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1460" name="矩形"/>
          <p:cNvSpPr/>
          <p:nvPr/>
        </p:nvSpPr>
        <p:spPr>
          <a:xfrm>
            <a:off x="666750" y="4686298"/>
            <a:ext cx="2381250" cy="1905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0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461" name="审计与恢复"/>
          <p:cNvSpPr txBox="1"/>
          <p:nvPr/>
        </p:nvSpPr>
        <p:spPr>
          <a:xfrm>
            <a:off x="666750" y="4686298"/>
            <a:ext cx="238125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0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审计与恢复</a:t>
            </a:r>
          </a:p>
        </p:txBody>
      </p:sp>
      <p:sp>
        <p:nvSpPr>
          <p:cNvPr id="1462" name="矩形"/>
          <p:cNvSpPr/>
          <p:nvPr/>
        </p:nvSpPr>
        <p:spPr>
          <a:xfrm>
            <a:off x="3333750" y="4686298"/>
            <a:ext cx="2667000" cy="1905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463" name="PendingAction / Decision / EventLog / Snapshot"/>
          <p:cNvSpPr txBox="1"/>
          <p:nvPr/>
        </p:nvSpPr>
        <p:spPr>
          <a:xfrm>
            <a:off x="3333750" y="4686298"/>
            <a:ext cx="26670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PendingAction / Decision / EventLog / Snapshot</a:t>
            </a:r>
          </a:p>
        </p:txBody>
      </p:sp>
      <p:sp>
        <p:nvSpPr>
          <p:cNvPr id="1464" name="矩形"/>
          <p:cNvSpPr/>
          <p:nvPr/>
        </p:nvSpPr>
        <p:spPr>
          <a:xfrm>
            <a:off x="6381750" y="4686298"/>
            <a:ext cx="4953000" cy="1905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465" name="动作可确认、可追溯、可恢复"/>
          <p:cNvSpPr txBox="1"/>
          <p:nvPr/>
        </p:nvSpPr>
        <p:spPr>
          <a:xfrm>
            <a:off x="6381750" y="4686298"/>
            <a:ext cx="4953000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动作可确认、可追溯、可恢复</a:t>
            </a:r>
          </a:p>
        </p:txBody>
      </p:sp>
      <p:sp>
        <p:nvSpPr>
          <p:cNvPr id="1466" name="矩形"/>
          <p:cNvSpPr/>
          <p:nvPr/>
        </p:nvSpPr>
        <p:spPr>
          <a:xfrm>
            <a:off x="1381125" y="5333998"/>
            <a:ext cx="9429750" cy="2857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300">
                <a:solidFill>
                  <a:srgbClr val="082B6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467" name="实现重点：算法结果最终进入 PendingAction、Decision、EventLog 和 Snapshot，而不是绕过系统状态直接执行。"/>
          <p:cNvSpPr txBox="1"/>
          <p:nvPr/>
        </p:nvSpPr>
        <p:spPr>
          <a:xfrm>
            <a:off x="1381125" y="5333998"/>
            <a:ext cx="942975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300">
                <a:solidFill>
                  <a:srgbClr val="082B6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实现重点：算法结果最终进入 PendingAction、Decision、EventLog 和 Snapshot，而不是绕过系统状态直接执行。</a:t>
            </a:r>
          </a:p>
        </p:txBody>
      </p:sp>
      <p:grpSp>
        <p:nvGrpSpPr>
          <p:cNvPr id="1470" name="矩形 1500"/>
          <p:cNvGrpSpPr/>
          <p:nvPr/>
        </p:nvGrpSpPr>
        <p:grpSpPr>
          <a:xfrm>
            <a:off x="11696700" y="6419850"/>
            <a:ext cx="323850" cy="266700"/>
            <a:chOff x="0" y="0"/>
            <a:chExt cx="323850" cy="266700"/>
          </a:xfrm>
        </p:grpSpPr>
        <p:sp>
          <p:nvSpPr>
            <p:cNvPr id="1468" name="矩形"/>
            <p:cNvSpPr/>
            <p:nvPr/>
          </p:nvSpPr>
          <p:spPr>
            <a:xfrm>
              <a:off x="0" y="0"/>
              <a:ext cx="3238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>
                <a:defRPr b="1" sz="1300">
                  <a:solidFill>
                    <a:srgbClr val="8A8A8A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469" name="12"/>
            <p:cNvSpPr txBox="1"/>
            <p:nvPr/>
          </p:nvSpPr>
          <p:spPr>
            <a:xfrm>
              <a:off x="0" y="0"/>
              <a:ext cx="323850" cy="1850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300">
                  <a:solidFill>
                    <a:srgbClr val="8A8A8A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2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473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pic>
        <p:nvPicPr>
          <p:cNvPr id="1474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24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1475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76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77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78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79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80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81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82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83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84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85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86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87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88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89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90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91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92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93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94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95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96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97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98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99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00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01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02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03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04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05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06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07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08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09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10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11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12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13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14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15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16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17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18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19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20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21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22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23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24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25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26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27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28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29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30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31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32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33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34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35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36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37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38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39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40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41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42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43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544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63"/>
          </a:xfrm>
          <a:prstGeom prst="rect">
            <a:avLst/>
          </a:prstGeom>
          <a:ln w="12700">
            <a:miter lim="400000"/>
          </a:ln>
        </p:spPr>
      </p:pic>
      <p:sp>
        <p:nvSpPr>
          <p:cNvPr id="1545" name="矩形"/>
          <p:cNvSpPr/>
          <p:nvPr/>
        </p:nvSpPr>
        <p:spPr>
          <a:xfrm>
            <a:off x="1000125" y="200025"/>
            <a:ext cx="7239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 anchor="ctr"/>
          <a:lstStyle/>
          <a:p>
            <a:pPr>
              <a:defRPr b="1" sz="2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546" name="验证一：系统测试覆盖关键路径"/>
          <p:cNvSpPr txBox="1"/>
          <p:nvPr/>
        </p:nvSpPr>
        <p:spPr>
          <a:xfrm>
            <a:off x="1000125" y="238123"/>
            <a:ext cx="7239000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验证一：系统测试覆盖关键路径</a:t>
            </a:r>
          </a:p>
        </p:txBody>
      </p:sp>
      <p:sp>
        <p:nvSpPr>
          <p:cNvPr id="1547" name="矩形"/>
          <p:cNvSpPr/>
          <p:nvPr/>
        </p:nvSpPr>
        <p:spPr>
          <a:xfrm>
            <a:off x="8667750" y="2286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 anchor="ctr"/>
          <a:lstStyle/>
          <a:p>
            <a:pPr algn="ctr">
              <a:defRPr b="1"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548" name="VALIDATION"/>
          <p:cNvSpPr txBox="1"/>
          <p:nvPr/>
        </p:nvSpPr>
        <p:spPr>
          <a:xfrm>
            <a:off x="8667750" y="269874"/>
            <a:ext cx="142875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VALIDATION</a:t>
            </a:r>
          </a:p>
        </p:txBody>
      </p:sp>
      <p:sp>
        <p:nvSpPr>
          <p:cNvPr id="1549" name="圆角矩形"/>
          <p:cNvSpPr/>
          <p:nvPr/>
        </p:nvSpPr>
        <p:spPr>
          <a:xfrm>
            <a:off x="857250" y="1143000"/>
            <a:ext cx="1428750" cy="819150"/>
          </a:xfrm>
          <a:prstGeom prst="roundRect">
            <a:avLst>
              <a:gd name="adj" fmla="val 9302"/>
            </a:avLst>
          </a:prstGeom>
          <a:solidFill>
            <a:srgbClr val="F5F9FE"/>
          </a:solidFill>
          <a:ln>
            <a:solidFill>
              <a:srgbClr val="E3EDF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50" name="矩形"/>
          <p:cNvSpPr/>
          <p:nvPr/>
        </p:nvSpPr>
        <p:spPr>
          <a:xfrm>
            <a:off x="857250" y="1247775"/>
            <a:ext cx="14287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21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551" name="13"/>
          <p:cNvSpPr txBox="1"/>
          <p:nvPr/>
        </p:nvSpPr>
        <p:spPr>
          <a:xfrm>
            <a:off x="857250" y="1247775"/>
            <a:ext cx="1428750" cy="2960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21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13</a:t>
            </a:r>
          </a:p>
        </p:txBody>
      </p:sp>
      <p:sp>
        <p:nvSpPr>
          <p:cNvPr id="1552" name="矩形"/>
          <p:cNvSpPr/>
          <p:nvPr/>
        </p:nvSpPr>
        <p:spPr>
          <a:xfrm>
            <a:off x="933450" y="1638300"/>
            <a:ext cx="127635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553" name="测试用例"/>
          <p:cNvSpPr txBox="1"/>
          <p:nvPr/>
        </p:nvSpPr>
        <p:spPr>
          <a:xfrm>
            <a:off x="933450" y="1638300"/>
            <a:ext cx="1276350" cy="16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测试用例</a:t>
            </a:r>
          </a:p>
        </p:txBody>
      </p:sp>
      <p:sp>
        <p:nvSpPr>
          <p:cNvPr id="1554" name="圆角矩形"/>
          <p:cNvSpPr/>
          <p:nvPr/>
        </p:nvSpPr>
        <p:spPr>
          <a:xfrm>
            <a:off x="2571750" y="1143000"/>
            <a:ext cx="1428750" cy="819150"/>
          </a:xfrm>
          <a:prstGeom prst="roundRect">
            <a:avLst>
              <a:gd name="adj" fmla="val 9302"/>
            </a:avLst>
          </a:prstGeom>
          <a:solidFill>
            <a:srgbClr val="F5F9FE"/>
          </a:solidFill>
          <a:ln>
            <a:solidFill>
              <a:srgbClr val="E3EDF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55" name="矩形"/>
          <p:cNvSpPr/>
          <p:nvPr/>
        </p:nvSpPr>
        <p:spPr>
          <a:xfrm>
            <a:off x="2571750" y="1247775"/>
            <a:ext cx="14287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2100">
                <a:solidFill>
                  <a:srgbClr val="2F9D68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556" name="12"/>
          <p:cNvSpPr txBox="1"/>
          <p:nvPr/>
        </p:nvSpPr>
        <p:spPr>
          <a:xfrm>
            <a:off x="2571750" y="1247775"/>
            <a:ext cx="1428750" cy="2960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2100">
                <a:solidFill>
                  <a:srgbClr val="2F9D68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12</a:t>
            </a:r>
          </a:p>
        </p:txBody>
      </p:sp>
      <p:sp>
        <p:nvSpPr>
          <p:cNvPr id="1557" name="矩形"/>
          <p:cNvSpPr/>
          <p:nvPr/>
        </p:nvSpPr>
        <p:spPr>
          <a:xfrm>
            <a:off x="2647950" y="1638300"/>
            <a:ext cx="127635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558" name="通过"/>
          <p:cNvSpPr txBox="1"/>
          <p:nvPr/>
        </p:nvSpPr>
        <p:spPr>
          <a:xfrm>
            <a:off x="2647950" y="1638300"/>
            <a:ext cx="1276350" cy="16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通过</a:t>
            </a:r>
          </a:p>
        </p:txBody>
      </p:sp>
      <p:sp>
        <p:nvSpPr>
          <p:cNvPr id="1559" name="圆角矩形"/>
          <p:cNvSpPr/>
          <p:nvPr/>
        </p:nvSpPr>
        <p:spPr>
          <a:xfrm>
            <a:off x="4286250" y="1143000"/>
            <a:ext cx="1428750" cy="819150"/>
          </a:xfrm>
          <a:prstGeom prst="roundRect">
            <a:avLst>
              <a:gd name="adj" fmla="val 9302"/>
            </a:avLst>
          </a:prstGeom>
          <a:solidFill>
            <a:srgbClr val="F5F9FE"/>
          </a:solidFill>
          <a:ln>
            <a:solidFill>
              <a:srgbClr val="E3EDF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60" name="矩形"/>
          <p:cNvSpPr/>
          <p:nvPr/>
        </p:nvSpPr>
        <p:spPr>
          <a:xfrm>
            <a:off x="4286250" y="1247775"/>
            <a:ext cx="14287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2100">
                <a:solidFill>
                  <a:srgbClr val="D9A12A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561" name="1"/>
          <p:cNvSpPr txBox="1"/>
          <p:nvPr/>
        </p:nvSpPr>
        <p:spPr>
          <a:xfrm>
            <a:off x="4286250" y="1247775"/>
            <a:ext cx="1428750" cy="2960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2100">
                <a:solidFill>
                  <a:srgbClr val="D9A12A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562" name="矩形"/>
          <p:cNvSpPr/>
          <p:nvPr/>
        </p:nvSpPr>
        <p:spPr>
          <a:xfrm>
            <a:off x="4362450" y="1638300"/>
            <a:ext cx="127635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563" name="CLI 部分通过"/>
          <p:cNvSpPr txBox="1"/>
          <p:nvPr/>
        </p:nvSpPr>
        <p:spPr>
          <a:xfrm>
            <a:off x="4362450" y="1638300"/>
            <a:ext cx="1276350" cy="16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CLI 部分通过</a:t>
            </a:r>
          </a:p>
        </p:txBody>
      </p:sp>
      <p:sp>
        <p:nvSpPr>
          <p:cNvPr id="1564" name="圆角矩形"/>
          <p:cNvSpPr/>
          <p:nvPr/>
        </p:nvSpPr>
        <p:spPr>
          <a:xfrm>
            <a:off x="6667500" y="1143000"/>
            <a:ext cx="1428750" cy="819150"/>
          </a:xfrm>
          <a:prstGeom prst="roundRect">
            <a:avLst>
              <a:gd name="adj" fmla="val 9302"/>
            </a:avLst>
          </a:prstGeom>
          <a:solidFill>
            <a:srgbClr val="F5F9FE"/>
          </a:solidFill>
          <a:ln>
            <a:solidFill>
              <a:srgbClr val="E3EDF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65" name="矩形"/>
          <p:cNvSpPr/>
          <p:nvPr/>
        </p:nvSpPr>
        <p:spPr>
          <a:xfrm>
            <a:off x="6667500" y="1247775"/>
            <a:ext cx="14287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21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566" name="5"/>
          <p:cNvSpPr txBox="1"/>
          <p:nvPr/>
        </p:nvSpPr>
        <p:spPr>
          <a:xfrm>
            <a:off x="6667500" y="1247775"/>
            <a:ext cx="1428750" cy="2960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21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1567" name="矩形"/>
          <p:cNvSpPr/>
          <p:nvPr/>
        </p:nvSpPr>
        <p:spPr>
          <a:xfrm>
            <a:off x="6743700" y="1638300"/>
            <a:ext cx="127635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568" name="覆盖族"/>
          <p:cNvSpPr txBox="1"/>
          <p:nvPr/>
        </p:nvSpPr>
        <p:spPr>
          <a:xfrm>
            <a:off x="6743700" y="1638300"/>
            <a:ext cx="1276350" cy="16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覆盖族</a:t>
            </a:r>
          </a:p>
        </p:txBody>
      </p:sp>
      <p:sp>
        <p:nvSpPr>
          <p:cNvPr id="1569" name="圆角矩形"/>
          <p:cNvSpPr/>
          <p:nvPr/>
        </p:nvSpPr>
        <p:spPr>
          <a:xfrm>
            <a:off x="8382000" y="1143000"/>
            <a:ext cx="1428750" cy="819150"/>
          </a:xfrm>
          <a:prstGeom prst="roundRect">
            <a:avLst>
              <a:gd name="adj" fmla="val 9302"/>
            </a:avLst>
          </a:prstGeom>
          <a:solidFill>
            <a:srgbClr val="F5F9FE"/>
          </a:solidFill>
          <a:ln>
            <a:solidFill>
              <a:srgbClr val="E3EDF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70" name="矩形"/>
          <p:cNvSpPr/>
          <p:nvPr/>
        </p:nvSpPr>
        <p:spPr>
          <a:xfrm>
            <a:off x="8382000" y="1247775"/>
            <a:ext cx="14287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2100">
                <a:solidFill>
                  <a:srgbClr val="2F9D68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571" name="0"/>
          <p:cNvSpPr txBox="1"/>
          <p:nvPr/>
        </p:nvSpPr>
        <p:spPr>
          <a:xfrm>
            <a:off x="8382000" y="1247775"/>
            <a:ext cx="1428750" cy="2960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2100">
                <a:solidFill>
                  <a:srgbClr val="2F9D68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0</a:t>
            </a:r>
          </a:p>
        </p:txBody>
      </p:sp>
      <p:sp>
        <p:nvSpPr>
          <p:cNvPr id="1572" name="矩形"/>
          <p:cNvSpPr/>
          <p:nvPr/>
        </p:nvSpPr>
        <p:spPr>
          <a:xfrm>
            <a:off x="8458200" y="1638300"/>
            <a:ext cx="127635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573" name="静默崩溃"/>
          <p:cNvSpPr txBox="1"/>
          <p:nvPr/>
        </p:nvSpPr>
        <p:spPr>
          <a:xfrm>
            <a:off x="8458200" y="1638300"/>
            <a:ext cx="1276350" cy="16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静默崩溃</a:t>
            </a:r>
          </a:p>
        </p:txBody>
      </p:sp>
      <p:sp>
        <p:nvSpPr>
          <p:cNvPr id="1574" name="圆角矩形"/>
          <p:cNvSpPr/>
          <p:nvPr/>
        </p:nvSpPr>
        <p:spPr>
          <a:xfrm>
            <a:off x="857250" y="2476500"/>
            <a:ext cx="3000375" cy="81915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>
            <a:solidFill>
              <a:srgbClr val="0052A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75" name="矩形"/>
          <p:cNvSpPr/>
          <p:nvPr/>
        </p:nvSpPr>
        <p:spPr>
          <a:xfrm>
            <a:off x="857250" y="2476500"/>
            <a:ext cx="57150" cy="819150"/>
          </a:xfrm>
          <a:prstGeom prst="rect">
            <a:avLst/>
          </a:prstGeom>
          <a:solidFill>
            <a:srgbClr val="0052A5"/>
          </a:solidFill>
          <a:ln w="3175">
            <a:solidFill>
              <a:srgbClr val="0052A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76" name="矩形"/>
          <p:cNvSpPr/>
          <p:nvPr/>
        </p:nvSpPr>
        <p:spPr>
          <a:xfrm>
            <a:off x="1028700" y="2609850"/>
            <a:ext cx="265747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577" name="API / 任务录入"/>
          <p:cNvSpPr txBox="1"/>
          <p:nvPr/>
        </p:nvSpPr>
        <p:spPr>
          <a:xfrm>
            <a:off x="1028700" y="2609850"/>
            <a:ext cx="2657475" cy="215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API / 任务录入</a:t>
            </a:r>
          </a:p>
        </p:txBody>
      </p:sp>
      <p:sp>
        <p:nvSpPr>
          <p:cNvPr id="1578" name="矩形"/>
          <p:cNvSpPr/>
          <p:nvPr/>
        </p:nvSpPr>
        <p:spPr>
          <a:xfrm>
            <a:off x="1028700" y="2895600"/>
            <a:ext cx="265747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579" name="健康检查、任务创建、任务详情、报告接口"/>
          <p:cNvSpPr txBox="1"/>
          <p:nvPr/>
        </p:nvSpPr>
        <p:spPr>
          <a:xfrm>
            <a:off x="1028700" y="2895600"/>
            <a:ext cx="2657475" cy="16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健康检查、任务创建、任务详情、报告接口</a:t>
            </a:r>
          </a:p>
        </p:txBody>
      </p:sp>
      <p:sp>
        <p:nvSpPr>
          <p:cNvPr id="1580" name="圆角矩形"/>
          <p:cNvSpPr/>
          <p:nvPr/>
        </p:nvSpPr>
        <p:spPr>
          <a:xfrm>
            <a:off x="4286250" y="2476500"/>
            <a:ext cx="3000375" cy="819150"/>
          </a:xfrm>
          <a:prstGeom prst="roundRect">
            <a:avLst>
              <a:gd name="adj" fmla="val 9302"/>
            </a:avLst>
          </a:prstGeom>
          <a:solidFill>
            <a:srgbClr val="F5F9FE"/>
          </a:solidFill>
          <a:ln>
            <a:solidFill>
              <a:srgbClr val="2F9D6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81" name="矩形"/>
          <p:cNvSpPr/>
          <p:nvPr/>
        </p:nvSpPr>
        <p:spPr>
          <a:xfrm>
            <a:off x="4286250" y="2476500"/>
            <a:ext cx="57150" cy="819150"/>
          </a:xfrm>
          <a:prstGeom prst="rect">
            <a:avLst/>
          </a:prstGeom>
          <a:solidFill>
            <a:srgbClr val="2F9D68"/>
          </a:solidFill>
          <a:ln w="3175">
            <a:solidFill>
              <a:srgbClr val="2F9D6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82" name="矩形"/>
          <p:cNvSpPr/>
          <p:nvPr/>
        </p:nvSpPr>
        <p:spPr>
          <a:xfrm>
            <a:off x="4457700" y="2609850"/>
            <a:ext cx="265747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200">
                <a:solidFill>
                  <a:srgbClr val="2F9D68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583" name="FSM / HITL / 快照"/>
          <p:cNvSpPr txBox="1"/>
          <p:nvPr/>
        </p:nvSpPr>
        <p:spPr>
          <a:xfrm>
            <a:off x="4457700" y="2609850"/>
            <a:ext cx="2657475" cy="215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200">
                <a:solidFill>
                  <a:srgbClr val="2F9D68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FSM / HITL / 快照</a:t>
            </a:r>
          </a:p>
        </p:txBody>
      </p:sp>
      <p:sp>
        <p:nvSpPr>
          <p:cNvPr id="1584" name="矩形"/>
          <p:cNvSpPr/>
          <p:nvPr/>
        </p:nvSpPr>
        <p:spPr>
          <a:xfrm>
            <a:off x="4457700" y="2895600"/>
            <a:ext cx="265747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585" name="等待态、人工决策、状态迁移与快照恢复"/>
          <p:cNvSpPr txBox="1"/>
          <p:nvPr/>
        </p:nvSpPr>
        <p:spPr>
          <a:xfrm>
            <a:off x="4457700" y="2895600"/>
            <a:ext cx="2657475" cy="16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等待态、人工决策、状态迁移与快照恢复</a:t>
            </a:r>
          </a:p>
        </p:txBody>
      </p:sp>
      <p:sp>
        <p:nvSpPr>
          <p:cNvPr id="1586" name="圆角矩形"/>
          <p:cNvSpPr/>
          <p:nvPr/>
        </p:nvSpPr>
        <p:spPr>
          <a:xfrm>
            <a:off x="7715250" y="2476500"/>
            <a:ext cx="3000375" cy="81915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>
            <a:solidFill>
              <a:srgbClr val="D9A1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87" name="矩形"/>
          <p:cNvSpPr/>
          <p:nvPr/>
        </p:nvSpPr>
        <p:spPr>
          <a:xfrm>
            <a:off x="7715250" y="2476500"/>
            <a:ext cx="57150" cy="819150"/>
          </a:xfrm>
          <a:prstGeom prst="rect">
            <a:avLst/>
          </a:prstGeom>
          <a:solidFill>
            <a:srgbClr val="D9A12A"/>
          </a:solidFill>
          <a:ln w="3175">
            <a:solidFill>
              <a:srgbClr val="D9A1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88" name="矩形"/>
          <p:cNvSpPr/>
          <p:nvPr/>
        </p:nvSpPr>
        <p:spPr>
          <a:xfrm>
            <a:off x="7886700" y="2609850"/>
            <a:ext cx="265747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200">
                <a:solidFill>
                  <a:srgbClr val="D9A12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589" name="Web / CLI"/>
          <p:cNvSpPr txBox="1"/>
          <p:nvPr/>
        </p:nvSpPr>
        <p:spPr>
          <a:xfrm>
            <a:off x="7886700" y="2609850"/>
            <a:ext cx="2657475" cy="17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200">
                <a:solidFill>
                  <a:srgbClr val="D9A12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Web / CLI</a:t>
            </a:r>
          </a:p>
        </p:txBody>
      </p:sp>
      <p:sp>
        <p:nvSpPr>
          <p:cNvPr id="1590" name="矩形"/>
          <p:cNvSpPr/>
          <p:nvPr/>
        </p:nvSpPr>
        <p:spPr>
          <a:xfrm>
            <a:off x="7886700" y="2895600"/>
            <a:ext cx="265747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591" name="工作台展示、事件时间线、命令行路径"/>
          <p:cNvSpPr txBox="1"/>
          <p:nvPr/>
        </p:nvSpPr>
        <p:spPr>
          <a:xfrm>
            <a:off x="7886700" y="2895600"/>
            <a:ext cx="2657475" cy="16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工作台展示、事件时间线、命令行路径</a:t>
            </a:r>
          </a:p>
        </p:txBody>
      </p:sp>
      <p:sp>
        <p:nvSpPr>
          <p:cNvPr id="1592" name="圆角矩形"/>
          <p:cNvSpPr/>
          <p:nvPr/>
        </p:nvSpPr>
        <p:spPr>
          <a:xfrm>
            <a:off x="1619250" y="3571875"/>
            <a:ext cx="4572000" cy="819150"/>
          </a:xfrm>
          <a:prstGeom prst="roundRect">
            <a:avLst>
              <a:gd name="adj" fmla="val 9302"/>
            </a:avLst>
          </a:prstGeom>
          <a:solidFill>
            <a:srgbClr val="F5F9FE"/>
          </a:solidFill>
          <a:ln>
            <a:solidFill>
              <a:srgbClr val="0052A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93" name="矩形"/>
          <p:cNvSpPr/>
          <p:nvPr/>
        </p:nvSpPr>
        <p:spPr>
          <a:xfrm>
            <a:off x="1619250" y="3571875"/>
            <a:ext cx="57150" cy="819150"/>
          </a:xfrm>
          <a:prstGeom prst="rect">
            <a:avLst/>
          </a:prstGeom>
          <a:solidFill>
            <a:srgbClr val="0052A5"/>
          </a:solidFill>
          <a:ln w="3175">
            <a:solidFill>
              <a:srgbClr val="0052A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94" name="矩形"/>
          <p:cNvSpPr/>
          <p:nvPr/>
        </p:nvSpPr>
        <p:spPr>
          <a:xfrm>
            <a:off x="1790700" y="3705225"/>
            <a:ext cx="42291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595" name="端到端 / 工具链"/>
          <p:cNvSpPr txBox="1"/>
          <p:nvPr/>
        </p:nvSpPr>
        <p:spPr>
          <a:xfrm>
            <a:off x="1790700" y="3705225"/>
            <a:ext cx="4229100" cy="215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端到端 / 工具链</a:t>
            </a:r>
          </a:p>
        </p:txBody>
      </p:sp>
      <p:sp>
        <p:nvSpPr>
          <p:cNvPr id="1596" name="矩形"/>
          <p:cNvSpPr/>
          <p:nvPr/>
        </p:nvSpPr>
        <p:spPr>
          <a:xfrm>
            <a:off x="1790700" y="3990975"/>
            <a:ext cx="42291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597" name="计划生成、工具执行、结果汇总链路"/>
          <p:cNvSpPr txBox="1"/>
          <p:nvPr/>
        </p:nvSpPr>
        <p:spPr>
          <a:xfrm>
            <a:off x="1790700" y="3990975"/>
            <a:ext cx="4229100" cy="16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计划生成、工具执行、结果汇总链路</a:t>
            </a:r>
          </a:p>
        </p:txBody>
      </p:sp>
      <p:sp>
        <p:nvSpPr>
          <p:cNvPr id="1598" name="圆角矩形"/>
          <p:cNvSpPr/>
          <p:nvPr/>
        </p:nvSpPr>
        <p:spPr>
          <a:xfrm>
            <a:off x="6572250" y="3571875"/>
            <a:ext cx="4572000" cy="81915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>
            <a:solidFill>
              <a:srgbClr val="C94C4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99" name="矩形"/>
          <p:cNvSpPr/>
          <p:nvPr/>
        </p:nvSpPr>
        <p:spPr>
          <a:xfrm>
            <a:off x="6572250" y="3571875"/>
            <a:ext cx="57150" cy="819150"/>
          </a:xfrm>
          <a:prstGeom prst="rect">
            <a:avLst/>
          </a:prstGeom>
          <a:solidFill>
            <a:srgbClr val="C94C4C"/>
          </a:solidFill>
          <a:ln w="3175">
            <a:solidFill>
              <a:srgbClr val="C94C4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00" name="矩形"/>
          <p:cNvSpPr/>
          <p:nvPr/>
        </p:nvSpPr>
        <p:spPr>
          <a:xfrm>
            <a:off x="6743700" y="3705225"/>
            <a:ext cx="42291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200">
                <a:solidFill>
                  <a:srgbClr val="C94C4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601" name="异常 / 安全 / 恢复"/>
          <p:cNvSpPr txBox="1"/>
          <p:nvPr/>
        </p:nvSpPr>
        <p:spPr>
          <a:xfrm>
            <a:off x="6743700" y="3705225"/>
            <a:ext cx="4229100" cy="215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200">
                <a:solidFill>
                  <a:srgbClr val="C94C4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异常 / 安全 / 恢复</a:t>
            </a:r>
          </a:p>
        </p:txBody>
      </p:sp>
      <p:sp>
        <p:nvSpPr>
          <p:cNvPr id="1602" name="矩形"/>
          <p:cNvSpPr/>
          <p:nvPr/>
        </p:nvSpPr>
        <p:spPr>
          <a:xfrm>
            <a:off x="6743700" y="3990975"/>
            <a:ext cx="42291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603" name="失败恢复、安全阻断、边界输入"/>
          <p:cNvSpPr txBox="1"/>
          <p:nvPr/>
        </p:nvSpPr>
        <p:spPr>
          <a:xfrm>
            <a:off x="6743700" y="3990975"/>
            <a:ext cx="4229100" cy="16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失败恢复、安全阻断、边界输入</a:t>
            </a:r>
          </a:p>
        </p:txBody>
      </p:sp>
      <p:sp>
        <p:nvSpPr>
          <p:cNvPr id="1604" name="圆角矩形"/>
          <p:cNvSpPr/>
          <p:nvPr/>
        </p:nvSpPr>
        <p:spPr>
          <a:xfrm>
            <a:off x="1476375" y="4953000"/>
            <a:ext cx="9239250" cy="552450"/>
          </a:xfrm>
          <a:prstGeom prst="roundRect">
            <a:avLst>
              <a:gd name="adj" fmla="val 13793"/>
            </a:avLst>
          </a:prstGeom>
          <a:solidFill>
            <a:srgbClr val="EAF3FF"/>
          </a:solidFill>
          <a:ln>
            <a:solidFill>
              <a:srgbClr val="9DC3E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05" name="矩形"/>
          <p:cNvSpPr/>
          <p:nvPr/>
        </p:nvSpPr>
        <p:spPr>
          <a:xfrm>
            <a:off x="1647825" y="5086350"/>
            <a:ext cx="88963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606" name="工程验证结论"/>
          <p:cNvSpPr txBox="1"/>
          <p:nvPr/>
        </p:nvSpPr>
        <p:spPr>
          <a:xfrm>
            <a:off x="1647825" y="5086350"/>
            <a:ext cx="8896350" cy="215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工程验证结论</a:t>
            </a:r>
          </a:p>
        </p:txBody>
      </p:sp>
      <p:sp>
        <p:nvSpPr>
          <p:cNvPr id="1607" name="矩形"/>
          <p:cNvSpPr/>
          <p:nvPr/>
        </p:nvSpPr>
        <p:spPr>
          <a:xfrm>
            <a:off x="1647825" y="5276850"/>
            <a:ext cx="88963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608" name="系统测试回答“能不能稳定运行”：任务接入、状态控制、人在环决策、快照恢复和异常路径均有覆盖。"/>
          <p:cNvSpPr txBox="1"/>
          <p:nvPr/>
        </p:nvSpPr>
        <p:spPr>
          <a:xfrm>
            <a:off x="1647825" y="5276850"/>
            <a:ext cx="8896350" cy="203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系统测试回答“能不能稳定运行”：任务接入、状态控制、人在环决策、快照恢复和异常路径均有覆盖。</a:t>
            </a:r>
          </a:p>
        </p:txBody>
      </p:sp>
      <p:grpSp>
        <p:nvGrpSpPr>
          <p:cNvPr id="1611" name="矩形 1642"/>
          <p:cNvGrpSpPr/>
          <p:nvPr/>
        </p:nvGrpSpPr>
        <p:grpSpPr>
          <a:xfrm>
            <a:off x="11696700" y="6419850"/>
            <a:ext cx="323850" cy="266700"/>
            <a:chOff x="0" y="0"/>
            <a:chExt cx="323850" cy="266700"/>
          </a:xfrm>
        </p:grpSpPr>
        <p:sp>
          <p:nvSpPr>
            <p:cNvPr id="1609" name="矩形"/>
            <p:cNvSpPr/>
            <p:nvPr/>
          </p:nvSpPr>
          <p:spPr>
            <a:xfrm>
              <a:off x="0" y="0"/>
              <a:ext cx="3238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>
                <a:defRPr b="1" sz="1300">
                  <a:solidFill>
                    <a:srgbClr val="8A8A8A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610" name="13"/>
            <p:cNvSpPr txBox="1"/>
            <p:nvPr/>
          </p:nvSpPr>
          <p:spPr>
            <a:xfrm>
              <a:off x="0" y="0"/>
              <a:ext cx="323850" cy="1850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300">
                  <a:solidFill>
                    <a:srgbClr val="8A8A8A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614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pic>
        <p:nvPicPr>
          <p:cNvPr id="1615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24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1616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17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18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19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20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21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22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23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24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25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26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27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28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29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30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31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32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33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34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35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36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37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38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39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40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41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42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43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44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45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46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47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48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49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50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51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52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53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54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55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56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57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58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59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60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61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62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63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64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65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66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67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68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69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70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71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72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73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74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75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76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77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78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79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80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81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82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83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84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685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63"/>
          </a:xfrm>
          <a:prstGeom prst="rect">
            <a:avLst/>
          </a:prstGeom>
          <a:ln w="12700">
            <a:miter lim="400000"/>
          </a:ln>
        </p:spPr>
      </p:pic>
      <p:sp>
        <p:nvSpPr>
          <p:cNvPr id="1686" name="矩形"/>
          <p:cNvSpPr/>
          <p:nvPr/>
        </p:nvSpPr>
        <p:spPr>
          <a:xfrm>
            <a:off x="1000125" y="200025"/>
            <a:ext cx="7239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 anchor="ctr"/>
          <a:lstStyle/>
          <a:p>
            <a:pPr>
              <a:defRPr b="1" sz="2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687" name="验证二：84 次运行消融实验"/>
          <p:cNvSpPr txBox="1"/>
          <p:nvPr/>
        </p:nvSpPr>
        <p:spPr>
          <a:xfrm>
            <a:off x="1000125" y="238123"/>
            <a:ext cx="7239000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验证二：84 次运行消融实验</a:t>
            </a:r>
          </a:p>
        </p:txBody>
      </p:sp>
      <p:sp>
        <p:nvSpPr>
          <p:cNvPr id="1688" name="矩形"/>
          <p:cNvSpPr/>
          <p:nvPr/>
        </p:nvSpPr>
        <p:spPr>
          <a:xfrm>
            <a:off x="8667750" y="2286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 anchor="ctr"/>
          <a:lstStyle/>
          <a:p>
            <a:pPr algn="ctr">
              <a:defRPr b="1"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689" name="EXPERIMENT"/>
          <p:cNvSpPr txBox="1"/>
          <p:nvPr/>
        </p:nvSpPr>
        <p:spPr>
          <a:xfrm>
            <a:off x="8667750" y="269874"/>
            <a:ext cx="142875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EXPERIMENT</a:t>
            </a:r>
          </a:p>
        </p:txBody>
      </p:sp>
      <p:sp>
        <p:nvSpPr>
          <p:cNvPr id="1690" name="矩形"/>
          <p:cNvSpPr/>
          <p:nvPr/>
        </p:nvSpPr>
        <p:spPr>
          <a:xfrm>
            <a:off x="904875" y="952500"/>
            <a:ext cx="895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200">
                <a:solidFill>
                  <a:srgbClr val="082B6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691" name="4 组策略 × 每组 21 次运行 = 84 次运行；任务集覆盖 12 个 task_key、8 类场景。"/>
          <p:cNvSpPr txBox="1"/>
          <p:nvPr/>
        </p:nvSpPr>
        <p:spPr>
          <a:xfrm>
            <a:off x="904875" y="952500"/>
            <a:ext cx="8953500" cy="215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200">
                <a:solidFill>
                  <a:srgbClr val="082B6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4 组策略 × 每组 21 次运行 = 84 次运行；任务集覆盖 12 个 task_key、8 类场景。</a:t>
            </a:r>
          </a:p>
        </p:txBody>
      </p:sp>
      <p:sp>
        <p:nvSpPr>
          <p:cNvPr id="1692" name="圆角矩形"/>
          <p:cNvSpPr/>
          <p:nvPr/>
        </p:nvSpPr>
        <p:spPr>
          <a:xfrm>
            <a:off x="9191625" y="914400"/>
            <a:ext cx="2095500" cy="266700"/>
          </a:xfrm>
          <a:prstGeom prst="roundRect">
            <a:avLst>
              <a:gd name="adj" fmla="val 28571"/>
            </a:avLst>
          </a:prstGeom>
          <a:solidFill>
            <a:srgbClr val="EAF3FF"/>
          </a:solidFill>
          <a:ln>
            <a:solidFill>
              <a:srgbClr val="0052A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93" name="矩形"/>
          <p:cNvSpPr/>
          <p:nvPr/>
        </p:nvSpPr>
        <p:spPr>
          <a:xfrm>
            <a:off x="9248775" y="971550"/>
            <a:ext cx="1981200" cy="14287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8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694" name="总结果：81 DONE / 3 FAILED"/>
          <p:cNvSpPr txBox="1"/>
          <p:nvPr/>
        </p:nvSpPr>
        <p:spPr>
          <a:xfrm>
            <a:off x="9248775" y="971550"/>
            <a:ext cx="198120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8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总结果：81 DONE / 3 FAILED</a:t>
            </a:r>
          </a:p>
        </p:txBody>
      </p:sp>
      <p:sp>
        <p:nvSpPr>
          <p:cNvPr id="1695" name="圆角矩形"/>
          <p:cNvSpPr/>
          <p:nvPr/>
        </p:nvSpPr>
        <p:spPr>
          <a:xfrm>
            <a:off x="685800" y="1428750"/>
            <a:ext cx="2324100" cy="1381125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>
            <a:solidFill>
              <a:srgbClr val="0052A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96" name="矩形"/>
          <p:cNvSpPr/>
          <p:nvPr/>
        </p:nvSpPr>
        <p:spPr>
          <a:xfrm>
            <a:off x="685800" y="1428750"/>
            <a:ext cx="57150" cy="1381125"/>
          </a:xfrm>
          <a:prstGeom prst="rect">
            <a:avLst/>
          </a:prstGeom>
          <a:solidFill>
            <a:srgbClr val="0052A5"/>
          </a:solidFill>
          <a:ln w="3175">
            <a:solidFill>
              <a:srgbClr val="0052A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97" name="矩形"/>
          <p:cNvSpPr/>
          <p:nvPr/>
        </p:nvSpPr>
        <p:spPr>
          <a:xfrm>
            <a:off x="857250" y="1562100"/>
            <a:ext cx="1981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0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698" name="static_top1"/>
          <p:cNvSpPr txBox="1"/>
          <p:nvPr/>
        </p:nvSpPr>
        <p:spPr>
          <a:xfrm>
            <a:off x="857250" y="1562100"/>
            <a:ext cx="19812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0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static_top1</a:t>
            </a:r>
          </a:p>
        </p:txBody>
      </p:sp>
      <p:sp>
        <p:nvSpPr>
          <p:cNvPr id="1699" name="矩形"/>
          <p:cNvSpPr/>
          <p:nvPr/>
        </p:nvSpPr>
        <p:spPr>
          <a:xfrm>
            <a:off x="857250" y="1790700"/>
            <a:ext cx="19812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700" name="静态最高分单候选"/>
          <p:cNvSpPr txBox="1"/>
          <p:nvPr/>
        </p:nvSpPr>
        <p:spPr>
          <a:xfrm>
            <a:off x="857250" y="1790700"/>
            <a:ext cx="198120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静态最高分单候选</a:t>
            </a:r>
          </a:p>
        </p:txBody>
      </p:sp>
      <p:sp>
        <p:nvSpPr>
          <p:cNvPr id="1701" name="矩形"/>
          <p:cNvSpPr/>
          <p:nvPr/>
        </p:nvSpPr>
        <p:spPr>
          <a:xfrm>
            <a:off x="914400" y="2152650"/>
            <a:ext cx="52387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702" name="DONE"/>
          <p:cNvSpPr txBox="1"/>
          <p:nvPr/>
        </p:nvSpPr>
        <p:spPr>
          <a:xfrm>
            <a:off x="914400" y="2152650"/>
            <a:ext cx="523875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DONE</a:t>
            </a:r>
          </a:p>
        </p:txBody>
      </p:sp>
      <p:sp>
        <p:nvSpPr>
          <p:cNvPr id="1703" name="矩形"/>
          <p:cNvSpPr/>
          <p:nvPr/>
        </p:nvSpPr>
        <p:spPr>
          <a:xfrm>
            <a:off x="914400" y="2305050"/>
            <a:ext cx="523875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600">
                <a:solidFill>
                  <a:srgbClr val="2F9D68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704" name="21"/>
          <p:cNvSpPr txBox="1"/>
          <p:nvPr/>
        </p:nvSpPr>
        <p:spPr>
          <a:xfrm>
            <a:off x="914400" y="2305050"/>
            <a:ext cx="523875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600">
                <a:solidFill>
                  <a:srgbClr val="2F9D68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21</a:t>
            </a:r>
          </a:p>
        </p:txBody>
      </p:sp>
      <p:sp>
        <p:nvSpPr>
          <p:cNvPr id="1705" name="矩形"/>
          <p:cNvSpPr/>
          <p:nvPr/>
        </p:nvSpPr>
        <p:spPr>
          <a:xfrm>
            <a:off x="1600200" y="2152650"/>
            <a:ext cx="5715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706" name="FAILED"/>
          <p:cNvSpPr txBox="1"/>
          <p:nvPr/>
        </p:nvSpPr>
        <p:spPr>
          <a:xfrm>
            <a:off x="1600200" y="2152650"/>
            <a:ext cx="5715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FAILED</a:t>
            </a:r>
          </a:p>
        </p:txBody>
      </p:sp>
      <p:sp>
        <p:nvSpPr>
          <p:cNvPr id="1707" name="矩形"/>
          <p:cNvSpPr/>
          <p:nvPr/>
        </p:nvSpPr>
        <p:spPr>
          <a:xfrm>
            <a:off x="1600200" y="2305050"/>
            <a:ext cx="57150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600">
                <a:solidFill>
                  <a:srgbClr val="2F9D68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708" name="0"/>
          <p:cNvSpPr txBox="1"/>
          <p:nvPr/>
        </p:nvSpPr>
        <p:spPr>
          <a:xfrm>
            <a:off x="1600200" y="2305050"/>
            <a:ext cx="571500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600">
                <a:solidFill>
                  <a:srgbClr val="2F9D68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0</a:t>
            </a:r>
          </a:p>
        </p:txBody>
      </p:sp>
      <p:sp>
        <p:nvSpPr>
          <p:cNvPr id="1709" name="矩形"/>
          <p:cNvSpPr/>
          <p:nvPr/>
        </p:nvSpPr>
        <p:spPr>
          <a:xfrm>
            <a:off x="2324100" y="2152650"/>
            <a:ext cx="5524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sz="700">
                <a:solidFill>
                  <a:srgbClr val="6B728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710" name="高代价"/>
          <p:cNvSpPr txBox="1"/>
          <p:nvPr/>
        </p:nvSpPr>
        <p:spPr>
          <a:xfrm>
            <a:off x="2324100" y="2152650"/>
            <a:ext cx="55245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700">
                <a:solidFill>
                  <a:srgbClr val="6B728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高代价</a:t>
            </a:r>
          </a:p>
        </p:txBody>
      </p:sp>
      <p:sp>
        <p:nvSpPr>
          <p:cNvPr id="1711" name="矩形"/>
          <p:cNvSpPr/>
          <p:nvPr/>
        </p:nvSpPr>
        <p:spPr>
          <a:xfrm>
            <a:off x="2324100" y="2305050"/>
            <a:ext cx="55245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6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712" name="21"/>
          <p:cNvSpPr txBox="1"/>
          <p:nvPr/>
        </p:nvSpPr>
        <p:spPr>
          <a:xfrm>
            <a:off x="2324100" y="2305050"/>
            <a:ext cx="552450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6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21</a:t>
            </a:r>
          </a:p>
        </p:txBody>
      </p:sp>
      <p:sp>
        <p:nvSpPr>
          <p:cNvPr id="1713" name="矩形"/>
          <p:cNvSpPr/>
          <p:nvPr/>
        </p:nvSpPr>
        <p:spPr>
          <a:xfrm>
            <a:off x="857250" y="2590800"/>
            <a:ext cx="19812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sz="7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714" name="无运行时自适应"/>
          <p:cNvSpPr txBox="1"/>
          <p:nvPr/>
        </p:nvSpPr>
        <p:spPr>
          <a:xfrm>
            <a:off x="857250" y="2590800"/>
            <a:ext cx="19812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7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无运行时自适应</a:t>
            </a:r>
          </a:p>
        </p:txBody>
      </p:sp>
      <p:sp>
        <p:nvSpPr>
          <p:cNvPr id="1715" name="圆角矩形"/>
          <p:cNvSpPr/>
          <p:nvPr/>
        </p:nvSpPr>
        <p:spPr>
          <a:xfrm>
            <a:off x="3181350" y="1428750"/>
            <a:ext cx="2324100" cy="1381125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>
            <a:solidFill>
              <a:srgbClr val="D9A1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16" name="矩形"/>
          <p:cNvSpPr/>
          <p:nvPr/>
        </p:nvSpPr>
        <p:spPr>
          <a:xfrm>
            <a:off x="3181350" y="1428750"/>
            <a:ext cx="57150" cy="1381125"/>
          </a:xfrm>
          <a:prstGeom prst="rect">
            <a:avLst/>
          </a:prstGeom>
          <a:solidFill>
            <a:srgbClr val="D9A12A"/>
          </a:solidFill>
          <a:ln w="3175">
            <a:solidFill>
              <a:srgbClr val="D9A1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17" name="矩形"/>
          <p:cNvSpPr/>
          <p:nvPr/>
        </p:nvSpPr>
        <p:spPr>
          <a:xfrm>
            <a:off x="3352800" y="1562100"/>
            <a:ext cx="1981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000">
                <a:solidFill>
                  <a:srgbClr val="D9A12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718" name="fixed_threshold_gate"/>
          <p:cNvSpPr txBox="1"/>
          <p:nvPr/>
        </p:nvSpPr>
        <p:spPr>
          <a:xfrm>
            <a:off x="3352800" y="1562100"/>
            <a:ext cx="19812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000">
                <a:solidFill>
                  <a:srgbClr val="D9A12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fixed_threshold_gate</a:t>
            </a:r>
          </a:p>
        </p:txBody>
      </p:sp>
      <p:sp>
        <p:nvSpPr>
          <p:cNvPr id="1719" name="矩形"/>
          <p:cNvSpPr/>
          <p:nvPr/>
        </p:nvSpPr>
        <p:spPr>
          <a:xfrm>
            <a:off x="3352800" y="1790700"/>
            <a:ext cx="19812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720" name="固定阈值门控"/>
          <p:cNvSpPr txBox="1"/>
          <p:nvPr/>
        </p:nvSpPr>
        <p:spPr>
          <a:xfrm>
            <a:off x="3352800" y="1790700"/>
            <a:ext cx="198120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固定阈值门控</a:t>
            </a:r>
          </a:p>
        </p:txBody>
      </p:sp>
      <p:sp>
        <p:nvSpPr>
          <p:cNvPr id="1721" name="矩形"/>
          <p:cNvSpPr/>
          <p:nvPr/>
        </p:nvSpPr>
        <p:spPr>
          <a:xfrm>
            <a:off x="3409950" y="2152650"/>
            <a:ext cx="52387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722" name="DONE"/>
          <p:cNvSpPr txBox="1"/>
          <p:nvPr/>
        </p:nvSpPr>
        <p:spPr>
          <a:xfrm>
            <a:off x="3409950" y="2152650"/>
            <a:ext cx="523875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DONE</a:t>
            </a:r>
          </a:p>
        </p:txBody>
      </p:sp>
      <p:sp>
        <p:nvSpPr>
          <p:cNvPr id="1723" name="矩形"/>
          <p:cNvSpPr/>
          <p:nvPr/>
        </p:nvSpPr>
        <p:spPr>
          <a:xfrm>
            <a:off x="3409950" y="2305050"/>
            <a:ext cx="523875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600">
                <a:solidFill>
                  <a:srgbClr val="2F9D68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724" name="20"/>
          <p:cNvSpPr txBox="1"/>
          <p:nvPr/>
        </p:nvSpPr>
        <p:spPr>
          <a:xfrm>
            <a:off x="3409950" y="2305050"/>
            <a:ext cx="523875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600">
                <a:solidFill>
                  <a:srgbClr val="2F9D68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20</a:t>
            </a:r>
          </a:p>
        </p:txBody>
      </p:sp>
      <p:sp>
        <p:nvSpPr>
          <p:cNvPr id="1725" name="矩形"/>
          <p:cNvSpPr/>
          <p:nvPr/>
        </p:nvSpPr>
        <p:spPr>
          <a:xfrm>
            <a:off x="4095750" y="2152650"/>
            <a:ext cx="5715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726" name="FAILED"/>
          <p:cNvSpPr txBox="1"/>
          <p:nvPr/>
        </p:nvSpPr>
        <p:spPr>
          <a:xfrm>
            <a:off x="4095750" y="2152650"/>
            <a:ext cx="5715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FAILED</a:t>
            </a:r>
          </a:p>
        </p:txBody>
      </p:sp>
      <p:sp>
        <p:nvSpPr>
          <p:cNvPr id="1727" name="矩形"/>
          <p:cNvSpPr/>
          <p:nvPr/>
        </p:nvSpPr>
        <p:spPr>
          <a:xfrm>
            <a:off x="4095750" y="2305050"/>
            <a:ext cx="57150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600">
                <a:solidFill>
                  <a:srgbClr val="C94C4C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728" name="1"/>
          <p:cNvSpPr txBox="1"/>
          <p:nvPr/>
        </p:nvSpPr>
        <p:spPr>
          <a:xfrm>
            <a:off x="4095750" y="2305050"/>
            <a:ext cx="571500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600">
                <a:solidFill>
                  <a:srgbClr val="C94C4C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729" name="矩形"/>
          <p:cNvSpPr/>
          <p:nvPr/>
        </p:nvSpPr>
        <p:spPr>
          <a:xfrm>
            <a:off x="4819650" y="2152650"/>
            <a:ext cx="5524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sz="700">
                <a:solidFill>
                  <a:srgbClr val="6B728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730" name="高代价"/>
          <p:cNvSpPr txBox="1"/>
          <p:nvPr/>
        </p:nvSpPr>
        <p:spPr>
          <a:xfrm>
            <a:off x="4819650" y="2152650"/>
            <a:ext cx="55245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700">
                <a:solidFill>
                  <a:srgbClr val="6B728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高代价</a:t>
            </a:r>
          </a:p>
        </p:txBody>
      </p:sp>
      <p:sp>
        <p:nvSpPr>
          <p:cNvPr id="1731" name="矩形"/>
          <p:cNvSpPr/>
          <p:nvPr/>
        </p:nvSpPr>
        <p:spPr>
          <a:xfrm>
            <a:off x="4819650" y="2305050"/>
            <a:ext cx="55245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600">
                <a:solidFill>
                  <a:srgbClr val="D9A12A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732" name="28"/>
          <p:cNvSpPr txBox="1"/>
          <p:nvPr/>
        </p:nvSpPr>
        <p:spPr>
          <a:xfrm>
            <a:off x="4819650" y="2305050"/>
            <a:ext cx="552450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600">
                <a:solidFill>
                  <a:srgbClr val="D9A12A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28</a:t>
            </a:r>
          </a:p>
        </p:txBody>
      </p:sp>
      <p:sp>
        <p:nvSpPr>
          <p:cNvPr id="1733" name="矩形"/>
          <p:cNvSpPr/>
          <p:nvPr/>
        </p:nvSpPr>
        <p:spPr>
          <a:xfrm>
            <a:off x="3352800" y="2590800"/>
            <a:ext cx="19812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sz="7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734" name="触发 6 次真实 patch"/>
          <p:cNvSpPr txBox="1"/>
          <p:nvPr/>
        </p:nvSpPr>
        <p:spPr>
          <a:xfrm>
            <a:off x="3352800" y="2590800"/>
            <a:ext cx="19812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7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触发 6 次真实 patch</a:t>
            </a:r>
          </a:p>
        </p:txBody>
      </p:sp>
      <p:sp>
        <p:nvSpPr>
          <p:cNvPr id="1735" name="圆角矩形"/>
          <p:cNvSpPr/>
          <p:nvPr/>
        </p:nvSpPr>
        <p:spPr>
          <a:xfrm>
            <a:off x="5676900" y="1428750"/>
            <a:ext cx="2324100" cy="1381125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>
            <a:solidFill>
              <a:srgbClr val="0052A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36" name="矩形"/>
          <p:cNvSpPr/>
          <p:nvPr/>
        </p:nvSpPr>
        <p:spPr>
          <a:xfrm>
            <a:off x="5676900" y="1428750"/>
            <a:ext cx="57150" cy="1381125"/>
          </a:xfrm>
          <a:prstGeom prst="rect">
            <a:avLst/>
          </a:prstGeom>
          <a:solidFill>
            <a:srgbClr val="0052A5"/>
          </a:solidFill>
          <a:ln w="3175">
            <a:solidFill>
              <a:srgbClr val="0052A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37" name="矩形"/>
          <p:cNvSpPr/>
          <p:nvPr/>
        </p:nvSpPr>
        <p:spPr>
          <a:xfrm>
            <a:off x="5848350" y="1562100"/>
            <a:ext cx="1981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0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738" name="dynamic_no_belief"/>
          <p:cNvSpPr txBox="1"/>
          <p:nvPr/>
        </p:nvSpPr>
        <p:spPr>
          <a:xfrm>
            <a:off x="5848350" y="1562100"/>
            <a:ext cx="19812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0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dynamic_no_belief</a:t>
            </a:r>
          </a:p>
        </p:txBody>
      </p:sp>
      <p:sp>
        <p:nvSpPr>
          <p:cNvPr id="1739" name="矩形"/>
          <p:cNvSpPr/>
          <p:nvPr/>
        </p:nvSpPr>
        <p:spPr>
          <a:xfrm>
            <a:off x="5848350" y="1790700"/>
            <a:ext cx="19812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740" name="动态恢复，无显式信念状态"/>
          <p:cNvSpPr txBox="1"/>
          <p:nvPr/>
        </p:nvSpPr>
        <p:spPr>
          <a:xfrm>
            <a:off x="5848350" y="1790700"/>
            <a:ext cx="198120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动态恢复，无显式信念状态</a:t>
            </a:r>
          </a:p>
        </p:txBody>
      </p:sp>
      <p:sp>
        <p:nvSpPr>
          <p:cNvPr id="1741" name="矩形"/>
          <p:cNvSpPr/>
          <p:nvPr/>
        </p:nvSpPr>
        <p:spPr>
          <a:xfrm>
            <a:off x="5905500" y="2152650"/>
            <a:ext cx="52387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742" name="DONE"/>
          <p:cNvSpPr txBox="1"/>
          <p:nvPr/>
        </p:nvSpPr>
        <p:spPr>
          <a:xfrm>
            <a:off x="5905500" y="2152650"/>
            <a:ext cx="523875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DONE</a:t>
            </a:r>
          </a:p>
        </p:txBody>
      </p:sp>
      <p:sp>
        <p:nvSpPr>
          <p:cNvPr id="1743" name="矩形"/>
          <p:cNvSpPr/>
          <p:nvPr/>
        </p:nvSpPr>
        <p:spPr>
          <a:xfrm>
            <a:off x="5905500" y="2305050"/>
            <a:ext cx="523875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600">
                <a:solidFill>
                  <a:srgbClr val="2F9D68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744" name="20"/>
          <p:cNvSpPr txBox="1"/>
          <p:nvPr/>
        </p:nvSpPr>
        <p:spPr>
          <a:xfrm>
            <a:off x="5905500" y="2305050"/>
            <a:ext cx="523875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600">
                <a:solidFill>
                  <a:srgbClr val="2F9D68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20</a:t>
            </a:r>
          </a:p>
        </p:txBody>
      </p:sp>
      <p:sp>
        <p:nvSpPr>
          <p:cNvPr id="1745" name="矩形"/>
          <p:cNvSpPr/>
          <p:nvPr/>
        </p:nvSpPr>
        <p:spPr>
          <a:xfrm>
            <a:off x="6591300" y="2152650"/>
            <a:ext cx="5715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746" name="FAILED"/>
          <p:cNvSpPr txBox="1"/>
          <p:nvPr/>
        </p:nvSpPr>
        <p:spPr>
          <a:xfrm>
            <a:off x="6591300" y="2152650"/>
            <a:ext cx="5715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FAILED</a:t>
            </a:r>
          </a:p>
        </p:txBody>
      </p:sp>
      <p:sp>
        <p:nvSpPr>
          <p:cNvPr id="1747" name="矩形"/>
          <p:cNvSpPr/>
          <p:nvPr/>
        </p:nvSpPr>
        <p:spPr>
          <a:xfrm>
            <a:off x="6591300" y="2305050"/>
            <a:ext cx="57150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600">
                <a:solidFill>
                  <a:srgbClr val="C94C4C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748" name="1"/>
          <p:cNvSpPr txBox="1"/>
          <p:nvPr/>
        </p:nvSpPr>
        <p:spPr>
          <a:xfrm>
            <a:off x="6591300" y="2305050"/>
            <a:ext cx="571500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600">
                <a:solidFill>
                  <a:srgbClr val="C94C4C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749" name="矩形"/>
          <p:cNvSpPr/>
          <p:nvPr/>
        </p:nvSpPr>
        <p:spPr>
          <a:xfrm>
            <a:off x="7315200" y="2152650"/>
            <a:ext cx="5524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sz="700">
                <a:solidFill>
                  <a:srgbClr val="6B728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750" name="高代价"/>
          <p:cNvSpPr txBox="1"/>
          <p:nvPr/>
        </p:nvSpPr>
        <p:spPr>
          <a:xfrm>
            <a:off x="7315200" y="2152650"/>
            <a:ext cx="55245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700">
                <a:solidFill>
                  <a:srgbClr val="6B728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高代价</a:t>
            </a:r>
          </a:p>
        </p:txBody>
      </p:sp>
      <p:sp>
        <p:nvSpPr>
          <p:cNvPr id="1751" name="矩形"/>
          <p:cNvSpPr/>
          <p:nvPr/>
        </p:nvSpPr>
        <p:spPr>
          <a:xfrm>
            <a:off x="7315200" y="2305050"/>
            <a:ext cx="55245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6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752" name="20"/>
          <p:cNvSpPr txBox="1"/>
          <p:nvPr/>
        </p:nvSpPr>
        <p:spPr>
          <a:xfrm>
            <a:off x="7315200" y="2305050"/>
            <a:ext cx="552450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6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20</a:t>
            </a:r>
          </a:p>
        </p:txBody>
      </p:sp>
      <p:sp>
        <p:nvSpPr>
          <p:cNvPr id="1753" name="矩形"/>
          <p:cNvSpPr/>
          <p:nvPr/>
        </p:nvSpPr>
        <p:spPr>
          <a:xfrm>
            <a:off x="5848350" y="2590800"/>
            <a:ext cx="19812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sz="7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754" name="减少高代价调用"/>
          <p:cNvSpPr txBox="1"/>
          <p:nvPr/>
        </p:nvSpPr>
        <p:spPr>
          <a:xfrm>
            <a:off x="5848350" y="2590800"/>
            <a:ext cx="19812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7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减少高代价调用</a:t>
            </a:r>
          </a:p>
        </p:txBody>
      </p:sp>
      <p:sp>
        <p:nvSpPr>
          <p:cNvPr id="1755" name="圆角矩形"/>
          <p:cNvSpPr/>
          <p:nvPr/>
        </p:nvSpPr>
        <p:spPr>
          <a:xfrm>
            <a:off x="8172450" y="1428750"/>
            <a:ext cx="2324100" cy="1381125"/>
          </a:xfrm>
          <a:prstGeom prst="roundRect">
            <a:avLst>
              <a:gd name="adj" fmla="val 5517"/>
            </a:avLst>
          </a:prstGeom>
          <a:solidFill>
            <a:srgbClr val="EAF3FF"/>
          </a:solidFill>
          <a:ln>
            <a:solidFill>
              <a:srgbClr val="2F9D6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56" name="矩形"/>
          <p:cNvSpPr/>
          <p:nvPr/>
        </p:nvSpPr>
        <p:spPr>
          <a:xfrm>
            <a:off x="8172450" y="1428750"/>
            <a:ext cx="57150" cy="1381125"/>
          </a:xfrm>
          <a:prstGeom prst="rect">
            <a:avLst/>
          </a:prstGeom>
          <a:solidFill>
            <a:srgbClr val="2F9D68"/>
          </a:solidFill>
          <a:ln w="3175">
            <a:solidFill>
              <a:srgbClr val="2F9D6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57" name="矩形"/>
          <p:cNvSpPr/>
          <p:nvPr/>
        </p:nvSpPr>
        <p:spPr>
          <a:xfrm>
            <a:off x="8343900" y="1562100"/>
            <a:ext cx="1981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000">
                <a:solidFill>
                  <a:srgbClr val="2F9D68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758" name="lite_belief_state"/>
          <p:cNvSpPr txBox="1"/>
          <p:nvPr/>
        </p:nvSpPr>
        <p:spPr>
          <a:xfrm>
            <a:off x="8343900" y="1562100"/>
            <a:ext cx="19812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000">
                <a:solidFill>
                  <a:srgbClr val="2F9D68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lite_belief_state</a:t>
            </a:r>
          </a:p>
        </p:txBody>
      </p:sp>
      <p:sp>
        <p:nvSpPr>
          <p:cNvPr id="1759" name="矩形"/>
          <p:cNvSpPr/>
          <p:nvPr/>
        </p:nvSpPr>
        <p:spPr>
          <a:xfrm>
            <a:off x="8343900" y="1790700"/>
            <a:ext cx="19812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760" name="完整 CEBRA-WP 机制"/>
          <p:cNvSpPr txBox="1"/>
          <p:nvPr/>
        </p:nvSpPr>
        <p:spPr>
          <a:xfrm>
            <a:off x="8343900" y="1790700"/>
            <a:ext cx="198120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完整 CEBRA-WP 机制</a:t>
            </a:r>
          </a:p>
        </p:txBody>
      </p:sp>
      <p:sp>
        <p:nvSpPr>
          <p:cNvPr id="1761" name="矩形"/>
          <p:cNvSpPr/>
          <p:nvPr/>
        </p:nvSpPr>
        <p:spPr>
          <a:xfrm>
            <a:off x="8401050" y="2152650"/>
            <a:ext cx="52387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762" name="DONE"/>
          <p:cNvSpPr txBox="1"/>
          <p:nvPr/>
        </p:nvSpPr>
        <p:spPr>
          <a:xfrm>
            <a:off x="8401050" y="2152650"/>
            <a:ext cx="523875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DONE</a:t>
            </a:r>
          </a:p>
        </p:txBody>
      </p:sp>
      <p:sp>
        <p:nvSpPr>
          <p:cNvPr id="1763" name="矩形"/>
          <p:cNvSpPr/>
          <p:nvPr/>
        </p:nvSpPr>
        <p:spPr>
          <a:xfrm>
            <a:off x="8401050" y="2305050"/>
            <a:ext cx="523875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600">
                <a:solidFill>
                  <a:srgbClr val="2F9D68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764" name="20"/>
          <p:cNvSpPr txBox="1"/>
          <p:nvPr/>
        </p:nvSpPr>
        <p:spPr>
          <a:xfrm>
            <a:off x="8401050" y="2305050"/>
            <a:ext cx="523875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600">
                <a:solidFill>
                  <a:srgbClr val="2F9D68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20</a:t>
            </a:r>
          </a:p>
        </p:txBody>
      </p:sp>
      <p:sp>
        <p:nvSpPr>
          <p:cNvPr id="1765" name="矩形"/>
          <p:cNvSpPr/>
          <p:nvPr/>
        </p:nvSpPr>
        <p:spPr>
          <a:xfrm>
            <a:off x="9086850" y="2152650"/>
            <a:ext cx="5715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766" name="FAILED"/>
          <p:cNvSpPr txBox="1"/>
          <p:nvPr/>
        </p:nvSpPr>
        <p:spPr>
          <a:xfrm>
            <a:off x="9086850" y="2152650"/>
            <a:ext cx="5715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FAILED</a:t>
            </a:r>
          </a:p>
        </p:txBody>
      </p:sp>
      <p:sp>
        <p:nvSpPr>
          <p:cNvPr id="1767" name="矩形"/>
          <p:cNvSpPr/>
          <p:nvPr/>
        </p:nvSpPr>
        <p:spPr>
          <a:xfrm>
            <a:off x="9086850" y="2305050"/>
            <a:ext cx="57150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600">
                <a:solidFill>
                  <a:srgbClr val="C94C4C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768" name="1"/>
          <p:cNvSpPr txBox="1"/>
          <p:nvPr/>
        </p:nvSpPr>
        <p:spPr>
          <a:xfrm>
            <a:off x="9086850" y="2305050"/>
            <a:ext cx="571500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600">
                <a:solidFill>
                  <a:srgbClr val="C94C4C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769" name="矩形"/>
          <p:cNvSpPr/>
          <p:nvPr/>
        </p:nvSpPr>
        <p:spPr>
          <a:xfrm>
            <a:off x="9810750" y="2152650"/>
            <a:ext cx="5524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sz="700">
                <a:solidFill>
                  <a:srgbClr val="6B728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770" name="高代价"/>
          <p:cNvSpPr txBox="1"/>
          <p:nvPr/>
        </p:nvSpPr>
        <p:spPr>
          <a:xfrm>
            <a:off x="9810750" y="2152650"/>
            <a:ext cx="55245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700">
                <a:solidFill>
                  <a:srgbClr val="6B728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高代价</a:t>
            </a:r>
          </a:p>
        </p:txBody>
      </p:sp>
      <p:sp>
        <p:nvSpPr>
          <p:cNvPr id="1771" name="矩形"/>
          <p:cNvSpPr/>
          <p:nvPr/>
        </p:nvSpPr>
        <p:spPr>
          <a:xfrm>
            <a:off x="9810750" y="2305050"/>
            <a:ext cx="55245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6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772" name="20"/>
          <p:cNvSpPr txBox="1"/>
          <p:nvPr/>
        </p:nvSpPr>
        <p:spPr>
          <a:xfrm>
            <a:off x="9810750" y="2305050"/>
            <a:ext cx="552450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6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20</a:t>
            </a:r>
          </a:p>
        </p:txBody>
      </p:sp>
      <p:sp>
        <p:nvSpPr>
          <p:cNvPr id="1773" name="矩形"/>
          <p:cNvSpPr/>
          <p:nvPr/>
        </p:nvSpPr>
        <p:spPr>
          <a:xfrm>
            <a:off x="8343900" y="2590800"/>
            <a:ext cx="19812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sz="7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774" name="21/21 产生 RuntimeState"/>
          <p:cNvSpPr txBox="1"/>
          <p:nvPr/>
        </p:nvSpPr>
        <p:spPr>
          <a:xfrm>
            <a:off x="8343900" y="2590800"/>
            <a:ext cx="19812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7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21/21 产生 RuntimeState</a:t>
            </a:r>
          </a:p>
        </p:txBody>
      </p:sp>
      <p:sp>
        <p:nvSpPr>
          <p:cNvPr id="1775" name="矩形"/>
          <p:cNvSpPr/>
          <p:nvPr/>
        </p:nvSpPr>
        <p:spPr>
          <a:xfrm>
            <a:off x="952500" y="3286125"/>
            <a:ext cx="2857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776" name="高代价调用总数"/>
          <p:cNvSpPr txBox="1"/>
          <p:nvPr/>
        </p:nvSpPr>
        <p:spPr>
          <a:xfrm>
            <a:off x="952500" y="3286125"/>
            <a:ext cx="2857500" cy="215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高代价调用总数</a:t>
            </a:r>
          </a:p>
        </p:txBody>
      </p:sp>
      <p:sp>
        <p:nvSpPr>
          <p:cNvPr id="1777" name="矩形"/>
          <p:cNvSpPr/>
          <p:nvPr/>
        </p:nvSpPr>
        <p:spPr>
          <a:xfrm>
            <a:off x="1000125" y="3733800"/>
            <a:ext cx="8382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778" name="static"/>
          <p:cNvSpPr txBox="1"/>
          <p:nvPr/>
        </p:nvSpPr>
        <p:spPr>
          <a:xfrm>
            <a:off x="1000125" y="3733800"/>
            <a:ext cx="8382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static</a:t>
            </a:r>
          </a:p>
        </p:txBody>
      </p:sp>
      <p:sp>
        <p:nvSpPr>
          <p:cNvPr id="1779" name="矩形"/>
          <p:cNvSpPr/>
          <p:nvPr/>
        </p:nvSpPr>
        <p:spPr>
          <a:xfrm>
            <a:off x="1952625" y="3695700"/>
            <a:ext cx="3714750" cy="228600"/>
          </a:xfrm>
          <a:prstGeom prst="rect">
            <a:avLst/>
          </a:prstGeom>
          <a:solidFill>
            <a:srgbClr val="EEF4FB"/>
          </a:solidFill>
          <a:ln w="3175">
            <a:solidFill>
              <a:srgbClr val="EEF4F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80" name="矩形"/>
          <p:cNvSpPr/>
          <p:nvPr/>
        </p:nvSpPr>
        <p:spPr>
          <a:xfrm>
            <a:off x="1952625" y="3695700"/>
            <a:ext cx="2790825" cy="228600"/>
          </a:xfrm>
          <a:prstGeom prst="rect">
            <a:avLst/>
          </a:prstGeom>
          <a:solidFill>
            <a:srgbClr val="0052A5"/>
          </a:solidFill>
          <a:ln w="3175">
            <a:solidFill>
              <a:srgbClr val="0052A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81" name="矩形"/>
          <p:cNvSpPr/>
          <p:nvPr/>
        </p:nvSpPr>
        <p:spPr>
          <a:xfrm>
            <a:off x="5810250" y="3714750"/>
            <a:ext cx="381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9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782" name="21"/>
          <p:cNvSpPr txBox="1"/>
          <p:nvPr/>
        </p:nvSpPr>
        <p:spPr>
          <a:xfrm>
            <a:off x="5810250" y="3714750"/>
            <a:ext cx="3810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9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21</a:t>
            </a:r>
          </a:p>
        </p:txBody>
      </p:sp>
      <p:sp>
        <p:nvSpPr>
          <p:cNvPr id="1783" name="矩形"/>
          <p:cNvSpPr/>
          <p:nvPr/>
        </p:nvSpPr>
        <p:spPr>
          <a:xfrm>
            <a:off x="1000125" y="4133850"/>
            <a:ext cx="8382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784" name="fixed"/>
          <p:cNvSpPr txBox="1"/>
          <p:nvPr/>
        </p:nvSpPr>
        <p:spPr>
          <a:xfrm>
            <a:off x="1000125" y="4133850"/>
            <a:ext cx="8382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fixed</a:t>
            </a:r>
          </a:p>
        </p:txBody>
      </p:sp>
      <p:sp>
        <p:nvSpPr>
          <p:cNvPr id="1785" name="矩形"/>
          <p:cNvSpPr/>
          <p:nvPr/>
        </p:nvSpPr>
        <p:spPr>
          <a:xfrm>
            <a:off x="1952625" y="4095750"/>
            <a:ext cx="3714750" cy="228600"/>
          </a:xfrm>
          <a:prstGeom prst="rect">
            <a:avLst/>
          </a:prstGeom>
          <a:solidFill>
            <a:srgbClr val="EEF4FB"/>
          </a:solidFill>
          <a:ln w="3175">
            <a:solidFill>
              <a:srgbClr val="EEF4F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86" name="矩形"/>
          <p:cNvSpPr/>
          <p:nvPr/>
        </p:nvSpPr>
        <p:spPr>
          <a:xfrm>
            <a:off x="1952625" y="4095750"/>
            <a:ext cx="3714750" cy="228600"/>
          </a:xfrm>
          <a:prstGeom prst="rect">
            <a:avLst/>
          </a:prstGeom>
          <a:solidFill>
            <a:srgbClr val="D9A12A"/>
          </a:solidFill>
          <a:ln w="3175">
            <a:solidFill>
              <a:srgbClr val="D9A1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87" name="矩形"/>
          <p:cNvSpPr/>
          <p:nvPr/>
        </p:nvSpPr>
        <p:spPr>
          <a:xfrm>
            <a:off x="5810250" y="4114800"/>
            <a:ext cx="381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900">
                <a:solidFill>
                  <a:srgbClr val="D9A12A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788" name="28"/>
          <p:cNvSpPr txBox="1"/>
          <p:nvPr/>
        </p:nvSpPr>
        <p:spPr>
          <a:xfrm>
            <a:off x="5810250" y="4114800"/>
            <a:ext cx="3810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900">
                <a:solidFill>
                  <a:srgbClr val="D9A12A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28</a:t>
            </a:r>
          </a:p>
        </p:txBody>
      </p:sp>
      <p:sp>
        <p:nvSpPr>
          <p:cNvPr id="1789" name="矩形"/>
          <p:cNvSpPr/>
          <p:nvPr/>
        </p:nvSpPr>
        <p:spPr>
          <a:xfrm>
            <a:off x="1000125" y="4533900"/>
            <a:ext cx="8382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790" name="dynamic"/>
          <p:cNvSpPr txBox="1"/>
          <p:nvPr/>
        </p:nvSpPr>
        <p:spPr>
          <a:xfrm>
            <a:off x="1000125" y="4533900"/>
            <a:ext cx="8382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dynamic</a:t>
            </a:r>
          </a:p>
        </p:txBody>
      </p:sp>
      <p:sp>
        <p:nvSpPr>
          <p:cNvPr id="1791" name="矩形"/>
          <p:cNvSpPr/>
          <p:nvPr/>
        </p:nvSpPr>
        <p:spPr>
          <a:xfrm>
            <a:off x="1952625" y="4495800"/>
            <a:ext cx="3714750" cy="228600"/>
          </a:xfrm>
          <a:prstGeom prst="rect">
            <a:avLst/>
          </a:prstGeom>
          <a:solidFill>
            <a:srgbClr val="EEF4FB"/>
          </a:solidFill>
          <a:ln w="3175">
            <a:solidFill>
              <a:srgbClr val="EEF4F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92" name="矩形"/>
          <p:cNvSpPr/>
          <p:nvPr/>
        </p:nvSpPr>
        <p:spPr>
          <a:xfrm>
            <a:off x="1952625" y="4495800"/>
            <a:ext cx="2657475" cy="228600"/>
          </a:xfrm>
          <a:prstGeom prst="rect">
            <a:avLst/>
          </a:prstGeom>
          <a:solidFill>
            <a:srgbClr val="0052A5"/>
          </a:solidFill>
          <a:ln w="3175">
            <a:solidFill>
              <a:srgbClr val="0052A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93" name="矩形"/>
          <p:cNvSpPr/>
          <p:nvPr/>
        </p:nvSpPr>
        <p:spPr>
          <a:xfrm>
            <a:off x="5810250" y="4514850"/>
            <a:ext cx="381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9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794" name="20"/>
          <p:cNvSpPr txBox="1"/>
          <p:nvPr/>
        </p:nvSpPr>
        <p:spPr>
          <a:xfrm>
            <a:off x="5810250" y="4514850"/>
            <a:ext cx="3810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9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20</a:t>
            </a:r>
          </a:p>
        </p:txBody>
      </p:sp>
      <p:sp>
        <p:nvSpPr>
          <p:cNvPr id="1795" name="矩形"/>
          <p:cNvSpPr/>
          <p:nvPr/>
        </p:nvSpPr>
        <p:spPr>
          <a:xfrm>
            <a:off x="1000125" y="4933950"/>
            <a:ext cx="8382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796" name="lite"/>
          <p:cNvSpPr txBox="1"/>
          <p:nvPr/>
        </p:nvSpPr>
        <p:spPr>
          <a:xfrm>
            <a:off x="1000125" y="4933950"/>
            <a:ext cx="8382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lite</a:t>
            </a:r>
          </a:p>
        </p:txBody>
      </p:sp>
      <p:sp>
        <p:nvSpPr>
          <p:cNvPr id="1797" name="矩形"/>
          <p:cNvSpPr/>
          <p:nvPr/>
        </p:nvSpPr>
        <p:spPr>
          <a:xfrm>
            <a:off x="1952625" y="4895850"/>
            <a:ext cx="3714750" cy="228600"/>
          </a:xfrm>
          <a:prstGeom prst="rect">
            <a:avLst/>
          </a:prstGeom>
          <a:solidFill>
            <a:srgbClr val="EEF4FB"/>
          </a:solidFill>
          <a:ln w="3175">
            <a:solidFill>
              <a:srgbClr val="EEF4F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98" name="矩形"/>
          <p:cNvSpPr/>
          <p:nvPr/>
        </p:nvSpPr>
        <p:spPr>
          <a:xfrm>
            <a:off x="1952625" y="4895850"/>
            <a:ext cx="2657475" cy="228600"/>
          </a:xfrm>
          <a:prstGeom prst="rect">
            <a:avLst/>
          </a:prstGeom>
          <a:solidFill>
            <a:srgbClr val="2F9D68"/>
          </a:solidFill>
          <a:ln w="3175">
            <a:solidFill>
              <a:srgbClr val="2F9D6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99" name="矩形"/>
          <p:cNvSpPr/>
          <p:nvPr/>
        </p:nvSpPr>
        <p:spPr>
          <a:xfrm>
            <a:off x="5810250" y="4914900"/>
            <a:ext cx="381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900">
                <a:solidFill>
                  <a:srgbClr val="2F9D68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800" name="20"/>
          <p:cNvSpPr txBox="1"/>
          <p:nvPr/>
        </p:nvSpPr>
        <p:spPr>
          <a:xfrm>
            <a:off x="5810250" y="4914900"/>
            <a:ext cx="3810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900">
                <a:solidFill>
                  <a:srgbClr val="2F9D68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20</a:t>
            </a:r>
          </a:p>
        </p:txBody>
      </p:sp>
      <p:sp>
        <p:nvSpPr>
          <p:cNvPr id="1801" name="矩形"/>
          <p:cNvSpPr/>
          <p:nvPr/>
        </p:nvSpPr>
        <p:spPr>
          <a:xfrm>
            <a:off x="1952625" y="5334000"/>
            <a:ext cx="4286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100">
                <a:solidFill>
                  <a:srgbClr val="082B6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802" name="dynamic / lite 相比 fixed：20 vs 28，减少 28.6%"/>
          <p:cNvSpPr txBox="1"/>
          <p:nvPr/>
        </p:nvSpPr>
        <p:spPr>
          <a:xfrm>
            <a:off x="1952625" y="5334000"/>
            <a:ext cx="4286250" cy="203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100">
                <a:solidFill>
                  <a:srgbClr val="082B6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dynamic / lite 相比 fixed：20 vs 28，减少 28.6%</a:t>
            </a:r>
          </a:p>
        </p:txBody>
      </p:sp>
      <p:sp>
        <p:nvSpPr>
          <p:cNvPr id="1803" name="圆角矩形"/>
          <p:cNvSpPr/>
          <p:nvPr/>
        </p:nvSpPr>
        <p:spPr>
          <a:xfrm>
            <a:off x="6858000" y="3333750"/>
            <a:ext cx="3857625" cy="723900"/>
          </a:xfrm>
          <a:prstGeom prst="roundRect">
            <a:avLst>
              <a:gd name="adj" fmla="val 10526"/>
            </a:avLst>
          </a:prstGeom>
          <a:solidFill>
            <a:srgbClr val="EAF3FF"/>
          </a:solidFill>
          <a:ln>
            <a:solidFill>
              <a:srgbClr val="9DC3E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04" name="矩形"/>
          <p:cNvSpPr/>
          <p:nvPr/>
        </p:nvSpPr>
        <p:spPr>
          <a:xfrm>
            <a:off x="7029450" y="3467100"/>
            <a:ext cx="35147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805" name="机制证据 1：状态可观测"/>
          <p:cNvSpPr txBox="1"/>
          <p:nvPr/>
        </p:nvSpPr>
        <p:spPr>
          <a:xfrm>
            <a:off x="7029450" y="3467100"/>
            <a:ext cx="3514725" cy="215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机制证据 1：状态可观测</a:t>
            </a:r>
          </a:p>
        </p:txBody>
      </p:sp>
      <p:sp>
        <p:nvSpPr>
          <p:cNvPr id="1806" name="矩形"/>
          <p:cNvSpPr/>
          <p:nvPr/>
        </p:nvSpPr>
        <p:spPr>
          <a:xfrm>
            <a:off x="7029450" y="3714750"/>
            <a:ext cx="3514725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807" name="lite 组 21/21 产生 RuntimeState；其他三组为 0/21。"/>
          <p:cNvSpPr txBox="1"/>
          <p:nvPr/>
        </p:nvSpPr>
        <p:spPr>
          <a:xfrm>
            <a:off x="7029450" y="3714750"/>
            <a:ext cx="3514725" cy="17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lite 组 21/21 产生 RuntimeState；其他三组为 0/21。</a:t>
            </a:r>
          </a:p>
        </p:txBody>
      </p:sp>
      <p:sp>
        <p:nvSpPr>
          <p:cNvPr id="1808" name="圆角矩形"/>
          <p:cNvSpPr/>
          <p:nvPr/>
        </p:nvSpPr>
        <p:spPr>
          <a:xfrm>
            <a:off x="6858000" y="4238625"/>
            <a:ext cx="3857625" cy="723900"/>
          </a:xfrm>
          <a:prstGeom prst="roundRect">
            <a:avLst>
              <a:gd name="adj" fmla="val 10526"/>
            </a:avLst>
          </a:prstGeom>
          <a:solidFill>
            <a:srgbClr val="F5F9FE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09" name="矩形"/>
          <p:cNvSpPr/>
          <p:nvPr/>
        </p:nvSpPr>
        <p:spPr>
          <a:xfrm>
            <a:off x="7029450" y="4371975"/>
            <a:ext cx="35147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810" name="机制证据 2：成本控制"/>
          <p:cNvSpPr txBox="1"/>
          <p:nvPr/>
        </p:nvSpPr>
        <p:spPr>
          <a:xfrm>
            <a:off x="7029450" y="4371975"/>
            <a:ext cx="3514725" cy="215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机制证据 2：成本控制</a:t>
            </a:r>
          </a:p>
        </p:txBody>
      </p:sp>
      <p:sp>
        <p:nvSpPr>
          <p:cNvPr id="1811" name="矩形"/>
          <p:cNvSpPr/>
          <p:nvPr/>
        </p:nvSpPr>
        <p:spPr>
          <a:xfrm>
            <a:off x="7029450" y="4619625"/>
            <a:ext cx="3514725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812" name="dynamic / lite 高代价调用为 20，fixed 为 28。"/>
          <p:cNvSpPr txBox="1"/>
          <p:nvPr/>
        </p:nvSpPr>
        <p:spPr>
          <a:xfrm>
            <a:off x="7029450" y="4619625"/>
            <a:ext cx="3514725" cy="17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dynamic / lite 高代价调用为 20，fixed 为 28。</a:t>
            </a:r>
          </a:p>
        </p:txBody>
      </p:sp>
      <p:sp>
        <p:nvSpPr>
          <p:cNvPr id="1813" name="圆角矩形"/>
          <p:cNvSpPr/>
          <p:nvPr/>
        </p:nvSpPr>
        <p:spPr>
          <a:xfrm>
            <a:off x="6858000" y="5143500"/>
            <a:ext cx="3857625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14" name="矩形"/>
          <p:cNvSpPr/>
          <p:nvPr/>
        </p:nvSpPr>
        <p:spPr>
          <a:xfrm>
            <a:off x="7029450" y="5200650"/>
            <a:ext cx="35147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200">
                <a:solidFill>
                  <a:srgbClr val="C94C4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815" name="结论边界"/>
          <p:cNvSpPr txBox="1"/>
          <p:nvPr/>
        </p:nvSpPr>
        <p:spPr>
          <a:xfrm>
            <a:off x="7029450" y="5200650"/>
            <a:ext cx="3514725" cy="215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200">
                <a:solidFill>
                  <a:srgbClr val="C94C4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结论边界</a:t>
            </a:r>
          </a:p>
        </p:txBody>
      </p:sp>
      <p:sp>
        <p:nvSpPr>
          <p:cNvPr id="1816" name="矩形"/>
          <p:cNvSpPr/>
          <p:nvPr/>
        </p:nvSpPr>
        <p:spPr>
          <a:xfrm>
            <a:off x="7029450" y="5429250"/>
            <a:ext cx="351472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817" name="不把成功率提升作为主要结论。"/>
          <p:cNvSpPr txBox="1"/>
          <p:nvPr/>
        </p:nvSpPr>
        <p:spPr>
          <a:xfrm>
            <a:off x="7029450" y="5429250"/>
            <a:ext cx="3514725" cy="16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不把成功率提升作为主要结论。</a:t>
            </a:r>
          </a:p>
        </p:txBody>
      </p:sp>
      <p:grpSp>
        <p:nvGrpSpPr>
          <p:cNvPr id="1820" name="矩形 1852"/>
          <p:cNvGrpSpPr/>
          <p:nvPr/>
        </p:nvGrpSpPr>
        <p:grpSpPr>
          <a:xfrm>
            <a:off x="11696700" y="6419850"/>
            <a:ext cx="323850" cy="266700"/>
            <a:chOff x="0" y="0"/>
            <a:chExt cx="323850" cy="266700"/>
          </a:xfrm>
        </p:grpSpPr>
        <p:sp>
          <p:nvSpPr>
            <p:cNvPr id="1818" name="矩形"/>
            <p:cNvSpPr/>
            <p:nvPr/>
          </p:nvSpPr>
          <p:spPr>
            <a:xfrm>
              <a:off x="0" y="0"/>
              <a:ext cx="3238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>
                <a:defRPr b="1" sz="1300">
                  <a:solidFill>
                    <a:srgbClr val="8A8A8A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819" name="14"/>
            <p:cNvSpPr txBox="1"/>
            <p:nvPr/>
          </p:nvSpPr>
          <p:spPr>
            <a:xfrm>
              <a:off x="0" y="0"/>
              <a:ext cx="323850" cy="1850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300">
                  <a:solidFill>
                    <a:srgbClr val="8A8A8A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2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823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pic>
        <p:nvPicPr>
          <p:cNvPr id="1824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24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1825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26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27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28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29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30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31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32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33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34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35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36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37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38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39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40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41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42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43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44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45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46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47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48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49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50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51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52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53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54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55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56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57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58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59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60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61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62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63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64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65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66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67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68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69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70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71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72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73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74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75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76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77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78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79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80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81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82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83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84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85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86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87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88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89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90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91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92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93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894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63"/>
          </a:xfrm>
          <a:prstGeom prst="rect">
            <a:avLst/>
          </a:prstGeom>
          <a:ln w="12700">
            <a:miter lim="400000"/>
          </a:ln>
        </p:spPr>
      </p:pic>
      <p:sp>
        <p:nvSpPr>
          <p:cNvPr id="1895" name="矩形"/>
          <p:cNvSpPr/>
          <p:nvPr/>
        </p:nvSpPr>
        <p:spPr>
          <a:xfrm>
            <a:off x="1000125" y="200025"/>
            <a:ext cx="7239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 anchor="ctr"/>
          <a:lstStyle/>
          <a:p>
            <a:pPr>
              <a:defRPr b="1" sz="2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896" name="贡献、局限与结论边界"/>
          <p:cNvSpPr txBox="1"/>
          <p:nvPr/>
        </p:nvSpPr>
        <p:spPr>
          <a:xfrm>
            <a:off x="1000125" y="238123"/>
            <a:ext cx="7239000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贡献、局限与结论边界</a:t>
            </a:r>
          </a:p>
        </p:txBody>
      </p:sp>
      <p:sp>
        <p:nvSpPr>
          <p:cNvPr id="1897" name="矩形"/>
          <p:cNvSpPr/>
          <p:nvPr/>
        </p:nvSpPr>
        <p:spPr>
          <a:xfrm>
            <a:off x="8667750" y="2286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 anchor="ctr"/>
          <a:lstStyle/>
          <a:p>
            <a:pPr algn="ctr">
              <a:defRPr b="1"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898" name="CONCLUSION"/>
          <p:cNvSpPr txBox="1"/>
          <p:nvPr/>
        </p:nvSpPr>
        <p:spPr>
          <a:xfrm>
            <a:off x="8667750" y="269871"/>
            <a:ext cx="142875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CONCLUSION</a:t>
            </a:r>
          </a:p>
        </p:txBody>
      </p:sp>
      <p:sp>
        <p:nvSpPr>
          <p:cNvPr id="1899" name="圆角矩形 985"/>
          <p:cNvSpPr/>
          <p:nvPr/>
        </p:nvSpPr>
        <p:spPr>
          <a:xfrm>
            <a:off x="762000" y="1238250"/>
            <a:ext cx="4572000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1900" name="矩形"/>
          <p:cNvSpPr/>
          <p:nvPr/>
        </p:nvSpPr>
        <p:spPr>
          <a:xfrm>
            <a:off x="933450" y="1371600"/>
            <a:ext cx="42291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901" name="可恢复可审计原型"/>
          <p:cNvSpPr txBox="1"/>
          <p:nvPr/>
        </p:nvSpPr>
        <p:spPr>
          <a:xfrm>
            <a:off x="933450" y="1371600"/>
            <a:ext cx="42291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可恢复可审计原型</a:t>
            </a:r>
          </a:p>
        </p:txBody>
      </p:sp>
      <p:sp>
        <p:nvSpPr>
          <p:cNvPr id="1902" name="矩形"/>
          <p:cNvSpPr/>
          <p:nvPr/>
        </p:nvSpPr>
        <p:spPr>
          <a:xfrm>
            <a:off x="933450" y="1676399"/>
            <a:ext cx="4229100" cy="485779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903" name="打通任务接入、候选计划、工具执行、人工决策和报告输出"/>
          <p:cNvSpPr txBox="1"/>
          <p:nvPr/>
        </p:nvSpPr>
        <p:spPr>
          <a:xfrm>
            <a:off x="933450" y="1676398"/>
            <a:ext cx="4229100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打通任务接入、候选计划、工具执行、人工决策和报告输出</a:t>
            </a:r>
          </a:p>
        </p:txBody>
      </p:sp>
      <p:sp>
        <p:nvSpPr>
          <p:cNvPr id="1904" name="圆角矩形 988"/>
          <p:cNvSpPr/>
          <p:nvPr/>
        </p:nvSpPr>
        <p:spPr>
          <a:xfrm>
            <a:off x="6096000" y="1238250"/>
            <a:ext cx="4572000" cy="1000125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>
            <a:solidFill>
              <a:srgbClr val="9DC3E6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1905" name="矩形"/>
          <p:cNvSpPr/>
          <p:nvPr/>
        </p:nvSpPr>
        <p:spPr>
          <a:xfrm>
            <a:off x="6267450" y="1371600"/>
            <a:ext cx="42291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906" name="CEBRA-WP 机制"/>
          <p:cNvSpPr txBox="1"/>
          <p:nvPr/>
        </p:nvSpPr>
        <p:spPr>
          <a:xfrm>
            <a:off x="6267450" y="1371600"/>
            <a:ext cx="42291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CEBRA-WP 机制</a:t>
            </a:r>
          </a:p>
        </p:txBody>
      </p:sp>
      <p:sp>
        <p:nvSpPr>
          <p:cNvPr id="1907" name="矩形"/>
          <p:cNvSpPr/>
          <p:nvPr/>
        </p:nvSpPr>
        <p:spPr>
          <a:xfrm>
            <a:off x="6267450" y="1676399"/>
            <a:ext cx="4229100" cy="485779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908" name="将约束、证据、轻量状态和恢复动作纳入规划闭环"/>
          <p:cNvSpPr txBox="1"/>
          <p:nvPr/>
        </p:nvSpPr>
        <p:spPr>
          <a:xfrm>
            <a:off x="6267450" y="1676398"/>
            <a:ext cx="4229100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将约束、证据、轻量状态和恢复动作纳入规划闭环</a:t>
            </a:r>
          </a:p>
        </p:txBody>
      </p:sp>
      <p:sp>
        <p:nvSpPr>
          <p:cNvPr id="1909" name="圆角矩形 991"/>
          <p:cNvSpPr/>
          <p:nvPr/>
        </p:nvSpPr>
        <p:spPr>
          <a:xfrm>
            <a:off x="762000" y="2619375"/>
            <a:ext cx="4572000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1910" name="矩形"/>
          <p:cNvSpPr/>
          <p:nvPr/>
        </p:nvSpPr>
        <p:spPr>
          <a:xfrm>
            <a:off x="933450" y="2752725"/>
            <a:ext cx="42291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911" name="FSM/HITL 约束"/>
          <p:cNvSpPr txBox="1"/>
          <p:nvPr/>
        </p:nvSpPr>
        <p:spPr>
          <a:xfrm>
            <a:off x="933450" y="2752725"/>
            <a:ext cx="42291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FSM/HITL 约束</a:t>
            </a:r>
          </a:p>
        </p:txBody>
      </p:sp>
      <p:sp>
        <p:nvSpPr>
          <p:cNvPr id="1912" name="矩形"/>
          <p:cNvSpPr/>
          <p:nvPr/>
        </p:nvSpPr>
        <p:spPr>
          <a:xfrm>
            <a:off x="933450" y="3057524"/>
            <a:ext cx="4229100" cy="485779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913" name="用等待态、Decision、Snapshot 和 EventLog 约束 Agent 行为"/>
          <p:cNvSpPr txBox="1"/>
          <p:nvPr/>
        </p:nvSpPr>
        <p:spPr>
          <a:xfrm>
            <a:off x="933450" y="3057523"/>
            <a:ext cx="4229100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用等待态、Decision、Snapshot 和 EventLog 约束 Agent 行为</a:t>
            </a:r>
          </a:p>
        </p:txBody>
      </p:sp>
      <p:sp>
        <p:nvSpPr>
          <p:cNvPr id="1914" name="圆角矩形 994"/>
          <p:cNvSpPr/>
          <p:nvPr/>
        </p:nvSpPr>
        <p:spPr>
          <a:xfrm>
            <a:off x="6096000" y="2619375"/>
            <a:ext cx="4572000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1915" name="矩形"/>
          <p:cNvSpPr/>
          <p:nvPr/>
        </p:nvSpPr>
        <p:spPr>
          <a:xfrm>
            <a:off x="6267450" y="2752725"/>
            <a:ext cx="42291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916" name="证据链验证"/>
          <p:cNvSpPr txBox="1"/>
          <p:nvPr/>
        </p:nvSpPr>
        <p:spPr>
          <a:xfrm>
            <a:off x="6267450" y="2752725"/>
            <a:ext cx="42291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证据链验证</a:t>
            </a:r>
          </a:p>
        </p:txBody>
      </p:sp>
      <p:sp>
        <p:nvSpPr>
          <p:cNvPr id="1917" name="矩形"/>
          <p:cNvSpPr/>
          <p:nvPr/>
        </p:nvSpPr>
        <p:spPr>
          <a:xfrm>
            <a:off x="6267450" y="3057524"/>
            <a:ext cx="4229100" cy="485779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918" name="系统测试与 84-run 消融支撑主要结论"/>
          <p:cNvSpPr txBox="1"/>
          <p:nvPr/>
        </p:nvSpPr>
        <p:spPr>
          <a:xfrm>
            <a:off x="6267450" y="3057523"/>
            <a:ext cx="4229100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系统测试与 84-run 消融支撑主要结论</a:t>
            </a:r>
          </a:p>
        </p:txBody>
      </p:sp>
      <p:sp>
        <p:nvSpPr>
          <p:cNvPr id="1919" name="圆角矩形 997"/>
          <p:cNvSpPr/>
          <p:nvPr/>
        </p:nvSpPr>
        <p:spPr>
          <a:xfrm>
            <a:off x="1428750" y="4286250"/>
            <a:ext cx="9334500" cy="762000"/>
          </a:xfrm>
          <a:prstGeom prst="roundRect">
            <a:avLst>
              <a:gd name="adj" fmla="val 10000"/>
            </a:avLst>
          </a:prstGeom>
          <a:solidFill>
            <a:srgbClr val="F5F9FE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1920" name="矩形"/>
          <p:cNvSpPr/>
          <p:nvPr/>
        </p:nvSpPr>
        <p:spPr>
          <a:xfrm>
            <a:off x="1600200" y="4419600"/>
            <a:ext cx="89916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921" name="结论边界"/>
          <p:cNvSpPr txBox="1"/>
          <p:nvPr/>
        </p:nvSpPr>
        <p:spPr>
          <a:xfrm>
            <a:off x="1600200" y="4419600"/>
            <a:ext cx="89916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结论边界</a:t>
            </a:r>
          </a:p>
        </p:txBody>
      </p:sp>
      <p:sp>
        <p:nvSpPr>
          <p:cNvPr id="1922" name="矩形"/>
          <p:cNvSpPr/>
          <p:nvPr/>
        </p:nvSpPr>
        <p:spPr>
          <a:xfrm>
            <a:off x="1600200" y="4724398"/>
            <a:ext cx="8991600" cy="2476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2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1923" name="本文验证的是工作流层的规划、执行、恢复和审计机制；不把计算评分扩大为湿实验结论，也不声称 CEBRA-WP 显著提升成功率。"/>
          <p:cNvSpPr txBox="1"/>
          <p:nvPr/>
        </p:nvSpPr>
        <p:spPr>
          <a:xfrm>
            <a:off x="1600200" y="4724398"/>
            <a:ext cx="89916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本文验证的是工作流层的规划、执行、恢复和审计机制；不把计算评分扩大为湿实验结论，也不声称 CEBRA-WP 显著提升成功率。</a:t>
            </a:r>
          </a:p>
        </p:txBody>
      </p:sp>
      <p:grpSp>
        <p:nvGrpSpPr>
          <p:cNvPr id="1926" name="矩形 1960"/>
          <p:cNvGrpSpPr/>
          <p:nvPr/>
        </p:nvGrpSpPr>
        <p:grpSpPr>
          <a:xfrm>
            <a:off x="11696700" y="6419850"/>
            <a:ext cx="323850" cy="266700"/>
            <a:chOff x="0" y="0"/>
            <a:chExt cx="323850" cy="266700"/>
          </a:xfrm>
        </p:grpSpPr>
        <p:sp>
          <p:nvSpPr>
            <p:cNvPr id="1924" name="矩形"/>
            <p:cNvSpPr/>
            <p:nvPr/>
          </p:nvSpPr>
          <p:spPr>
            <a:xfrm>
              <a:off x="0" y="0"/>
              <a:ext cx="3238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>
                <a:defRPr b="1" sz="1300">
                  <a:solidFill>
                    <a:srgbClr val="8A8A8A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925" name="15"/>
            <p:cNvSpPr txBox="1"/>
            <p:nvPr/>
          </p:nvSpPr>
          <p:spPr>
            <a:xfrm>
              <a:off x="0" y="0"/>
              <a:ext cx="323850" cy="1850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300">
                  <a:solidFill>
                    <a:srgbClr val="8A8A8A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8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929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pic>
        <p:nvPicPr>
          <p:cNvPr id="1930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24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1931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32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33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34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35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36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37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38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39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40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41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42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43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44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45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46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47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48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49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50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51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52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53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54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55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56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57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58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59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60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61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62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63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64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65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66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67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68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69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70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71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72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73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74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75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76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77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78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79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80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81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82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83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84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85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86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87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88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89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90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91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92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93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94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95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96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97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98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99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000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63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003" name="矩形 1960"/>
          <p:cNvGrpSpPr/>
          <p:nvPr/>
        </p:nvGrpSpPr>
        <p:grpSpPr>
          <a:xfrm>
            <a:off x="1000125" y="200025"/>
            <a:ext cx="7239000" cy="457200"/>
            <a:chOff x="0" y="0"/>
            <a:chExt cx="7239000" cy="457200"/>
          </a:xfrm>
        </p:grpSpPr>
        <p:sp>
          <p:nvSpPr>
            <p:cNvPr id="2001" name="矩形"/>
            <p:cNvSpPr/>
            <p:nvPr/>
          </p:nvSpPr>
          <p:spPr>
            <a:xfrm>
              <a:off x="0" y="0"/>
              <a:ext cx="723900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b="1" sz="2200">
                  <a:solidFill>
                    <a:srgbClr val="0052A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02" name="评阅意见与论文修改说明"/>
            <p:cNvSpPr txBox="1"/>
            <p:nvPr/>
          </p:nvSpPr>
          <p:spPr>
            <a:xfrm>
              <a:off x="0" y="38100"/>
              <a:ext cx="7239000" cy="381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>
                <a:defRPr b="1" sz="2200">
                  <a:solidFill>
                    <a:srgbClr val="0052A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评阅意见与论文修改说明</a:t>
              </a:r>
            </a:p>
          </p:txBody>
        </p:sp>
      </p:grpSp>
      <p:grpSp>
        <p:nvGrpSpPr>
          <p:cNvPr id="2006" name="矩形 1961"/>
          <p:cNvGrpSpPr/>
          <p:nvPr/>
        </p:nvGrpSpPr>
        <p:grpSpPr>
          <a:xfrm>
            <a:off x="8667750" y="228600"/>
            <a:ext cx="1428750" cy="209550"/>
            <a:chOff x="0" y="0"/>
            <a:chExt cx="1428750" cy="209550"/>
          </a:xfrm>
        </p:grpSpPr>
        <p:sp>
          <p:nvSpPr>
            <p:cNvPr id="2004" name="矩形"/>
            <p:cNvSpPr/>
            <p:nvPr/>
          </p:nvSpPr>
          <p:spPr>
            <a:xfrm>
              <a:off x="0" y="0"/>
              <a:ext cx="142875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700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2005" name="RESPONSE"/>
            <p:cNvSpPr txBox="1"/>
            <p:nvPr/>
          </p:nvSpPr>
          <p:spPr>
            <a:xfrm>
              <a:off x="0" y="41274"/>
              <a:ext cx="142875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700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RESPONSE</a:t>
              </a:r>
            </a:p>
          </p:txBody>
        </p:sp>
      </p:grpSp>
      <p:grpSp>
        <p:nvGrpSpPr>
          <p:cNvPr id="2009" name="矩形 1963"/>
          <p:cNvGrpSpPr/>
          <p:nvPr/>
        </p:nvGrpSpPr>
        <p:grpSpPr>
          <a:xfrm>
            <a:off x="876300" y="1019175"/>
            <a:ext cx="2095500" cy="266700"/>
            <a:chOff x="0" y="0"/>
            <a:chExt cx="2095500" cy="266700"/>
          </a:xfrm>
        </p:grpSpPr>
        <p:sp>
          <p:nvSpPr>
            <p:cNvPr id="2007" name="矩形"/>
            <p:cNvSpPr/>
            <p:nvPr/>
          </p:nvSpPr>
          <p:spPr>
            <a:xfrm>
              <a:off x="0" y="0"/>
              <a:ext cx="20955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 b="1" sz="1400">
                  <a:solidFill>
                    <a:srgbClr val="082B6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08" name="评阅教师意见"/>
            <p:cNvSpPr txBox="1"/>
            <p:nvPr/>
          </p:nvSpPr>
          <p:spPr>
            <a:xfrm>
              <a:off x="0" y="0"/>
              <a:ext cx="2095500" cy="254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400">
                  <a:solidFill>
                    <a:srgbClr val="082B6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评阅教师意见</a:t>
              </a:r>
            </a:p>
          </p:txBody>
        </p:sp>
      </p:grpSp>
      <p:sp>
        <p:nvSpPr>
          <p:cNvPr id="2010" name="圆角矩形 1964"/>
          <p:cNvSpPr/>
          <p:nvPr/>
        </p:nvSpPr>
        <p:spPr>
          <a:xfrm>
            <a:off x="876300" y="1352550"/>
            <a:ext cx="4953000" cy="1314450"/>
          </a:xfrm>
          <a:prstGeom prst="roundRect">
            <a:avLst>
              <a:gd name="adj" fmla="val 5797"/>
            </a:avLst>
          </a:prstGeom>
          <a:solidFill>
            <a:srgbClr val="F5F9FE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/>
          </a:p>
        </p:txBody>
      </p:sp>
      <p:grpSp>
        <p:nvGrpSpPr>
          <p:cNvPr id="2013" name="矩形 1965"/>
          <p:cNvGrpSpPr/>
          <p:nvPr/>
        </p:nvGrpSpPr>
        <p:grpSpPr>
          <a:xfrm>
            <a:off x="1085850" y="1504950"/>
            <a:ext cx="4533900" cy="228600"/>
            <a:chOff x="0" y="0"/>
            <a:chExt cx="4533900" cy="228600"/>
          </a:xfrm>
        </p:grpSpPr>
        <p:sp>
          <p:nvSpPr>
            <p:cNvPr id="2011" name="矩形"/>
            <p:cNvSpPr/>
            <p:nvPr/>
          </p:nvSpPr>
          <p:spPr>
            <a:xfrm>
              <a:off x="0" y="0"/>
              <a:ext cx="453390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 b="1" sz="1300">
                  <a:solidFill>
                    <a:srgbClr val="0052A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12" name="评阅教师 1"/>
            <p:cNvSpPr txBox="1"/>
            <p:nvPr/>
          </p:nvSpPr>
          <p:spPr>
            <a:xfrm>
              <a:off x="0" y="0"/>
              <a:ext cx="453390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052A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评阅教师 1</a:t>
              </a:r>
            </a:p>
          </p:txBody>
        </p:sp>
      </p:grpSp>
      <p:grpSp>
        <p:nvGrpSpPr>
          <p:cNvPr id="2016" name="矩形 1966"/>
          <p:cNvGrpSpPr/>
          <p:nvPr/>
        </p:nvGrpSpPr>
        <p:grpSpPr>
          <a:xfrm>
            <a:off x="1085850" y="1809750"/>
            <a:ext cx="4533900" cy="723900"/>
            <a:chOff x="0" y="0"/>
            <a:chExt cx="4533900" cy="723900"/>
          </a:xfrm>
        </p:grpSpPr>
        <p:sp>
          <p:nvSpPr>
            <p:cNvPr id="2014" name="矩形"/>
            <p:cNvSpPr/>
            <p:nvPr/>
          </p:nvSpPr>
          <p:spPr>
            <a:xfrm>
              <a:off x="0" y="0"/>
              <a:ext cx="4533900" cy="723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 sz="1000">
                  <a:solidFill>
                    <a:srgbClr val="46566A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15" name="基本完成毕设任务要求，论文工作完整，格式正确，符合本科毕业要求。"/>
            <p:cNvSpPr txBox="1"/>
            <p:nvPr/>
          </p:nvSpPr>
          <p:spPr>
            <a:xfrm>
              <a:off x="0" y="0"/>
              <a:ext cx="4533900" cy="177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46566A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基本完成毕设任务要求，论文工作完整，格式正确，符合本科毕业要求。</a:t>
              </a:r>
            </a:p>
          </p:txBody>
        </p:sp>
      </p:grpSp>
      <p:sp>
        <p:nvSpPr>
          <p:cNvPr id="2017" name="圆角矩形 1967"/>
          <p:cNvSpPr/>
          <p:nvPr/>
        </p:nvSpPr>
        <p:spPr>
          <a:xfrm>
            <a:off x="6362700" y="1352550"/>
            <a:ext cx="4953000" cy="1314450"/>
          </a:xfrm>
          <a:prstGeom prst="roundRect">
            <a:avLst>
              <a:gd name="adj" fmla="val 5797"/>
            </a:avLst>
          </a:prstGeom>
          <a:solidFill>
            <a:srgbClr val="F5F9FE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/>
          </a:p>
        </p:txBody>
      </p:sp>
      <p:grpSp>
        <p:nvGrpSpPr>
          <p:cNvPr id="2020" name="矩形 1968"/>
          <p:cNvGrpSpPr/>
          <p:nvPr/>
        </p:nvGrpSpPr>
        <p:grpSpPr>
          <a:xfrm>
            <a:off x="6572250" y="1504950"/>
            <a:ext cx="4533900" cy="228600"/>
            <a:chOff x="0" y="0"/>
            <a:chExt cx="4533900" cy="228600"/>
          </a:xfrm>
        </p:grpSpPr>
        <p:sp>
          <p:nvSpPr>
            <p:cNvPr id="2018" name="矩形"/>
            <p:cNvSpPr/>
            <p:nvPr/>
          </p:nvSpPr>
          <p:spPr>
            <a:xfrm>
              <a:off x="0" y="0"/>
              <a:ext cx="453390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 b="1" sz="1300">
                  <a:solidFill>
                    <a:srgbClr val="0052A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19" name="评阅教师 2"/>
            <p:cNvSpPr txBox="1"/>
            <p:nvPr/>
          </p:nvSpPr>
          <p:spPr>
            <a:xfrm>
              <a:off x="0" y="0"/>
              <a:ext cx="453390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052A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评阅教师 2</a:t>
              </a:r>
            </a:p>
          </p:txBody>
        </p:sp>
      </p:grpSp>
      <p:grpSp>
        <p:nvGrpSpPr>
          <p:cNvPr id="2023" name="矩形 1969"/>
          <p:cNvGrpSpPr/>
          <p:nvPr/>
        </p:nvGrpSpPr>
        <p:grpSpPr>
          <a:xfrm>
            <a:off x="6572250" y="1809750"/>
            <a:ext cx="4533900" cy="723900"/>
            <a:chOff x="0" y="0"/>
            <a:chExt cx="4533900" cy="723900"/>
          </a:xfrm>
        </p:grpSpPr>
        <p:sp>
          <p:nvSpPr>
            <p:cNvPr id="2021" name="矩形"/>
            <p:cNvSpPr/>
            <p:nvPr/>
          </p:nvSpPr>
          <p:spPr>
            <a:xfrm>
              <a:off x="0" y="0"/>
              <a:ext cx="4533900" cy="723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 sz="1000">
                  <a:solidFill>
                    <a:srgbClr val="46566A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22" name="论文内容丰富；结构和格式需部分调整，结论需要简化，部分图表需清晰，论文后面章节需要合并。…"/>
            <p:cNvSpPr txBox="1"/>
            <p:nvPr/>
          </p:nvSpPr>
          <p:spPr>
            <a:xfrm>
              <a:off x="0" y="0"/>
              <a:ext cx="4533900" cy="533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46566A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  <a:r>
                <a:t>论文内容丰富；结构和格式需部分调整，结论需要简化，部分图表需清晰，论文后面章节需要合并。</a:t>
              </a:r>
            </a:p>
            <a:p>
              <a:pPr>
                <a:defRPr sz="1000">
                  <a:solidFill>
                    <a:srgbClr val="46566A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  <a:r>
                <a:t>同时肯定系统具有一定实践意义，论文符合本科毕业要求，同意参加毕业答辩。</a:t>
              </a:r>
            </a:p>
          </p:txBody>
        </p:sp>
      </p:grpSp>
      <p:grpSp>
        <p:nvGrpSpPr>
          <p:cNvPr id="2026" name="矩形 1970"/>
          <p:cNvGrpSpPr/>
          <p:nvPr/>
        </p:nvGrpSpPr>
        <p:grpSpPr>
          <a:xfrm>
            <a:off x="876300" y="2990850"/>
            <a:ext cx="3429000" cy="266700"/>
            <a:chOff x="0" y="0"/>
            <a:chExt cx="3429000" cy="266700"/>
          </a:xfrm>
        </p:grpSpPr>
        <p:sp>
          <p:nvSpPr>
            <p:cNvPr id="2024" name="矩形"/>
            <p:cNvSpPr/>
            <p:nvPr/>
          </p:nvSpPr>
          <p:spPr>
            <a:xfrm>
              <a:off x="0" y="0"/>
              <a:ext cx="3429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 b="1" sz="1400">
                  <a:solidFill>
                    <a:srgbClr val="082B6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25" name="针对评阅教师 2 意见的终稿修改"/>
            <p:cNvSpPr txBox="1"/>
            <p:nvPr/>
          </p:nvSpPr>
          <p:spPr>
            <a:xfrm>
              <a:off x="0" y="0"/>
              <a:ext cx="3429000" cy="254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400">
                  <a:solidFill>
                    <a:srgbClr val="082B6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针对评阅教师 2 意见的终稿修改</a:t>
              </a:r>
            </a:p>
          </p:txBody>
        </p:sp>
      </p:grpSp>
      <p:grpSp>
        <p:nvGrpSpPr>
          <p:cNvPr id="2029" name="矩形 1971"/>
          <p:cNvGrpSpPr/>
          <p:nvPr/>
        </p:nvGrpSpPr>
        <p:grpSpPr>
          <a:xfrm>
            <a:off x="4619625" y="3028950"/>
            <a:ext cx="6762750" cy="228600"/>
            <a:chOff x="0" y="0"/>
            <a:chExt cx="6762750" cy="228600"/>
          </a:xfrm>
        </p:grpSpPr>
        <p:sp>
          <p:nvSpPr>
            <p:cNvPr id="2027" name="矩形"/>
            <p:cNvSpPr/>
            <p:nvPr/>
          </p:nvSpPr>
          <p:spPr>
            <a:xfrm>
              <a:off x="0" y="0"/>
              <a:ext cx="67627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r">
                <a:defRPr sz="900">
                  <a:solidFill>
                    <a:srgbClr val="6B728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28" name="修改定位来自终稿目录与正文：第4章、第5章、第6章、第7章、结论、附录A。"/>
            <p:cNvSpPr txBox="1"/>
            <p:nvPr/>
          </p:nvSpPr>
          <p:spPr>
            <a:xfrm>
              <a:off x="0" y="0"/>
              <a:ext cx="676275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6B728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修改定位来自终稿目录与正文：第4章、第5章、第6章、第7章、结论、附录A。</a:t>
              </a:r>
            </a:p>
          </p:txBody>
        </p:sp>
      </p:grpSp>
      <p:sp>
        <p:nvSpPr>
          <p:cNvPr id="2030" name="圆角矩形 1972"/>
          <p:cNvSpPr/>
          <p:nvPr/>
        </p:nvSpPr>
        <p:spPr>
          <a:xfrm>
            <a:off x="876300" y="3486150"/>
            <a:ext cx="2457450" cy="1200150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031" name="矩形 1973"/>
          <p:cNvSpPr/>
          <p:nvPr/>
        </p:nvSpPr>
        <p:spPr>
          <a:xfrm>
            <a:off x="876300" y="3486150"/>
            <a:ext cx="47625" cy="1200150"/>
          </a:xfrm>
          <a:prstGeom prst="rect">
            <a:avLst/>
          </a:prstGeom>
          <a:solidFill>
            <a:srgbClr val="0052A5"/>
          </a:solidFill>
          <a:ln w="3175">
            <a:solidFill>
              <a:srgbClr val="0052A5"/>
            </a:solidFill>
          </a:ln>
        </p:spPr>
        <p:txBody>
          <a:bodyPr lIns="45719" rIns="45719"/>
          <a:lstStyle/>
          <a:p>
            <a:pPr/>
          </a:p>
        </p:txBody>
      </p:sp>
      <p:grpSp>
        <p:nvGrpSpPr>
          <p:cNvPr id="2034" name="矩形 1974"/>
          <p:cNvGrpSpPr/>
          <p:nvPr/>
        </p:nvGrpSpPr>
        <p:grpSpPr>
          <a:xfrm>
            <a:off x="1047750" y="3619500"/>
            <a:ext cx="361950" cy="266700"/>
            <a:chOff x="0" y="0"/>
            <a:chExt cx="361950" cy="266700"/>
          </a:xfrm>
        </p:grpSpPr>
        <p:sp>
          <p:nvSpPr>
            <p:cNvPr id="2032" name="矩形"/>
            <p:cNvSpPr/>
            <p:nvPr/>
          </p:nvSpPr>
          <p:spPr>
            <a:xfrm>
              <a:off x="0" y="0"/>
              <a:ext cx="3619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 b="1" sz="1500">
                  <a:solidFill>
                    <a:srgbClr val="0052A5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2033" name="01"/>
            <p:cNvSpPr txBox="1"/>
            <p:nvPr/>
          </p:nvSpPr>
          <p:spPr>
            <a:xfrm>
              <a:off x="0" y="0"/>
              <a:ext cx="361950" cy="20966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052A5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01</a:t>
              </a:r>
            </a:p>
          </p:txBody>
        </p:sp>
      </p:grpSp>
      <p:grpSp>
        <p:nvGrpSpPr>
          <p:cNvPr id="2037" name="矩形 1975"/>
          <p:cNvGrpSpPr/>
          <p:nvPr/>
        </p:nvGrpSpPr>
        <p:grpSpPr>
          <a:xfrm>
            <a:off x="1447800" y="3648075"/>
            <a:ext cx="1733550" cy="228600"/>
            <a:chOff x="0" y="0"/>
            <a:chExt cx="1733550" cy="228600"/>
          </a:xfrm>
        </p:grpSpPr>
        <p:sp>
          <p:nvSpPr>
            <p:cNvPr id="2035" name="矩形"/>
            <p:cNvSpPr/>
            <p:nvPr/>
          </p:nvSpPr>
          <p:spPr>
            <a:xfrm>
              <a:off x="0" y="0"/>
              <a:ext cx="17335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 b="1" sz="1200">
                  <a:solidFill>
                    <a:srgbClr val="082B6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36" name="结构与格式"/>
            <p:cNvSpPr txBox="1"/>
            <p:nvPr/>
          </p:nvSpPr>
          <p:spPr>
            <a:xfrm>
              <a:off x="0" y="0"/>
              <a:ext cx="1733550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200">
                  <a:solidFill>
                    <a:srgbClr val="082B6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结构与格式</a:t>
              </a:r>
            </a:p>
          </p:txBody>
        </p:sp>
      </p:grpSp>
      <p:grpSp>
        <p:nvGrpSpPr>
          <p:cNvPr id="2040" name="矩形 1976"/>
          <p:cNvGrpSpPr/>
          <p:nvPr/>
        </p:nvGrpSpPr>
        <p:grpSpPr>
          <a:xfrm>
            <a:off x="1085850" y="4010025"/>
            <a:ext cx="2038350" cy="552450"/>
            <a:chOff x="0" y="0"/>
            <a:chExt cx="2038350" cy="552450"/>
          </a:xfrm>
        </p:grpSpPr>
        <p:sp>
          <p:nvSpPr>
            <p:cNvPr id="2038" name="矩形"/>
            <p:cNvSpPr/>
            <p:nvPr/>
          </p:nvSpPr>
          <p:spPr>
            <a:xfrm>
              <a:off x="0" y="0"/>
              <a:ext cx="2038350" cy="552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 sz="900">
                  <a:solidFill>
                    <a:srgbClr val="46566A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39" name="第4章系统设计、第5章系统实现：统一章节层级、术语、图表编号与格式表达，突出架构、算法和工程落点。"/>
            <p:cNvSpPr txBox="1"/>
            <p:nvPr/>
          </p:nvSpPr>
          <p:spPr>
            <a:xfrm>
              <a:off x="0" y="0"/>
              <a:ext cx="2038350" cy="4953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46566A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第4章系统设计、第5章系统实现：统一章节层级、术语、图表编号与格式表达，突出架构、算法和工程落点。</a:t>
              </a:r>
            </a:p>
          </p:txBody>
        </p:sp>
      </p:grpSp>
      <p:sp>
        <p:nvSpPr>
          <p:cNvPr id="2041" name="圆角矩形 1977"/>
          <p:cNvSpPr/>
          <p:nvPr/>
        </p:nvSpPr>
        <p:spPr>
          <a:xfrm>
            <a:off x="3524250" y="3486150"/>
            <a:ext cx="2457450" cy="1200150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042" name="矩形 1978"/>
          <p:cNvSpPr/>
          <p:nvPr/>
        </p:nvSpPr>
        <p:spPr>
          <a:xfrm>
            <a:off x="3524250" y="3486150"/>
            <a:ext cx="47625" cy="1200150"/>
          </a:xfrm>
          <a:prstGeom prst="rect">
            <a:avLst/>
          </a:prstGeom>
          <a:solidFill>
            <a:srgbClr val="2F9D68"/>
          </a:solidFill>
          <a:ln w="3175">
            <a:solidFill>
              <a:srgbClr val="2F9D68"/>
            </a:solidFill>
          </a:ln>
        </p:spPr>
        <p:txBody>
          <a:bodyPr lIns="45719" rIns="45719"/>
          <a:lstStyle/>
          <a:p>
            <a:pPr/>
          </a:p>
        </p:txBody>
      </p:sp>
      <p:grpSp>
        <p:nvGrpSpPr>
          <p:cNvPr id="2045" name="矩形 1979"/>
          <p:cNvGrpSpPr/>
          <p:nvPr/>
        </p:nvGrpSpPr>
        <p:grpSpPr>
          <a:xfrm>
            <a:off x="3695700" y="3619500"/>
            <a:ext cx="361950" cy="266700"/>
            <a:chOff x="0" y="0"/>
            <a:chExt cx="361950" cy="266700"/>
          </a:xfrm>
        </p:grpSpPr>
        <p:sp>
          <p:nvSpPr>
            <p:cNvPr id="2043" name="矩形"/>
            <p:cNvSpPr/>
            <p:nvPr/>
          </p:nvSpPr>
          <p:spPr>
            <a:xfrm>
              <a:off x="0" y="0"/>
              <a:ext cx="3619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 b="1" sz="1500">
                  <a:solidFill>
                    <a:srgbClr val="2F9D68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2044" name="02"/>
            <p:cNvSpPr txBox="1"/>
            <p:nvPr/>
          </p:nvSpPr>
          <p:spPr>
            <a:xfrm>
              <a:off x="0" y="0"/>
              <a:ext cx="361950" cy="20966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2F9D68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02</a:t>
              </a:r>
            </a:p>
          </p:txBody>
        </p:sp>
      </p:grpSp>
      <p:grpSp>
        <p:nvGrpSpPr>
          <p:cNvPr id="2048" name="矩形 1980"/>
          <p:cNvGrpSpPr/>
          <p:nvPr/>
        </p:nvGrpSpPr>
        <p:grpSpPr>
          <a:xfrm>
            <a:off x="4095750" y="3648075"/>
            <a:ext cx="1733550" cy="228600"/>
            <a:chOff x="0" y="0"/>
            <a:chExt cx="1733550" cy="228600"/>
          </a:xfrm>
        </p:grpSpPr>
        <p:sp>
          <p:nvSpPr>
            <p:cNvPr id="2046" name="矩形"/>
            <p:cNvSpPr/>
            <p:nvPr/>
          </p:nvSpPr>
          <p:spPr>
            <a:xfrm>
              <a:off x="0" y="0"/>
              <a:ext cx="17335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 b="1" sz="1200">
                  <a:solidFill>
                    <a:srgbClr val="082B6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47" name="结论简化"/>
            <p:cNvSpPr txBox="1"/>
            <p:nvPr/>
          </p:nvSpPr>
          <p:spPr>
            <a:xfrm>
              <a:off x="0" y="0"/>
              <a:ext cx="1733550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200">
                  <a:solidFill>
                    <a:srgbClr val="082B6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结论简化</a:t>
              </a:r>
            </a:p>
          </p:txBody>
        </p:sp>
      </p:grpSp>
      <p:grpSp>
        <p:nvGrpSpPr>
          <p:cNvPr id="2051" name="矩形 1981"/>
          <p:cNvGrpSpPr/>
          <p:nvPr/>
        </p:nvGrpSpPr>
        <p:grpSpPr>
          <a:xfrm>
            <a:off x="3733800" y="4010025"/>
            <a:ext cx="2038350" cy="552450"/>
            <a:chOff x="0" y="0"/>
            <a:chExt cx="2038350" cy="552450"/>
          </a:xfrm>
        </p:grpSpPr>
        <p:sp>
          <p:nvSpPr>
            <p:cNvPr id="2049" name="矩形"/>
            <p:cNvSpPr/>
            <p:nvPr/>
          </p:nvSpPr>
          <p:spPr>
            <a:xfrm>
              <a:off x="0" y="0"/>
              <a:ext cx="2038350" cy="552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 sz="900">
                  <a:solidFill>
                    <a:srgbClr val="46566A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50" name="结论部分：压缩贡献、局限和后续工作；明确结论限定在工作流层，不扩大为湿实验或成功率结论。"/>
            <p:cNvSpPr txBox="1"/>
            <p:nvPr/>
          </p:nvSpPr>
          <p:spPr>
            <a:xfrm>
              <a:off x="0" y="0"/>
              <a:ext cx="2038350" cy="4953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46566A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结论部分：压缩贡献、局限和后续工作；明确结论限定在工作流层，不扩大为湿实验或成功率结论。</a:t>
              </a:r>
            </a:p>
          </p:txBody>
        </p:sp>
      </p:grpSp>
      <p:sp>
        <p:nvSpPr>
          <p:cNvPr id="2052" name="圆角矩形 1982"/>
          <p:cNvSpPr/>
          <p:nvPr/>
        </p:nvSpPr>
        <p:spPr>
          <a:xfrm>
            <a:off x="6172200" y="3486150"/>
            <a:ext cx="2457450" cy="1200150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053" name="矩形 1983"/>
          <p:cNvSpPr/>
          <p:nvPr/>
        </p:nvSpPr>
        <p:spPr>
          <a:xfrm>
            <a:off x="6172200" y="3486150"/>
            <a:ext cx="47625" cy="1200150"/>
          </a:xfrm>
          <a:prstGeom prst="rect">
            <a:avLst/>
          </a:prstGeom>
          <a:solidFill>
            <a:srgbClr val="0052A5"/>
          </a:solidFill>
          <a:ln w="3175">
            <a:solidFill>
              <a:srgbClr val="0052A5"/>
            </a:solidFill>
          </a:ln>
        </p:spPr>
        <p:txBody>
          <a:bodyPr lIns="45719" rIns="45719"/>
          <a:lstStyle/>
          <a:p>
            <a:pPr/>
          </a:p>
        </p:txBody>
      </p:sp>
      <p:grpSp>
        <p:nvGrpSpPr>
          <p:cNvPr id="2056" name="矩形 1984"/>
          <p:cNvGrpSpPr/>
          <p:nvPr/>
        </p:nvGrpSpPr>
        <p:grpSpPr>
          <a:xfrm>
            <a:off x="6343650" y="3619500"/>
            <a:ext cx="361950" cy="266700"/>
            <a:chOff x="0" y="0"/>
            <a:chExt cx="361950" cy="266700"/>
          </a:xfrm>
        </p:grpSpPr>
        <p:sp>
          <p:nvSpPr>
            <p:cNvPr id="2054" name="矩形"/>
            <p:cNvSpPr/>
            <p:nvPr/>
          </p:nvSpPr>
          <p:spPr>
            <a:xfrm>
              <a:off x="0" y="0"/>
              <a:ext cx="3619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 b="1" sz="1500">
                  <a:solidFill>
                    <a:srgbClr val="0052A5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2055" name="03"/>
            <p:cNvSpPr txBox="1"/>
            <p:nvPr/>
          </p:nvSpPr>
          <p:spPr>
            <a:xfrm>
              <a:off x="0" y="0"/>
              <a:ext cx="361950" cy="20966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052A5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03</a:t>
              </a:r>
            </a:p>
          </p:txBody>
        </p:sp>
      </p:grpSp>
      <p:grpSp>
        <p:nvGrpSpPr>
          <p:cNvPr id="2059" name="矩形 1985"/>
          <p:cNvGrpSpPr/>
          <p:nvPr/>
        </p:nvGrpSpPr>
        <p:grpSpPr>
          <a:xfrm>
            <a:off x="6743700" y="3648075"/>
            <a:ext cx="1733550" cy="228600"/>
            <a:chOff x="0" y="0"/>
            <a:chExt cx="1733550" cy="228600"/>
          </a:xfrm>
        </p:grpSpPr>
        <p:sp>
          <p:nvSpPr>
            <p:cNvPr id="2057" name="矩形"/>
            <p:cNvSpPr/>
            <p:nvPr/>
          </p:nvSpPr>
          <p:spPr>
            <a:xfrm>
              <a:off x="0" y="0"/>
              <a:ext cx="17335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 b="1" sz="1200">
                  <a:solidFill>
                    <a:srgbClr val="082B6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58" name="图表清晰"/>
            <p:cNvSpPr txBox="1"/>
            <p:nvPr/>
          </p:nvSpPr>
          <p:spPr>
            <a:xfrm>
              <a:off x="0" y="0"/>
              <a:ext cx="1733550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200">
                  <a:solidFill>
                    <a:srgbClr val="082B6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图表清晰</a:t>
              </a:r>
            </a:p>
          </p:txBody>
        </p:sp>
      </p:grpSp>
      <p:grpSp>
        <p:nvGrpSpPr>
          <p:cNvPr id="2062" name="矩形 1986"/>
          <p:cNvGrpSpPr/>
          <p:nvPr/>
        </p:nvGrpSpPr>
        <p:grpSpPr>
          <a:xfrm>
            <a:off x="6381750" y="4010025"/>
            <a:ext cx="2038350" cy="552450"/>
            <a:chOff x="0" y="0"/>
            <a:chExt cx="2038350" cy="552450"/>
          </a:xfrm>
        </p:grpSpPr>
        <p:sp>
          <p:nvSpPr>
            <p:cNvPr id="2060" name="矩形"/>
            <p:cNvSpPr/>
            <p:nvPr/>
          </p:nvSpPr>
          <p:spPr>
            <a:xfrm>
              <a:off x="0" y="0"/>
              <a:ext cx="2038350" cy="552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 sz="900">
                  <a:solidFill>
                    <a:srgbClr val="46566A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61" name="第4章、第6章、第7章：调整架构、算法、测试和实验类图表，使图示与正文证据对应更清楚。"/>
            <p:cNvSpPr txBox="1"/>
            <p:nvPr/>
          </p:nvSpPr>
          <p:spPr>
            <a:xfrm>
              <a:off x="0" y="0"/>
              <a:ext cx="2038350" cy="4953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46566A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第4章、第6章、第7章：调整架构、算法、测试和实验类图表，使图示与正文证据对应更清楚。</a:t>
              </a:r>
            </a:p>
          </p:txBody>
        </p:sp>
      </p:grpSp>
      <p:sp>
        <p:nvSpPr>
          <p:cNvPr id="2063" name="圆角矩形 1987"/>
          <p:cNvSpPr/>
          <p:nvPr/>
        </p:nvSpPr>
        <p:spPr>
          <a:xfrm>
            <a:off x="8820150" y="3486150"/>
            <a:ext cx="2457450" cy="1200150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064" name="矩形 1988"/>
          <p:cNvSpPr/>
          <p:nvPr/>
        </p:nvSpPr>
        <p:spPr>
          <a:xfrm>
            <a:off x="8820150" y="3486150"/>
            <a:ext cx="47625" cy="1200150"/>
          </a:xfrm>
          <a:prstGeom prst="rect">
            <a:avLst/>
          </a:prstGeom>
          <a:solidFill>
            <a:srgbClr val="2F9D68"/>
          </a:solidFill>
          <a:ln w="3175">
            <a:solidFill>
              <a:srgbClr val="2F9D68"/>
            </a:solidFill>
          </a:ln>
        </p:spPr>
        <p:txBody>
          <a:bodyPr lIns="45719" rIns="45719"/>
          <a:lstStyle/>
          <a:p>
            <a:pPr/>
          </a:p>
        </p:txBody>
      </p:sp>
      <p:grpSp>
        <p:nvGrpSpPr>
          <p:cNvPr id="2067" name="矩形 1989"/>
          <p:cNvGrpSpPr/>
          <p:nvPr/>
        </p:nvGrpSpPr>
        <p:grpSpPr>
          <a:xfrm>
            <a:off x="8991600" y="3619500"/>
            <a:ext cx="361950" cy="266700"/>
            <a:chOff x="0" y="0"/>
            <a:chExt cx="361950" cy="266700"/>
          </a:xfrm>
        </p:grpSpPr>
        <p:sp>
          <p:nvSpPr>
            <p:cNvPr id="2065" name="矩形"/>
            <p:cNvSpPr/>
            <p:nvPr/>
          </p:nvSpPr>
          <p:spPr>
            <a:xfrm>
              <a:off x="0" y="0"/>
              <a:ext cx="3619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 b="1" sz="1500">
                  <a:solidFill>
                    <a:srgbClr val="2F9D68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2066" name="04"/>
            <p:cNvSpPr txBox="1"/>
            <p:nvPr/>
          </p:nvSpPr>
          <p:spPr>
            <a:xfrm>
              <a:off x="0" y="0"/>
              <a:ext cx="361950" cy="20966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2F9D68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04</a:t>
              </a:r>
            </a:p>
          </p:txBody>
        </p:sp>
      </p:grpSp>
      <p:grpSp>
        <p:nvGrpSpPr>
          <p:cNvPr id="2070" name="矩形 1990"/>
          <p:cNvGrpSpPr/>
          <p:nvPr/>
        </p:nvGrpSpPr>
        <p:grpSpPr>
          <a:xfrm>
            <a:off x="9391650" y="3648075"/>
            <a:ext cx="1733550" cy="228600"/>
            <a:chOff x="0" y="0"/>
            <a:chExt cx="1733550" cy="228600"/>
          </a:xfrm>
        </p:grpSpPr>
        <p:sp>
          <p:nvSpPr>
            <p:cNvPr id="2068" name="矩形"/>
            <p:cNvSpPr/>
            <p:nvPr/>
          </p:nvSpPr>
          <p:spPr>
            <a:xfrm>
              <a:off x="0" y="0"/>
              <a:ext cx="17335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 b="1" sz="1200">
                  <a:solidFill>
                    <a:srgbClr val="082B6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69" name="后续章节合并"/>
            <p:cNvSpPr txBox="1"/>
            <p:nvPr/>
          </p:nvSpPr>
          <p:spPr>
            <a:xfrm>
              <a:off x="0" y="0"/>
              <a:ext cx="1733550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200">
                  <a:solidFill>
                    <a:srgbClr val="082B6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后续章节合并</a:t>
              </a:r>
            </a:p>
          </p:txBody>
        </p:sp>
      </p:grpSp>
      <p:grpSp>
        <p:nvGrpSpPr>
          <p:cNvPr id="2073" name="矩形 1991"/>
          <p:cNvGrpSpPr/>
          <p:nvPr/>
        </p:nvGrpSpPr>
        <p:grpSpPr>
          <a:xfrm>
            <a:off x="9029700" y="4010025"/>
            <a:ext cx="2038350" cy="552450"/>
            <a:chOff x="0" y="0"/>
            <a:chExt cx="2038350" cy="552450"/>
          </a:xfrm>
        </p:grpSpPr>
        <p:sp>
          <p:nvSpPr>
            <p:cNvPr id="2071" name="矩形"/>
            <p:cNvSpPr/>
            <p:nvPr/>
          </p:nvSpPr>
          <p:spPr>
            <a:xfrm>
              <a:off x="0" y="0"/>
              <a:ext cx="2038350" cy="552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 sz="900">
                  <a:solidFill>
                    <a:srgbClr val="46566A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72" name="第6章正文保留测试策略、关键路径与结论边界；测试明细和证据索引收束到附录A，减少重复铺陈。"/>
            <p:cNvSpPr txBox="1"/>
            <p:nvPr/>
          </p:nvSpPr>
          <p:spPr>
            <a:xfrm>
              <a:off x="0" y="0"/>
              <a:ext cx="2038350" cy="4953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46566A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第6章正文保留测试策略、关键路径与结论边界；测试明细和证据索引收束到附录A，减少重复铺陈。</a:t>
              </a:r>
            </a:p>
          </p:txBody>
        </p:sp>
      </p:grpSp>
      <p:sp>
        <p:nvSpPr>
          <p:cNvPr id="2074" name="圆角矩形 1992"/>
          <p:cNvSpPr/>
          <p:nvPr/>
        </p:nvSpPr>
        <p:spPr>
          <a:xfrm>
            <a:off x="1428750" y="5105400"/>
            <a:ext cx="9334500" cy="609600"/>
          </a:xfrm>
          <a:prstGeom prst="roundRect">
            <a:avLst>
              <a:gd name="adj" fmla="val 12500"/>
            </a:avLst>
          </a:prstGeom>
          <a:solidFill>
            <a:srgbClr val="EAF3FF"/>
          </a:solidFill>
          <a:ln>
            <a:solidFill>
              <a:srgbClr val="D7E8FA"/>
            </a:solidFill>
          </a:ln>
        </p:spPr>
        <p:txBody>
          <a:bodyPr lIns="45719" rIns="45719"/>
          <a:lstStyle/>
          <a:p>
            <a:pPr/>
          </a:p>
        </p:txBody>
      </p:sp>
      <p:grpSp>
        <p:nvGrpSpPr>
          <p:cNvPr id="2077" name="矩形 1993"/>
          <p:cNvGrpSpPr/>
          <p:nvPr/>
        </p:nvGrpSpPr>
        <p:grpSpPr>
          <a:xfrm>
            <a:off x="1752600" y="5257800"/>
            <a:ext cx="1809750" cy="228600"/>
            <a:chOff x="0" y="0"/>
            <a:chExt cx="1809750" cy="228600"/>
          </a:xfrm>
        </p:grpSpPr>
        <p:sp>
          <p:nvSpPr>
            <p:cNvPr id="2075" name="矩形"/>
            <p:cNvSpPr/>
            <p:nvPr/>
          </p:nvSpPr>
          <p:spPr>
            <a:xfrm>
              <a:off x="0" y="0"/>
              <a:ext cx="18097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 b="1" sz="1200">
                  <a:solidFill>
                    <a:srgbClr val="0052A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76" name="修改后的终稿结构"/>
            <p:cNvSpPr txBox="1"/>
            <p:nvPr/>
          </p:nvSpPr>
          <p:spPr>
            <a:xfrm>
              <a:off x="0" y="0"/>
              <a:ext cx="1809750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200">
                  <a:solidFill>
                    <a:srgbClr val="0052A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修改后的终稿结构</a:t>
              </a:r>
            </a:p>
          </p:txBody>
        </p:sp>
      </p:grpSp>
      <p:grpSp>
        <p:nvGrpSpPr>
          <p:cNvPr id="2080" name="矩形 1994"/>
          <p:cNvGrpSpPr/>
          <p:nvPr/>
        </p:nvGrpSpPr>
        <p:grpSpPr>
          <a:xfrm>
            <a:off x="3695700" y="5257800"/>
            <a:ext cx="6724650" cy="228600"/>
            <a:chOff x="0" y="0"/>
            <a:chExt cx="6724650" cy="228600"/>
          </a:xfrm>
        </p:grpSpPr>
        <p:sp>
          <p:nvSpPr>
            <p:cNvPr id="2078" name="矩形"/>
            <p:cNvSpPr/>
            <p:nvPr/>
          </p:nvSpPr>
          <p:spPr>
            <a:xfrm>
              <a:off x="0" y="0"/>
              <a:ext cx="67246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>
                <a:defRPr sz="1000">
                  <a:solidFill>
                    <a:srgbClr val="082B6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79" name="第4章系统设计  →  第5章系统实现  →  第6章系统测试与验证  →  第7章实验与结果分析  →  结论"/>
            <p:cNvSpPr txBox="1"/>
            <p:nvPr/>
          </p:nvSpPr>
          <p:spPr>
            <a:xfrm>
              <a:off x="0" y="0"/>
              <a:ext cx="6724650" cy="177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sz="1000">
                  <a:solidFill>
                    <a:srgbClr val="082B6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第4章系统设计  →  第5章系统实现  →  第6章系统测试与验证  →  第7章实验与结果分析  →  结论</a:t>
              </a:r>
            </a:p>
          </p:txBody>
        </p:sp>
      </p:grpSp>
      <p:grpSp>
        <p:nvGrpSpPr>
          <p:cNvPr id="2083" name="矩形 1995"/>
          <p:cNvGrpSpPr/>
          <p:nvPr/>
        </p:nvGrpSpPr>
        <p:grpSpPr>
          <a:xfrm>
            <a:off x="11696700" y="6419850"/>
            <a:ext cx="323850" cy="266700"/>
            <a:chOff x="0" y="0"/>
            <a:chExt cx="323850" cy="266700"/>
          </a:xfrm>
        </p:grpSpPr>
        <p:sp>
          <p:nvSpPr>
            <p:cNvPr id="2081" name="矩形"/>
            <p:cNvSpPr/>
            <p:nvPr/>
          </p:nvSpPr>
          <p:spPr>
            <a:xfrm>
              <a:off x="0" y="0"/>
              <a:ext cx="3238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>
                <a:defRPr b="1" sz="1300">
                  <a:solidFill>
                    <a:srgbClr val="8A8A8A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2082" name="16"/>
            <p:cNvSpPr txBox="1"/>
            <p:nvPr/>
          </p:nvSpPr>
          <p:spPr>
            <a:xfrm>
              <a:off x="0" y="0"/>
              <a:ext cx="323850" cy="1850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300">
                  <a:solidFill>
                    <a:srgbClr val="8A8A8A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5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086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pic>
        <p:nvPicPr>
          <p:cNvPr id="2087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24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2088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89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90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91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92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93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94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95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96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97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98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99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00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01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02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03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04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05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06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07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08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09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10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11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12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13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14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15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16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17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18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19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20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21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22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23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24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25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26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27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28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29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30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31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32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33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34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35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36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37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38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39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40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41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42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43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44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45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46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47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48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49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50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51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52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53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54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55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56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157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63"/>
          </a:xfrm>
          <a:prstGeom prst="rect">
            <a:avLst/>
          </a:prstGeom>
          <a:ln w="12700">
            <a:miter lim="400000"/>
          </a:ln>
        </p:spPr>
      </p:pic>
      <p:sp>
        <p:nvSpPr>
          <p:cNvPr id="2158" name="矩形"/>
          <p:cNvSpPr/>
          <p:nvPr/>
        </p:nvSpPr>
        <p:spPr>
          <a:xfrm>
            <a:off x="1000125" y="200025"/>
            <a:ext cx="7239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 anchor="ctr"/>
          <a:lstStyle/>
          <a:p>
            <a:pPr>
              <a:defRPr b="1" sz="2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2159" name="备份：公式与字段映射"/>
          <p:cNvSpPr txBox="1"/>
          <p:nvPr/>
        </p:nvSpPr>
        <p:spPr>
          <a:xfrm>
            <a:off x="1000125" y="238123"/>
            <a:ext cx="7239000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备份：公式与字段映射</a:t>
            </a:r>
          </a:p>
        </p:txBody>
      </p:sp>
      <p:sp>
        <p:nvSpPr>
          <p:cNvPr id="2160" name="矩形"/>
          <p:cNvSpPr/>
          <p:nvPr/>
        </p:nvSpPr>
        <p:spPr>
          <a:xfrm>
            <a:off x="8667750" y="2286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 anchor="ctr"/>
          <a:lstStyle/>
          <a:p>
            <a:pPr algn="ctr">
              <a:defRPr b="1"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161" name="BACKUP"/>
          <p:cNvSpPr txBox="1"/>
          <p:nvPr/>
        </p:nvSpPr>
        <p:spPr>
          <a:xfrm>
            <a:off x="8667750" y="269871"/>
            <a:ext cx="142875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BACKUP</a:t>
            </a:r>
          </a:p>
        </p:txBody>
      </p:sp>
      <p:sp>
        <p:nvSpPr>
          <p:cNvPr id="2162" name="矩形 985"/>
          <p:cNvSpPr/>
          <p:nvPr/>
        </p:nvSpPr>
        <p:spPr>
          <a:xfrm>
            <a:off x="1047750" y="1143000"/>
            <a:ext cx="9239250" cy="419100"/>
          </a:xfrm>
          <a:prstGeom prst="rect">
            <a:avLst/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2163" name="矩形"/>
          <p:cNvSpPr/>
          <p:nvPr/>
        </p:nvSpPr>
        <p:spPr>
          <a:xfrm>
            <a:off x="1285875" y="1238250"/>
            <a:ext cx="1143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2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164" name="F_h"/>
          <p:cNvSpPr txBox="1"/>
          <p:nvPr/>
        </p:nvSpPr>
        <p:spPr>
          <a:xfrm>
            <a:off x="1287920" y="1238250"/>
            <a:ext cx="157219" cy="161690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1400" i="1">
                          <a:solidFill>
                            <a:srgbClr val="0052A5"/>
                          </a:solidFill>
                          <a:latin typeface="Cambria Math" panose="02040503050406030204" pitchFamily="18" charset="0"/>
                        </a:rPr>
                        <m:t>𝐹</m:t>
                      </m:r>
                    </m:e>
                    <m:sub>
                      <m:r>
                        <a:rPr xmlns:a="http://schemas.openxmlformats.org/drawingml/2006/main" sz="1400" i="1">
                          <a:solidFill>
                            <a:srgbClr val="0052A5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</m:sub>
                  </m:sSub>
                </m:oMath>
              </m:oMathPara>
            </a14:m>
            <a:endParaRPr sz="1400">
              <a:solidFill>
                <a:srgbClr val="0052A5"/>
              </a:solidFill>
            </a:endParaRPr>
          </a:p>
        </p:txBody>
      </p:sp>
      <p:sp>
        <p:nvSpPr>
          <p:cNvPr id="2165" name="矩形"/>
          <p:cNvSpPr/>
          <p:nvPr/>
        </p:nvSpPr>
        <p:spPr>
          <a:xfrm>
            <a:off x="2952750" y="1238249"/>
            <a:ext cx="2952750" cy="1905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000">
                <a:solidFill>
                  <a:srgbClr val="082B6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166" name="candidate_feasibility"/>
          <p:cNvSpPr txBox="1"/>
          <p:nvPr/>
        </p:nvSpPr>
        <p:spPr>
          <a:xfrm>
            <a:off x="2952750" y="1238246"/>
            <a:ext cx="2952750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082B6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candidate_feasibility</a:t>
            </a:r>
          </a:p>
        </p:txBody>
      </p:sp>
      <p:sp>
        <p:nvSpPr>
          <p:cNvPr id="2167" name="矩形"/>
          <p:cNvSpPr/>
          <p:nvPr/>
        </p:nvSpPr>
        <p:spPr>
          <a:xfrm>
            <a:off x="6477000" y="1238249"/>
            <a:ext cx="3429000" cy="1905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2168" name="硬可行性过滤"/>
          <p:cNvSpPr txBox="1"/>
          <p:nvPr/>
        </p:nvSpPr>
        <p:spPr>
          <a:xfrm>
            <a:off x="6477000" y="1238246"/>
            <a:ext cx="342900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硬可行性过滤</a:t>
            </a:r>
          </a:p>
        </p:txBody>
      </p:sp>
      <p:sp>
        <p:nvSpPr>
          <p:cNvPr id="2169" name="矩形 989"/>
          <p:cNvSpPr/>
          <p:nvPr/>
        </p:nvSpPr>
        <p:spPr>
          <a:xfrm>
            <a:off x="1047750" y="1695450"/>
            <a:ext cx="9239250" cy="419100"/>
          </a:xfrm>
          <a:prstGeom prst="rect">
            <a:avLst/>
          </a:prstGeom>
          <a:solidFill>
            <a:srgbClr val="F5F9FE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2170" name="矩形"/>
          <p:cNvSpPr/>
          <p:nvPr/>
        </p:nvSpPr>
        <p:spPr>
          <a:xfrm>
            <a:off x="1285875" y="1790700"/>
            <a:ext cx="1143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2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171" name="S_static"/>
          <p:cNvSpPr txBox="1"/>
          <p:nvPr/>
        </p:nvSpPr>
        <p:spPr>
          <a:xfrm>
            <a:off x="1285875" y="1790700"/>
            <a:ext cx="391651" cy="164610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1400" i="1">
                          <a:solidFill>
                            <a:srgbClr val="0052A5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</m:e>
                    <m:sub>
                      <m:r>
                        <a:rPr xmlns:a="http://schemas.openxmlformats.org/drawingml/2006/main" sz="1400" i="1">
                          <a:solidFill>
                            <a:srgbClr val="0052A5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xmlns:a="http://schemas.openxmlformats.org/drawingml/2006/main" sz="1400" i="1">
                          <a:solidFill>
                            <a:srgbClr val="0052A5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xmlns:a="http://schemas.openxmlformats.org/drawingml/2006/main" sz="1400" i="1">
                          <a:solidFill>
                            <a:srgbClr val="0052A5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xmlns:a="http://schemas.openxmlformats.org/drawingml/2006/main" sz="1400" i="1">
                          <a:solidFill>
                            <a:srgbClr val="0052A5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xmlns:a="http://schemas.openxmlformats.org/drawingml/2006/main" sz="1400" i="1">
                          <a:solidFill>
                            <a:srgbClr val="0052A5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xmlns:a="http://schemas.openxmlformats.org/drawingml/2006/main" sz="1400" i="1">
                          <a:solidFill>
                            <a:srgbClr val="0052A5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</m:sub>
                  </m:sSub>
                </m:oMath>
              </m:oMathPara>
            </a14:m>
            <a:endParaRPr sz="1400">
              <a:solidFill>
                <a:srgbClr val="0052A5"/>
              </a:solidFill>
            </a:endParaRPr>
          </a:p>
        </p:txBody>
      </p:sp>
      <p:sp>
        <p:nvSpPr>
          <p:cNvPr id="2172" name="矩形"/>
          <p:cNvSpPr/>
          <p:nvPr/>
        </p:nvSpPr>
        <p:spPr>
          <a:xfrm>
            <a:off x="2952750" y="1790699"/>
            <a:ext cx="2952750" cy="1905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000">
                <a:solidFill>
                  <a:srgbClr val="082B6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173" name="score_breakdown.overall"/>
          <p:cNvSpPr txBox="1"/>
          <p:nvPr/>
        </p:nvSpPr>
        <p:spPr>
          <a:xfrm>
            <a:off x="2952750" y="1790698"/>
            <a:ext cx="2952750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082B6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score_breakdown.overall</a:t>
            </a:r>
          </a:p>
        </p:txBody>
      </p:sp>
      <p:sp>
        <p:nvSpPr>
          <p:cNvPr id="2174" name="矩形"/>
          <p:cNvSpPr/>
          <p:nvPr/>
        </p:nvSpPr>
        <p:spPr>
          <a:xfrm>
            <a:off x="6477000" y="1790699"/>
            <a:ext cx="3429000" cy="1905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2175" name="静态候选效用"/>
          <p:cNvSpPr txBox="1"/>
          <p:nvPr/>
        </p:nvSpPr>
        <p:spPr>
          <a:xfrm>
            <a:off x="6477000" y="1790698"/>
            <a:ext cx="342900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静态候选效用</a:t>
            </a:r>
          </a:p>
        </p:txBody>
      </p:sp>
      <p:sp>
        <p:nvSpPr>
          <p:cNvPr id="2176" name="矩形 993"/>
          <p:cNvSpPr/>
          <p:nvPr/>
        </p:nvSpPr>
        <p:spPr>
          <a:xfrm>
            <a:off x="1047750" y="2247900"/>
            <a:ext cx="9239250" cy="419100"/>
          </a:xfrm>
          <a:prstGeom prst="rect">
            <a:avLst/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2177" name="矩形"/>
          <p:cNvSpPr/>
          <p:nvPr/>
        </p:nvSpPr>
        <p:spPr>
          <a:xfrm>
            <a:off x="1285875" y="2343150"/>
            <a:ext cx="1143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2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178" name="G_post"/>
          <p:cNvSpPr txBox="1"/>
          <p:nvPr/>
        </p:nvSpPr>
        <p:spPr>
          <a:xfrm>
            <a:off x="1286526" y="2343150"/>
            <a:ext cx="329980" cy="186322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1400" i="1">
                          <a:solidFill>
                            <a:srgbClr val="0052A5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e>
                    <m:sub>
                      <m:r>
                        <a:rPr xmlns:a="http://schemas.openxmlformats.org/drawingml/2006/main" sz="1400" i="1">
                          <a:solidFill>
                            <a:srgbClr val="0052A5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xmlns:a="http://schemas.openxmlformats.org/drawingml/2006/main" sz="1400" i="1">
                          <a:solidFill>
                            <a:srgbClr val="0052A5"/>
                          </a:solidFill>
                          <a:latin typeface="Cambria Math" panose="02040503050406030204" pitchFamily="18" charset="0"/>
                        </a:rPr>
                        <m:t>𝑜</m:t>
                      </m:r>
                      <m:r>
                        <a:rPr xmlns:a="http://schemas.openxmlformats.org/drawingml/2006/main" sz="1400" i="1">
                          <a:solidFill>
                            <a:srgbClr val="0052A5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xmlns:a="http://schemas.openxmlformats.org/drawingml/2006/main" sz="1400" i="1">
                          <a:solidFill>
                            <a:srgbClr val="0052A5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</m:sub>
                  </m:sSub>
                </m:oMath>
              </m:oMathPara>
            </a14:m>
            <a:endParaRPr sz="1400">
              <a:solidFill>
                <a:srgbClr val="0052A5"/>
              </a:solidFill>
            </a:endParaRPr>
          </a:p>
        </p:txBody>
      </p:sp>
      <p:sp>
        <p:nvSpPr>
          <p:cNvPr id="2179" name="矩形"/>
          <p:cNvSpPr/>
          <p:nvPr/>
        </p:nvSpPr>
        <p:spPr>
          <a:xfrm>
            <a:off x="2952750" y="2343149"/>
            <a:ext cx="2952750" cy="1905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000">
                <a:solidFill>
                  <a:srgbClr val="082B6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180" name="posterior_objective"/>
          <p:cNvSpPr txBox="1"/>
          <p:nvPr/>
        </p:nvSpPr>
        <p:spPr>
          <a:xfrm>
            <a:off x="2952750" y="2343148"/>
            <a:ext cx="2952750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082B6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posterior_objective</a:t>
            </a:r>
          </a:p>
        </p:txBody>
      </p:sp>
      <p:sp>
        <p:nvSpPr>
          <p:cNvPr id="2181" name="矩形"/>
          <p:cNvSpPr/>
          <p:nvPr/>
        </p:nvSpPr>
        <p:spPr>
          <a:xfrm>
            <a:off x="6477000" y="2343149"/>
            <a:ext cx="3429000" cy="1905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2182" name="证据加权目标项"/>
          <p:cNvSpPr txBox="1"/>
          <p:nvPr/>
        </p:nvSpPr>
        <p:spPr>
          <a:xfrm>
            <a:off x="6477000" y="2343148"/>
            <a:ext cx="342900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证据加权目标项</a:t>
            </a:r>
          </a:p>
        </p:txBody>
      </p:sp>
      <p:sp>
        <p:nvSpPr>
          <p:cNvPr id="2183" name="矩形 997"/>
          <p:cNvSpPr/>
          <p:nvPr/>
        </p:nvSpPr>
        <p:spPr>
          <a:xfrm>
            <a:off x="1047750" y="2800350"/>
            <a:ext cx="9239250" cy="419100"/>
          </a:xfrm>
          <a:prstGeom prst="rect">
            <a:avLst/>
          </a:prstGeom>
          <a:solidFill>
            <a:srgbClr val="F5F9FE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2184" name="矩形"/>
          <p:cNvSpPr/>
          <p:nvPr/>
        </p:nvSpPr>
        <p:spPr>
          <a:xfrm>
            <a:off x="1285875" y="2895600"/>
            <a:ext cx="1143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2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185" name="x_t"/>
          <p:cNvSpPr txBox="1"/>
          <p:nvPr/>
        </p:nvSpPr>
        <p:spPr>
          <a:xfrm>
            <a:off x="1285875" y="2895600"/>
            <a:ext cx="122137" cy="123996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1400" i="1">
                          <a:solidFill>
                            <a:srgbClr val="0052A5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e>
                    <m:sub>
                      <m:r>
                        <a:rPr xmlns:a="http://schemas.openxmlformats.org/drawingml/2006/main" sz="1400" i="1">
                          <a:solidFill>
                            <a:srgbClr val="0052A5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</m:sub>
                  </m:sSub>
                </m:oMath>
              </m:oMathPara>
            </a14:m>
            <a:endParaRPr sz="1400">
              <a:solidFill>
                <a:srgbClr val="0052A5"/>
              </a:solidFill>
            </a:endParaRPr>
          </a:p>
        </p:txBody>
      </p:sp>
      <p:sp>
        <p:nvSpPr>
          <p:cNvPr id="2186" name="矩形"/>
          <p:cNvSpPr/>
          <p:nvPr/>
        </p:nvSpPr>
        <p:spPr>
          <a:xfrm>
            <a:off x="2952750" y="2895599"/>
            <a:ext cx="2952750" cy="1905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000">
                <a:solidFill>
                  <a:srgbClr val="082B6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187" name="RuntimeState"/>
          <p:cNvSpPr txBox="1"/>
          <p:nvPr/>
        </p:nvSpPr>
        <p:spPr>
          <a:xfrm>
            <a:off x="2952750" y="2895598"/>
            <a:ext cx="2952750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082B6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RuntimeState</a:t>
            </a:r>
          </a:p>
        </p:txBody>
      </p:sp>
      <p:sp>
        <p:nvSpPr>
          <p:cNvPr id="2188" name="矩形"/>
          <p:cNvSpPr/>
          <p:nvPr/>
        </p:nvSpPr>
        <p:spPr>
          <a:xfrm>
            <a:off x="6477000" y="2895599"/>
            <a:ext cx="3429000" cy="1905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2189" name="五维运行时状态"/>
          <p:cNvSpPr txBox="1"/>
          <p:nvPr/>
        </p:nvSpPr>
        <p:spPr>
          <a:xfrm>
            <a:off x="6477000" y="2895598"/>
            <a:ext cx="342900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五维运行时状态</a:t>
            </a:r>
          </a:p>
        </p:txBody>
      </p:sp>
      <p:sp>
        <p:nvSpPr>
          <p:cNvPr id="2190" name="矩形 1001"/>
          <p:cNvSpPr/>
          <p:nvPr/>
        </p:nvSpPr>
        <p:spPr>
          <a:xfrm>
            <a:off x="1047750" y="3352800"/>
            <a:ext cx="9239250" cy="419100"/>
          </a:xfrm>
          <a:prstGeom prst="rect">
            <a:avLst/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2191" name="矩形"/>
          <p:cNvSpPr/>
          <p:nvPr/>
        </p:nvSpPr>
        <p:spPr>
          <a:xfrm>
            <a:off x="1285875" y="3448050"/>
            <a:ext cx="1143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2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192" name="Delta"/>
          <p:cNvSpPr txBox="1"/>
          <p:nvPr/>
        </p:nvSpPr>
        <p:spPr>
          <a:xfrm>
            <a:off x="1288720" y="3448050"/>
            <a:ext cx="93523" cy="11859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1400" i="1">
                      <a:solidFill>
                        <a:srgbClr val="0052A5"/>
                      </a:solidFill>
                      <a:latin typeface="Cambria Math" panose="02040503050406030204" pitchFamily="18" charset="0"/>
                    </a:rPr>
                    <m:t>𝛥</m:t>
                  </m:r>
                </m:oMath>
              </m:oMathPara>
            </a14:m>
            <a:endParaRPr sz="1400">
              <a:solidFill>
                <a:srgbClr val="0052A5"/>
              </a:solidFill>
            </a:endParaRPr>
          </a:p>
        </p:txBody>
      </p:sp>
      <p:sp>
        <p:nvSpPr>
          <p:cNvPr id="2193" name="矩形"/>
          <p:cNvSpPr/>
          <p:nvPr/>
        </p:nvSpPr>
        <p:spPr>
          <a:xfrm>
            <a:off x="2952750" y="3448048"/>
            <a:ext cx="2952750" cy="1905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000">
                <a:solidFill>
                  <a:srgbClr val="082B6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194" name="runtime_adjustment"/>
          <p:cNvSpPr txBox="1"/>
          <p:nvPr/>
        </p:nvSpPr>
        <p:spPr>
          <a:xfrm>
            <a:off x="2952750" y="3448048"/>
            <a:ext cx="2952750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082B6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runtime_adjustment</a:t>
            </a:r>
          </a:p>
        </p:txBody>
      </p:sp>
      <p:sp>
        <p:nvSpPr>
          <p:cNvPr id="2195" name="矩形"/>
          <p:cNvSpPr/>
          <p:nvPr/>
        </p:nvSpPr>
        <p:spPr>
          <a:xfrm>
            <a:off x="6477000" y="3448048"/>
            <a:ext cx="3429000" cy="1905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2196" name="有界运行时修正"/>
          <p:cNvSpPr txBox="1"/>
          <p:nvPr/>
        </p:nvSpPr>
        <p:spPr>
          <a:xfrm>
            <a:off x="6477000" y="3448048"/>
            <a:ext cx="342900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有界运行时修正</a:t>
            </a:r>
          </a:p>
        </p:txBody>
      </p:sp>
      <p:sp>
        <p:nvSpPr>
          <p:cNvPr id="2197" name="矩形 1005"/>
          <p:cNvSpPr/>
          <p:nvPr/>
        </p:nvSpPr>
        <p:spPr>
          <a:xfrm>
            <a:off x="1047750" y="3905250"/>
            <a:ext cx="9239250" cy="419100"/>
          </a:xfrm>
          <a:prstGeom prst="rect">
            <a:avLst/>
          </a:prstGeom>
          <a:solidFill>
            <a:srgbClr val="F5F9FE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2198" name="矩形"/>
          <p:cNvSpPr/>
          <p:nvPr/>
        </p:nvSpPr>
        <p:spPr>
          <a:xfrm>
            <a:off x="1285875" y="4000500"/>
            <a:ext cx="1143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2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199" name="U_pi"/>
          <p:cNvSpPr txBox="1"/>
          <p:nvPr/>
        </p:nvSpPr>
        <p:spPr>
          <a:xfrm>
            <a:off x="1285875" y="4000500"/>
            <a:ext cx="179249" cy="162195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1400" i="1">
                          <a:solidFill>
                            <a:srgbClr val="0052A5"/>
                          </a:solidFill>
                          <a:latin typeface="Cambria Math" panose="02040503050406030204" pitchFamily="18" charset="0"/>
                        </a:rPr>
                        <m:t>𝑈</m:t>
                      </m:r>
                    </m:e>
                    <m:sub>
                      <m:r>
                        <a:rPr xmlns:a="http://schemas.openxmlformats.org/drawingml/2006/main" sz="1400" i="1">
                          <a:solidFill>
                            <a:srgbClr val="0052A5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</m:sub>
                  </m:sSub>
                </m:oMath>
              </m:oMathPara>
            </a14:m>
            <a:endParaRPr sz="1400">
              <a:solidFill>
                <a:srgbClr val="0052A5"/>
              </a:solidFill>
            </a:endParaRPr>
          </a:p>
        </p:txBody>
      </p:sp>
      <p:sp>
        <p:nvSpPr>
          <p:cNvPr id="2200" name="矩形"/>
          <p:cNvSpPr/>
          <p:nvPr/>
        </p:nvSpPr>
        <p:spPr>
          <a:xfrm>
            <a:off x="2952750" y="4000498"/>
            <a:ext cx="2952750" cy="1905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000">
                <a:solidFill>
                  <a:srgbClr val="082B6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201" name="final_score"/>
          <p:cNvSpPr txBox="1"/>
          <p:nvPr/>
        </p:nvSpPr>
        <p:spPr>
          <a:xfrm>
            <a:off x="2952750" y="4000498"/>
            <a:ext cx="2952750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082B6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final_score</a:t>
            </a:r>
          </a:p>
        </p:txBody>
      </p:sp>
      <p:sp>
        <p:nvSpPr>
          <p:cNvPr id="2202" name="矩形"/>
          <p:cNvSpPr/>
          <p:nvPr/>
        </p:nvSpPr>
        <p:spPr>
          <a:xfrm>
            <a:off x="6477000" y="4000498"/>
            <a:ext cx="3429000" cy="1905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2203" name="候选重排效用"/>
          <p:cNvSpPr txBox="1"/>
          <p:nvPr/>
        </p:nvSpPr>
        <p:spPr>
          <a:xfrm>
            <a:off x="6477000" y="4000498"/>
            <a:ext cx="342900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候选重排效用</a:t>
            </a:r>
          </a:p>
        </p:txBody>
      </p:sp>
      <p:sp>
        <p:nvSpPr>
          <p:cNvPr id="2204" name="矩形 1009"/>
          <p:cNvSpPr/>
          <p:nvPr/>
        </p:nvSpPr>
        <p:spPr>
          <a:xfrm>
            <a:off x="1047750" y="4457700"/>
            <a:ext cx="9239250" cy="419100"/>
          </a:xfrm>
          <a:prstGeom prst="rect">
            <a:avLst/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2205" name="矩形"/>
          <p:cNvSpPr/>
          <p:nvPr/>
        </p:nvSpPr>
        <p:spPr>
          <a:xfrm>
            <a:off x="1285875" y="4552950"/>
            <a:ext cx="1143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2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206" name="U_a"/>
          <p:cNvSpPr txBox="1"/>
          <p:nvPr/>
        </p:nvSpPr>
        <p:spPr>
          <a:xfrm>
            <a:off x="1285875" y="4552950"/>
            <a:ext cx="167130" cy="161816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1400" i="1">
                          <a:solidFill>
                            <a:srgbClr val="0052A5"/>
                          </a:solidFill>
                          <a:latin typeface="Cambria Math" panose="02040503050406030204" pitchFamily="18" charset="0"/>
                        </a:rPr>
                        <m:t>𝑈</m:t>
                      </m:r>
                    </m:e>
                    <m:sub>
                      <m:r>
                        <a:rPr xmlns:a="http://schemas.openxmlformats.org/drawingml/2006/main" sz="1400" i="1">
                          <a:solidFill>
                            <a:srgbClr val="0052A5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</m:sub>
                  </m:sSub>
                </m:oMath>
              </m:oMathPara>
            </a14:m>
            <a:endParaRPr sz="1400">
              <a:solidFill>
                <a:srgbClr val="0052A5"/>
              </a:solidFill>
            </a:endParaRPr>
          </a:p>
        </p:txBody>
      </p:sp>
      <p:sp>
        <p:nvSpPr>
          <p:cNvPr id="2207" name="矩形"/>
          <p:cNvSpPr/>
          <p:nvPr/>
        </p:nvSpPr>
        <p:spPr>
          <a:xfrm>
            <a:off x="2952750" y="4552948"/>
            <a:ext cx="2952750" cy="1905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000">
                <a:solidFill>
                  <a:srgbClr val="082B6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208" name="ActionUtility"/>
          <p:cNvSpPr txBox="1"/>
          <p:nvPr/>
        </p:nvSpPr>
        <p:spPr>
          <a:xfrm>
            <a:off x="2952750" y="4552948"/>
            <a:ext cx="2952750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082B6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ActionUtility</a:t>
            </a:r>
          </a:p>
        </p:txBody>
      </p:sp>
      <p:sp>
        <p:nvSpPr>
          <p:cNvPr id="2209" name="矩形"/>
          <p:cNvSpPr/>
          <p:nvPr/>
        </p:nvSpPr>
        <p:spPr>
          <a:xfrm>
            <a:off x="6477000" y="4552948"/>
            <a:ext cx="3429000" cy="1905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2210" name="恢复动作效用"/>
          <p:cNvSpPr txBox="1"/>
          <p:nvPr/>
        </p:nvSpPr>
        <p:spPr>
          <a:xfrm>
            <a:off x="6477000" y="4552948"/>
            <a:ext cx="342900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恢复动作效用</a:t>
            </a:r>
          </a:p>
        </p:txBody>
      </p:sp>
      <p:grpSp>
        <p:nvGrpSpPr>
          <p:cNvPr id="2213" name="矩形 2092"/>
          <p:cNvGrpSpPr/>
          <p:nvPr/>
        </p:nvGrpSpPr>
        <p:grpSpPr>
          <a:xfrm>
            <a:off x="11696700" y="6419850"/>
            <a:ext cx="323850" cy="266700"/>
            <a:chOff x="0" y="0"/>
            <a:chExt cx="323850" cy="266700"/>
          </a:xfrm>
        </p:grpSpPr>
        <p:sp>
          <p:nvSpPr>
            <p:cNvPr id="2211" name="矩形"/>
            <p:cNvSpPr/>
            <p:nvPr/>
          </p:nvSpPr>
          <p:spPr>
            <a:xfrm>
              <a:off x="0" y="0"/>
              <a:ext cx="3238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>
                <a:defRPr b="1" sz="1300">
                  <a:solidFill>
                    <a:srgbClr val="8A8A8A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2212" name="17"/>
            <p:cNvSpPr txBox="1"/>
            <p:nvPr/>
          </p:nvSpPr>
          <p:spPr>
            <a:xfrm>
              <a:off x="0" y="0"/>
              <a:ext cx="323850" cy="1850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300">
                  <a:solidFill>
                    <a:srgbClr val="8A8A8A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5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216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pic>
        <p:nvPicPr>
          <p:cNvPr id="2217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24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2218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19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20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21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22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23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24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25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26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27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28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29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30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31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32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33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34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35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36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37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38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39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40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41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42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43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44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45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46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47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48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49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50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51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52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53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54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55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56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57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58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59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60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61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62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63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64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65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66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67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68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69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70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71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72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73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74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75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76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77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78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79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80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81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82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83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84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85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86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287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63"/>
          </a:xfrm>
          <a:prstGeom prst="rect">
            <a:avLst/>
          </a:prstGeom>
          <a:ln w="12700">
            <a:miter lim="400000"/>
          </a:ln>
        </p:spPr>
      </p:pic>
      <p:sp>
        <p:nvSpPr>
          <p:cNvPr id="2288" name="矩形"/>
          <p:cNvSpPr/>
          <p:nvPr/>
        </p:nvSpPr>
        <p:spPr>
          <a:xfrm>
            <a:off x="1000125" y="200025"/>
            <a:ext cx="7239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 anchor="ctr"/>
          <a:lstStyle/>
          <a:p>
            <a:pPr>
              <a:defRPr b="1" sz="2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2289" name="备份：ProteinToolKG 如何约束工具链"/>
          <p:cNvSpPr txBox="1"/>
          <p:nvPr/>
        </p:nvSpPr>
        <p:spPr>
          <a:xfrm>
            <a:off x="1000125" y="238123"/>
            <a:ext cx="7239000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备份：ProteinToolKG 如何约束工具链</a:t>
            </a:r>
          </a:p>
        </p:txBody>
      </p:sp>
      <p:sp>
        <p:nvSpPr>
          <p:cNvPr id="2290" name="矩形"/>
          <p:cNvSpPr/>
          <p:nvPr/>
        </p:nvSpPr>
        <p:spPr>
          <a:xfrm>
            <a:off x="8667750" y="2286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 anchor="ctr"/>
          <a:lstStyle/>
          <a:p>
            <a:pPr algn="ctr">
              <a:defRPr b="1"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291" name="BACKUP"/>
          <p:cNvSpPr txBox="1"/>
          <p:nvPr/>
        </p:nvSpPr>
        <p:spPr>
          <a:xfrm>
            <a:off x="8667750" y="269871"/>
            <a:ext cx="142875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BACKUP</a:t>
            </a:r>
          </a:p>
        </p:txBody>
      </p:sp>
      <p:sp>
        <p:nvSpPr>
          <p:cNvPr id="2292" name="矩形 985"/>
          <p:cNvSpPr/>
          <p:nvPr/>
        </p:nvSpPr>
        <p:spPr>
          <a:xfrm>
            <a:off x="1562100" y="990600"/>
            <a:ext cx="9067800" cy="5257800"/>
          </a:xfrm>
          <a:prstGeom prst="rect">
            <a:avLst/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pic>
        <p:nvPicPr>
          <p:cNvPr id="2293" name="图片 986" descr="图片 986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577267" y="1000125"/>
            <a:ext cx="9037465" cy="5238750"/>
          </a:xfrm>
          <a:prstGeom prst="rect">
            <a:avLst/>
          </a:prstGeom>
          <a:ln w="12700">
            <a:miter lim="400000"/>
          </a:ln>
        </p:spPr>
      </p:pic>
      <p:sp>
        <p:nvSpPr>
          <p:cNvPr id="2294" name="矩形 987"/>
          <p:cNvSpPr/>
          <p:nvPr/>
        </p:nvSpPr>
        <p:spPr>
          <a:xfrm>
            <a:off x="1562100" y="990600"/>
            <a:ext cx="9067800" cy="5257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grpSp>
        <p:nvGrpSpPr>
          <p:cNvPr id="2297" name="矩形 2179"/>
          <p:cNvGrpSpPr/>
          <p:nvPr/>
        </p:nvGrpSpPr>
        <p:grpSpPr>
          <a:xfrm>
            <a:off x="11696700" y="6419850"/>
            <a:ext cx="323850" cy="266700"/>
            <a:chOff x="0" y="0"/>
            <a:chExt cx="323850" cy="266700"/>
          </a:xfrm>
        </p:grpSpPr>
        <p:sp>
          <p:nvSpPr>
            <p:cNvPr id="2295" name="矩形"/>
            <p:cNvSpPr/>
            <p:nvPr/>
          </p:nvSpPr>
          <p:spPr>
            <a:xfrm>
              <a:off x="0" y="0"/>
              <a:ext cx="3238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>
                <a:defRPr b="1" sz="1300">
                  <a:solidFill>
                    <a:srgbClr val="8A8A8A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2296" name="18"/>
            <p:cNvSpPr txBox="1"/>
            <p:nvPr/>
          </p:nvSpPr>
          <p:spPr>
            <a:xfrm>
              <a:off x="0" y="0"/>
              <a:ext cx="323850" cy="1850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300">
                  <a:solidFill>
                    <a:srgbClr val="8A8A8A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9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300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pic>
        <p:nvPicPr>
          <p:cNvPr id="2301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24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2302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03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04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05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06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07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08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09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10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11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12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13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14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15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16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17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18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19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20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21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22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23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24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25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26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27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28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29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30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31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32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33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34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35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36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37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38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39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40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41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42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43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44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45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46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47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48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49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50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51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52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53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54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55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56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57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58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59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60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61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62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63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64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65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66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67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68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69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70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371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63"/>
          </a:xfrm>
          <a:prstGeom prst="rect">
            <a:avLst/>
          </a:prstGeom>
          <a:ln w="12700">
            <a:miter lim="400000"/>
          </a:ln>
        </p:spPr>
      </p:pic>
      <p:sp>
        <p:nvSpPr>
          <p:cNvPr id="2372" name="矩形"/>
          <p:cNvSpPr/>
          <p:nvPr/>
        </p:nvSpPr>
        <p:spPr>
          <a:xfrm>
            <a:off x="1000125" y="200025"/>
            <a:ext cx="7239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 anchor="ctr"/>
          <a:lstStyle/>
          <a:p>
            <a:pPr>
              <a:defRPr b="1" sz="2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2373" name="备份：失败样本与恢复边界"/>
          <p:cNvSpPr txBox="1"/>
          <p:nvPr/>
        </p:nvSpPr>
        <p:spPr>
          <a:xfrm>
            <a:off x="1000125" y="238123"/>
            <a:ext cx="7239000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备份：失败样本与恢复边界</a:t>
            </a:r>
          </a:p>
        </p:txBody>
      </p:sp>
      <p:sp>
        <p:nvSpPr>
          <p:cNvPr id="2374" name="矩形"/>
          <p:cNvSpPr/>
          <p:nvPr/>
        </p:nvSpPr>
        <p:spPr>
          <a:xfrm>
            <a:off x="8667750" y="2286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 anchor="ctr"/>
          <a:lstStyle/>
          <a:p>
            <a:pPr algn="ctr">
              <a:defRPr b="1"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375" name="BACKUP"/>
          <p:cNvSpPr txBox="1"/>
          <p:nvPr/>
        </p:nvSpPr>
        <p:spPr>
          <a:xfrm>
            <a:off x="8667750" y="269871"/>
            <a:ext cx="142875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BACKUP</a:t>
            </a:r>
          </a:p>
        </p:txBody>
      </p:sp>
      <p:sp>
        <p:nvSpPr>
          <p:cNvPr id="2376" name="矩形 985"/>
          <p:cNvSpPr/>
          <p:nvPr/>
        </p:nvSpPr>
        <p:spPr>
          <a:xfrm>
            <a:off x="1847850" y="990600"/>
            <a:ext cx="8496300" cy="5257800"/>
          </a:xfrm>
          <a:prstGeom prst="rect">
            <a:avLst/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pic>
        <p:nvPicPr>
          <p:cNvPr id="2377" name="图片 986" descr="图片 986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858433" y="1000125"/>
            <a:ext cx="8475134" cy="5238750"/>
          </a:xfrm>
          <a:prstGeom prst="rect">
            <a:avLst/>
          </a:prstGeom>
          <a:ln w="12700">
            <a:miter lim="400000"/>
          </a:ln>
        </p:spPr>
      </p:pic>
      <p:sp>
        <p:nvSpPr>
          <p:cNvPr id="2378" name="矩形 987"/>
          <p:cNvSpPr/>
          <p:nvPr/>
        </p:nvSpPr>
        <p:spPr>
          <a:xfrm>
            <a:off x="1847850" y="990600"/>
            <a:ext cx="8496300" cy="5257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grpSp>
        <p:nvGrpSpPr>
          <p:cNvPr id="2381" name="矩形 2265"/>
          <p:cNvGrpSpPr/>
          <p:nvPr/>
        </p:nvGrpSpPr>
        <p:grpSpPr>
          <a:xfrm>
            <a:off x="11696700" y="6419850"/>
            <a:ext cx="323850" cy="266700"/>
            <a:chOff x="0" y="0"/>
            <a:chExt cx="323850" cy="266700"/>
          </a:xfrm>
        </p:grpSpPr>
        <p:sp>
          <p:nvSpPr>
            <p:cNvPr id="2379" name="矩形"/>
            <p:cNvSpPr/>
            <p:nvPr/>
          </p:nvSpPr>
          <p:spPr>
            <a:xfrm>
              <a:off x="0" y="0"/>
              <a:ext cx="3238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>
                <a:defRPr b="1" sz="1300">
                  <a:solidFill>
                    <a:srgbClr val="8A8A8A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2380" name="19"/>
            <p:cNvSpPr txBox="1"/>
            <p:nvPr/>
          </p:nvSpPr>
          <p:spPr>
            <a:xfrm>
              <a:off x="0" y="0"/>
              <a:ext cx="323850" cy="1850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300">
                  <a:solidFill>
                    <a:srgbClr val="8A8A8A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3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384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pic>
        <p:nvPicPr>
          <p:cNvPr id="2385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24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2386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87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88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89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90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91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92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93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94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95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96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97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98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99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00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01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02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03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04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05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06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07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08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09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10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11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12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13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14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15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16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17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18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19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20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21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22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23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24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25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26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27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28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29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30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31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32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33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34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35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36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37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38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39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40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41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42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43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44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45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46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47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48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49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50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51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52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53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54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455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63"/>
          </a:xfrm>
          <a:prstGeom prst="rect">
            <a:avLst/>
          </a:prstGeom>
          <a:ln w="12700">
            <a:miter lim="400000"/>
          </a:ln>
        </p:spPr>
      </p:pic>
      <p:sp>
        <p:nvSpPr>
          <p:cNvPr id="2456" name="矩形"/>
          <p:cNvSpPr/>
          <p:nvPr/>
        </p:nvSpPr>
        <p:spPr>
          <a:xfrm>
            <a:off x="1000125" y="200025"/>
            <a:ext cx="7239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 anchor="ctr"/>
          <a:lstStyle/>
          <a:p>
            <a:pPr>
              <a:defRPr b="1" sz="2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2457" name="备份：测试证据索引"/>
          <p:cNvSpPr txBox="1"/>
          <p:nvPr/>
        </p:nvSpPr>
        <p:spPr>
          <a:xfrm>
            <a:off x="1000125" y="238123"/>
            <a:ext cx="7239000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200">
                <a:solidFill>
                  <a:srgbClr val="0052A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备份：测试证据索引</a:t>
            </a:r>
          </a:p>
        </p:txBody>
      </p:sp>
      <p:sp>
        <p:nvSpPr>
          <p:cNvPr id="2458" name="矩形"/>
          <p:cNvSpPr/>
          <p:nvPr/>
        </p:nvSpPr>
        <p:spPr>
          <a:xfrm>
            <a:off x="8667750" y="2286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 anchor="ctr"/>
          <a:lstStyle/>
          <a:p>
            <a:pPr algn="ctr">
              <a:defRPr b="1"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459" name="BACKUP"/>
          <p:cNvSpPr txBox="1"/>
          <p:nvPr/>
        </p:nvSpPr>
        <p:spPr>
          <a:xfrm>
            <a:off x="8667750" y="269871"/>
            <a:ext cx="142875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BACKUP</a:t>
            </a:r>
          </a:p>
        </p:txBody>
      </p:sp>
      <p:sp>
        <p:nvSpPr>
          <p:cNvPr id="2460" name="矩形 985"/>
          <p:cNvSpPr/>
          <p:nvPr/>
        </p:nvSpPr>
        <p:spPr>
          <a:xfrm>
            <a:off x="876300" y="1190625"/>
            <a:ext cx="9858375" cy="552450"/>
          </a:xfrm>
          <a:prstGeom prst="rect">
            <a:avLst/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2461" name="矩形"/>
          <p:cNvSpPr/>
          <p:nvPr/>
        </p:nvSpPr>
        <p:spPr>
          <a:xfrm>
            <a:off x="1143000" y="1343025"/>
            <a:ext cx="1333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2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462" name="EVD-API"/>
          <p:cNvSpPr txBox="1"/>
          <p:nvPr/>
        </p:nvSpPr>
        <p:spPr>
          <a:xfrm>
            <a:off x="1143000" y="1343025"/>
            <a:ext cx="1333500" cy="1728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2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EVD-API</a:t>
            </a:r>
          </a:p>
        </p:txBody>
      </p:sp>
      <p:sp>
        <p:nvSpPr>
          <p:cNvPr id="2463" name="矩形"/>
          <p:cNvSpPr/>
          <p:nvPr/>
        </p:nvSpPr>
        <p:spPr>
          <a:xfrm>
            <a:off x="2857500" y="1343024"/>
            <a:ext cx="762000" cy="2095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100">
                <a:solidFill>
                  <a:srgbClr val="082B6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2464" name="8 项"/>
          <p:cNvSpPr txBox="1"/>
          <p:nvPr/>
        </p:nvSpPr>
        <p:spPr>
          <a:xfrm>
            <a:off x="2857500" y="1343021"/>
            <a:ext cx="762000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100">
                <a:solidFill>
                  <a:srgbClr val="082B6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8 项</a:t>
            </a:r>
          </a:p>
        </p:txBody>
      </p:sp>
      <p:sp>
        <p:nvSpPr>
          <p:cNvPr id="2465" name="矩形"/>
          <p:cNvSpPr/>
          <p:nvPr/>
        </p:nvSpPr>
        <p:spPr>
          <a:xfrm>
            <a:off x="4095750" y="1343024"/>
            <a:ext cx="6191250" cy="2095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2466" name="健康检查、readiness、任务详情、事件、报告、pending action"/>
          <p:cNvSpPr txBox="1"/>
          <p:nvPr/>
        </p:nvSpPr>
        <p:spPr>
          <a:xfrm>
            <a:off x="4095750" y="1343021"/>
            <a:ext cx="619125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健康检查、readiness、任务详情、事件、报告、pending action</a:t>
            </a:r>
          </a:p>
        </p:txBody>
      </p:sp>
      <p:sp>
        <p:nvSpPr>
          <p:cNvPr id="2467" name="矩形 989"/>
          <p:cNvSpPr/>
          <p:nvPr/>
        </p:nvSpPr>
        <p:spPr>
          <a:xfrm>
            <a:off x="876300" y="1933575"/>
            <a:ext cx="9858375" cy="552450"/>
          </a:xfrm>
          <a:prstGeom prst="rect">
            <a:avLst/>
          </a:prstGeom>
          <a:solidFill>
            <a:srgbClr val="F5F9FE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2468" name="矩形"/>
          <p:cNvSpPr/>
          <p:nvPr/>
        </p:nvSpPr>
        <p:spPr>
          <a:xfrm>
            <a:off x="1143000" y="2085975"/>
            <a:ext cx="1333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2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469" name="EVD-TEST"/>
          <p:cNvSpPr txBox="1"/>
          <p:nvPr/>
        </p:nvSpPr>
        <p:spPr>
          <a:xfrm>
            <a:off x="1143000" y="2085975"/>
            <a:ext cx="1333500" cy="1728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2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EVD-TEST</a:t>
            </a:r>
          </a:p>
        </p:txBody>
      </p:sp>
      <p:sp>
        <p:nvSpPr>
          <p:cNvPr id="2470" name="矩形"/>
          <p:cNvSpPr/>
          <p:nvPr/>
        </p:nvSpPr>
        <p:spPr>
          <a:xfrm>
            <a:off x="2857500" y="2085974"/>
            <a:ext cx="762000" cy="2095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100">
                <a:solidFill>
                  <a:srgbClr val="082B6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2471" name="4 组"/>
          <p:cNvSpPr txBox="1"/>
          <p:nvPr/>
        </p:nvSpPr>
        <p:spPr>
          <a:xfrm>
            <a:off x="2857500" y="2085973"/>
            <a:ext cx="762000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100">
                <a:solidFill>
                  <a:srgbClr val="082B6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4 组</a:t>
            </a:r>
          </a:p>
        </p:txBody>
      </p:sp>
      <p:sp>
        <p:nvSpPr>
          <p:cNvPr id="2472" name="矩形"/>
          <p:cNvSpPr/>
          <p:nvPr/>
        </p:nvSpPr>
        <p:spPr>
          <a:xfrm>
            <a:off x="4095750" y="2085974"/>
            <a:ext cx="6191250" cy="2095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2473" name="API/Web、FSM/HITL/快照、安全恢复工具、CLI 日志"/>
          <p:cNvSpPr txBox="1"/>
          <p:nvPr/>
        </p:nvSpPr>
        <p:spPr>
          <a:xfrm>
            <a:off x="4095750" y="2085973"/>
            <a:ext cx="619125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API/Web、FSM/HITL/快照、安全恢复工具、CLI 日志</a:t>
            </a:r>
          </a:p>
        </p:txBody>
      </p:sp>
      <p:sp>
        <p:nvSpPr>
          <p:cNvPr id="2474" name="矩形 993"/>
          <p:cNvSpPr/>
          <p:nvPr/>
        </p:nvSpPr>
        <p:spPr>
          <a:xfrm>
            <a:off x="876300" y="2676525"/>
            <a:ext cx="9858375" cy="552450"/>
          </a:xfrm>
          <a:prstGeom prst="rect">
            <a:avLst/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2475" name="矩形"/>
          <p:cNvSpPr/>
          <p:nvPr/>
        </p:nvSpPr>
        <p:spPr>
          <a:xfrm>
            <a:off x="1143000" y="2828925"/>
            <a:ext cx="1333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2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476" name="FIG-SV"/>
          <p:cNvSpPr txBox="1"/>
          <p:nvPr/>
        </p:nvSpPr>
        <p:spPr>
          <a:xfrm>
            <a:off x="1143000" y="2828925"/>
            <a:ext cx="1333500" cy="1728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2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FIG-SV</a:t>
            </a:r>
          </a:p>
        </p:txBody>
      </p:sp>
      <p:sp>
        <p:nvSpPr>
          <p:cNvPr id="2477" name="矩形"/>
          <p:cNvSpPr/>
          <p:nvPr/>
        </p:nvSpPr>
        <p:spPr>
          <a:xfrm>
            <a:off x="2857500" y="2828924"/>
            <a:ext cx="762000" cy="2095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100">
                <a:solidFill>
                  <a:srgbClr val="082B6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2478" name="18 张"/>
          <p:cNvSpPr txBox="1"/>
          <p:nvPr/>
        </p:nvSpPr>
        <p:spPr>
          <a:xfrm>
            <a:off x="2857500" y="2828923"/>
            <a:ext cx="762000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100">
                <a:solidFill>
                  <a:srgbClr val="082B6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18 张</a:t>
            </a:r>
          </a:p>
        </p:txBody>
      </p:sp>
      <p:sp>
        <p:nvSpPr>
          <p:cNvPr id="2479" name="矩形"/>
          <p:cNvSpPr/>
          <p:nvPr/>
        </p:nvSpPr>
        <p:spPr>
          <a:xfrm>
            <a:off x="4095750" y="2828924"/>
            <a:ext cx="6191250" cy="2095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2480" name="Dashboard、Task Builder、Task Detail、Timeline 截图"/>
          <p:cNvSpPr txBox="1"/>
          <p:nvPr/>
        </p:nvSpPr>
        <p:spPr>
          <a:xfrm>
            <a:off x="4095750" y="2828923"/>
            <a:ext cx="619125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Dashboard、Task Builder、Task Detail、Timeline 截图</a:t>
            </a:r>
          </a:p>
        </p:txBody>
      </p:sp>
      <p:sp>
        <p:nvSpPr>
          <p:cNvPr id="2481" name="矩形 997"/>
          <p:cNvSpPr/>
          <p:nvPr/>
        </p:nvSpPr>
        <p:spPr>
          <a:xfrm>
            <a:off x="876300" y="3419475"/>
            <a:ext cx="9858375" cy="552450"/>
          </a:xfrm>
          <a:prstGeom prst="rect">
            <a:avLst/>
          </a:prstGeom>
          <a:solidFill>
            <a:srgbClr val="F5F9FE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2482" name="矩形"/>
          <p:cNvSpPr/>
          <p:nvPr/>
        </p:nvSpPr>
        <p:spPr>
          <a:xfrm>
            <a:off x="1143000" y="3571875"/>
            <a:ext cx="1333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2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483" name="EVD-LOG"/>
          <p:cNvSpPr txBox="1"/>
          <p:nvPr/>
        </p:nvSpPr>
        <p:spPr>
          <a:xfrm>
            <a:off x="1143000" y="3571875"/>
            <a:ext cx="1333500" cy="1728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2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EVD-LOG</a:t>
            </a:r>
          </a:p>
        </p:txBody>
      </p:sp>
      <p:sp>
        <p:nvSpPr>
          <p:cNvPr id="2484" name="矩形"/>
          <p:cNvSpPr/>
          <p:nvPr/>
        </p:nvSpPr>
        <p:spPr>
          <a:xfrm>
            <a:off x="2857500" y="3571873"/>
            <a:ext cx="762000" cy="2095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100">
                <a:solidFill>
                  <a:srgbClr val="082B6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2485" name="8 组"/>
          <p:cNvSpPr txBox="1"/>
          <p:nvPr/>
        </p:nvSpPr>
        <p:spPr>
          <a:xfrm>
            <a:off x="2857500" y="3571873"/>
            <a:ext cx="762000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100">
                <a:solidFill>
                  <a:srgbClr val="082B6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8 组</a:t>
            </a:r>
          </a:p>
        </p:txBody>
      </p:sp>
      <p:sp>
        <p:nvSpPr>
          <p:cNvPr id="2486" name="矩形"/>
          <p:cNvSpPr/>
          <p:nvPr/>
        </p:nvSpPr>
        <p:spPr>
          <a:xfrm>
            <a:off x="4095750" y="3571873"/>
            <a:ext cx="6191250" cy="2095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2487" name="EventLog、Snapshot、Report、terminal_stop 与等待态样本"/>
          <p:cNvSpPr txBox="1"/>
          <p:nvPr/>
        </p:nvSpPr>
        <p:spPr>
          <a:xfrm>
            <a:off x="4095750" y="3571873"/>
            <a:ext cx="619125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EventLog、Snapshot、Report、terminal_stop 与等待态样本</a:t>
            </a:r>
          </a:p>
        </p:txBody>
      </p:sp>
      <p:sp>
        <p:nvSpPr>
          <p:cNvPr id="2488" name="矩形 1001"/>
          <p:cNvSpPr/>
          <p:nvPr/>
        </p:nvSpPr>
        <p:spPr>
          <a:xfrm>
            <a:off x="876300" y="4162425"/>
            <a:ext cx="9858375" cy="552450"/>
          </a:xfrm>
          <a:prstGeom prst="rect">
            <a:avLst/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45719" rIns="45719"/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2489" name="矩形"/>
          <p:cNvSpPr/>
          <p:nvPr/>
        </p:nvSpPr>
        <p:spPr>
          <a:xfrm>
            <a:off x="1143000" y="4314825"/>
            <a:ext cx="1333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2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490" name="EVD-EXP"/>
          <p:cNvSpPr txBox="1"/>
          <p:nvPr/>
        </p:nvSpPr>
        <p:spPr>
          <a:xfrm>
            <a:off x="1143000" y="4314825"/>
            <a:ext cx="1333500" cy="1728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200">
                <a:solidFill>
                  <a:srgbClr val="0052A5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EVD-EXP</a:t>
            </a:r>
          </a:p>
        </p:txBody>
      </p:sp>
      <p:sp>
        <p:nvSpPr>
          <p:cNvPr id="2491" name="矩形"/>
          <p:cNvSpPr/>
          <p:nvPr/>
        </p:nvSpPr>
        <p:spPr>
          <a:xfrm>
            <a:off x="2857500" y="4314823"/>
            <a:ext cx="762000" cy="2095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b="1" sz="1100">
                <a:solidFill>
                  <a:srgbClr val="082B6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2492" name="4 项"/>
          <p:cNvSpPr txBox="1"/>
          <p:nvPr/>
        </p:nvSpPr>
        <p:spPr>
          <a:xfrm>
            <a:off x="2857500" y="4314823"/>
            <a:ext cx="762000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100">
                <a:solidFill>
                  <a:srgbClr val="082B6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4 项</a:t>
            </a:r>
          </a:p>
        </p:txBody>
      </p:sp>
      <p:sp>
        <p:nvSpPr>
          <p:cNvPr id="2493" name="矩形"/>
          <p:cNvSpPr/>
          <p:nvPr/>
        </p:nvSpPr>
        <p:spPr>
          <a:xfrm>
            <a:off x="4095750" y="4314823"/>
            <a:ext cx="6191250" cy="2095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2494" name="smoke / clean run 与 84-run 实验矩阵聚合产物"/>
          <p:cNvSpPr txBox="1"/>
          <p:nvPr/>
        </p:nvSpPr>
        <p:spPr>
          <a:xfrm>
            <a:off x="4095750" y="4314823"/>
            <a:ext cx="619125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smoke / clean run 与 84-run 实验矩阵聚合产物</a:t>
            </a:r>
          </a:p>
        </p:txBody>
      </p:sp>
      <p:sp>
        <p:nvSpPr>
          <p:cNvPr id="2495" name="矩形"/>
          <p:cNvSpPr/>
          <p:nvPr/>
        </p:nvSpPr>
        <p:spPr>
          <a:xfrm>
            <a:off x="2381250" y="5238748"/>
            <a:ext cx="7429500" cy="2857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1400">
                <a:solidFill>
                  <a:srgbClr val="082B6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2496" name="证据链覆盖测试充分性与可追溯性两个追问点"/>
          <p:cNvSpPr txBox="1"/>
          <p:nvPr/>
        </p:nvSpPr>
        <p:spPr>
          <a:xfrm>
            <a:off x="2381250" y="5238748"/>
            <a:ext cx="7429500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400">
                <a:solidFill>
                  <a:srgbClr val="082B6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证据链覆盖测试充分性与可追溯性两个追问点</a:t>
            </a:r>
          </a:p>
        </p:txBody>
      </p:sp>
      <p:grpSp>
        <p:nvGrpSpPr>
          <p:cNvPr id="2499" name="矩形 2384"/>
          <p:cNvGrpSpPr/>
          <p:nvPr/>
        </p:nvGrpSpPr>
        <p:grpSpPr>
          <a:xfrm>
            <a:off x="11696700" y="6419850"/>
            <a:ext cx="323850" cy="266700"/>
            <a:chOff x="0" y="0"/>
            <a:chExt cx="323850" cy="266700"/>
          </a:xfrm>
        </p:grpSpPr>
        <p:sp>
          <p:nvSpPr>
            <p:cNvPr id="2497" name="矩形"/>
            <p:cNvSpPr/>
            <p:nvPr/>
          </p:nvSpPr>
          <p:spPr>
            <a:xfrm>
              <a:off x="0" y="0"/>
              <a:ext cx="3238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>
                <a:defRPr b="1" sz="1300">
                  <a:solidFill>
                    <a:srgbClr val="8A8A8A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2498" name="20"/>
            <p:cNvSpPr txBox="1"/>
            <p:nvPr/>
          </p:nvSpPr>
          <p:spPr>
            <a:xfrm>
              <a:off x="0" y="0"/>
              <a:ext cx="323850" cy="1850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300">
                  <a:solidFill>
                    <a:srgbClr val="8A8A8A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1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92A5E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02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83B82"/>
              </a:gs>
              <a:gs pos="58000">
                <a:srgbClr val="0869B8"/>
              </a:gs>
              <a:gs pos="100000">
                <a:srgbClr val="0B8ED6"/>
              </a:gs>
            </a:gsLst>
            <a:lin ang="8100000"/>
          </a:gra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03" name="矩形"/>
          <p:cNvSpPr/>
          <p:nvPr/>
        </p:nvSpPr>
        <p:spPr>
          <a:xfrm>
            <a:off x="0" y="3524250"/>
            <a:ext cx="2190750" cy="3333750"/>
          </a:xfrm>
          <a:prstGeom prst="rect">
            <a:avLst/>
          </a:prstGeom>
          <a:solidFill>
            <a:srgbClr val="063B82">
              <a:alpha val="8000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504" name="image.jpeg" descr="image.jpeg"/>
          <p:cNvPicPr>
            <a:picLocks noChangeAspect="1"/>
          </p:cNvPicPr>
          <p:nvPr/>
        </p:nvPicPr>
        <p:blipFill>
          <a:blip r:embed="rId2">
            <a:extLst/>
          </a:blip>
          <a:srcRect l="23864" t="0" r="23864" b="0"/>
          <a:stretch>
            <a:fillRect/>
          </a:stretch>
        </p:blipFill>
        <p:spPr>
          <a:xfrm>
            <a:off x="-5" y="3714750"/>
            <a:ext cx="2190758" cy="3143250"/>
          </a:xfrm>
          <a:prstGeom prst="rect">
            <a:avLst/>
          </a:prstGeom>
          <a:ln w="12700">
            <a:miter lim="400000"/>
          </a:ln>
        </p:spPr>
      </p:pic>
      <p:sp>
        <p:nvSpPr>
          <p:cNvPr id="2505" name="矩形"/>
          <p:cNvSpPr/>
          <p:nvPr/>
        </p:nvSpPr>
        <p:spPr>
          <a:xfrm>
            <a:off x="0" y="3524250"/>
            <a:ext cx="2190750" cy="3333750"/>
          </a:xfrm>
          <a:prstGeom prst="rect">
            <a:avLst/>
          </a:prstGeom>
          <a:solidFill>
            <a:srgbClr val="063B82">
              <a:alpha val="8000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506" name="image2.png" descr="image2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08979" y="457200"/>
            <a:ext cx="2428877" cy="681791"/>
          </a:xfrm>
          <a:prstGeom prst="rect">
            <a:avLst/>
          </a:prstGeom>
          <a:ln w="12700">
            <a:miter lim="400000"/>
          </a:ln>
        </p:spPr>
      </p:pic>
      <p:sp>
        <p:nvSpPr>
          <p:cNvPr id="2507" name="矩形"/>
          <p:cNvSpPr/>
          <p:nvPr/>
        </p:nvSpPr>
        <p:spPr>
          <a:xfrm>
            <a:off x="3476625" y="2400299"/>
            <a:ext cx="2476500" cy="74295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37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</a:p>
        </p:txBody>
      </p:sp>
      <p:sp>
        <p:nvSpPr>
          <p:cNvPr id="2508" name="谢谢"/>
          <p:cNvSpPr txBox="1"/>
          <p:nvPr/>
        </p:nvSpPr>
        <p:spPr>
          <a:xfrm>
            <a:off x="3476625" y="2400298"/>
            <a:ext cx="2476500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37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谢谢</a:t>
            </a:r>
          </a:p>
        </p:txBody>
      </p:sp>
      <p:sp>
        <p:nvSpPr>
          <p:cNvPr id="2509" name="矩形"/>
          <p:cNvSpPr/>
          <p:nvPr/>
        </p:nvSpPr>
        <p:spPr>
          <a:xfrm>
            <a:off x="3124200" y="3600448"/>
            <a:ext cx="3238500" cy="74295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45719" rIns="45719"/>
          <a:lstStyle/>
          <a:p>
            <a:pPr algn="ctr">
              <a:defRPr b="1" sz="4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510" name="Thanks"/>
          <p:cNvSpPr txBox="1"/>
          <p:nvPr/>
        </p:nvSpPr>
        <p:spPr>
          <a:xfrm>
            <a:off x="3124200" y="3600448"/>
            <a:ext cx="3238500" cy="554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4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Thanks</a:t>
            </a:r>
          </a:p>
        </p:txBody>
      </p:sp>
      <p:pic>
        <p:nvPicPr>
          <p:cNvPr id="2511" name="Picture 11" descr="Picture 11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 rot="21439852">
            <a:off x="7190230" y="376260"/>
            <a:ext cx="5433098" cy="6574571"/>
          </a:xfrm>
          <a:prstGeom prst="rect">
            <a:avLst/>
          </a:prstGeom>
          <a:ln w="12700">
            <a:miter lim="400000"/>
          </a:ln>
        </p:spPr>
      </p:pic>
      <p:pic>
        <p:nvPicPr>
          <p:cNvPr id="2512" name="Picture 18" descr="Picture 18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 rot="21416039">
            <a:off x="7030632" y="406042"/>
            <a:ext cx="5601483" cy="650199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ChatGPT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ChatGPT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