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7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8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3.png"/><Relationship Id="rId6" Type="http://schemas.openxmlformats.org/officeDocument/2006/relationships/image" Target="../media/image19.png"/><Relationship Id="rId7" Type="http://schemas.openxmlformats.org/officeDocument/2006/relationships/image" Target="../media/image14.png"/><Relationship Id="rId8" Type="http://schemas.openxmlformats.org/officeDocument/2006/relationships/image" Target="../media/image1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6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" name="椭圆形"/>
          <p:cNvSpPr/>
          <p:nvPr/>
        </p:nvSpPr>
        <p:spPr>
          <a:xfrm>
            <a:off x="171450" y="4476750"/>
            <a:ext cx="2476500" cy="2095500"/>
          </a:xfrm>
          <a:prstGeom prst="ellipse">
            <a:avLst/>
          </a:prstGeom>
          <a:solidFill>
            <a:srgbClr val="FFFFFF">
              <a:alpha val="7058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" name="矩形"/>
          <p:cNvSpPr/>
          <p:nvPr/>
        </p:nvSpPr>
        <p:spPr>
          <a:xfrm>
            <a:off x="6381750" y="0"/>
            <a:ext cx="5810250" cy="6858000"/>
          </a:xfrm>
          <a:prstGeom prst="rect">
            <a:avLst/>
          </a:prstGeom>
          <a:solidFill>
            <a:srgbClr val="FFFFFF">
              <a:alpha val="4314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" name="矩形"/>
          <p:cNvSpPr/>
          <p:nvPr/>
        </p:nvSpPr>
        <p:spPr>
          <a:xfrm>
            <a:off x="571500" y="3429000"/>
            <a:ext cx="2476500" cy="266700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" name="image2.png" descr="image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9600" y="459205"/>
            <a:ext cx="2428875" cy="68179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" name="成组"/>
          <p:cNvGrpSpPr/>
          <p:nvPr/>
        </p:nvGrpSpPr>
        <p:grpSpPr>
          <a:xfrm>
            <a:off x="704850" y="1952624"/>
            <a:ext cx="5810250" cy="1219201"/>
            <a:chOff x="0" y="0"/>
            <a:chExt cx="5810250" cy="1219200"/>
          </a:xfrm>
        </p:grpSpPr>
        <p:sp>
          <p:nvSpPr>
            <p:cNvPr id="26" name="矩形"/>
            <p:cNvSpPr/>
            <p:nvPr/>
          </p:nvSpPr>
          <p:spPr>
            <a:xfrm>
              <a:off x="0" y="0"/>
              <a:ext cx="5810250" cy="12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" name="基于大模型驱动的 Agent 协作…"/>
            <p:cNvSpPr txBox="1"/>
            <p:nvPr/>
          </p:nvSpPr>
          <p:spPr>
            <a:xfrm>
              <a:off x="0" y="-1"/>
              <a:ext cx="5810250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基于大模型驱动的 Agent 协作</a:t>
              </a:r>
            </a:p>
            <a:p>
              <a:pPr>
                <a:defRPr b="1" sz="30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新一代蛋白质设计系统开发</a:t>
              </a:r>
            </a:p>
          </p:txBody>
        </p:sp>
      </p:grpSp>
      <p:sp>
        <p:nvSpPr>
          <p:cNvPr id="29" name="矩形"/>
          <p:cNvSpPr/>
          <p:nvPr/>
        </p:nvSpPr>
        <p:spPr>
          <a:xfrm>
            <a:off x="742950" y="3381375"/>
            <a:ext cx="1428750" cy="4762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2" name="成组"/>
          <p:cNvGrpSpPr/>
          <p:nvPr/>
        </p:nvGrpSpPr>
        <p:grpSpPr>
          <a:xfrm>
            <a:off x="723900" y="3619499"/>
            <a:ext cx="3810000" cy="304801"/>
            <a:chOff x="0" y="0"/>
            <a:chExt cx="3810000" cy="304800"/>
          </a:xfrm>
        </p:grpSpPr>
        <p:sp>
          <p:nvSpPr>
            <p:cNvPr id="30" name="矩形"/>
            <p:cNvSpPr/>
            <p:nvPr/>
          </p:nvSpPr>
          <p:spPr>
            <a:xfrm>
              <a:off x="0" y="0"/>
              <a:ext cx="3810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D9EC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1" name="毕业设计答辩 | 软件工程"/>
            <p:cNvSpPr txBox="1"/>
            <p:nvPr/>
          </p:nvSpPr>
          <p:spPr>
            <a:xfrm>
              <a:off x="0" y="-1"/>
              <a:ext cx="3810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D9EC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毕业设计答辩 | 软件工程</a:t>
              </a:r>
            </a:p>
          </p:txBody>
        </p:sp>
      </p:grpSp>
      <p:grpSp>
        <p:nvGrpSpPr>
          <p:cNvPr id="35" name="成组"/>
          <p:cNvGrpSpPr/>
          <p:nvPr/>
        </p:nvGrpSpPr>
        <p:grpSpPr>
          <a:xfrm>
            <a:off x="723900" y="4476749"/>
            <a:ext cx="4095750" cy="1104901"/>
            <a:chOff x="0" y="0"/>
            <a:chExt cx="4095750" cy="1104900"/>
          </a:xfrm>
        </p:grpSpPr>
        <p:sp>
          <p:nvSpPr>
            <p:cNvPr id="33" name="矩形"/>
            <p:cNvSpPr/>
            <p:nvPr/>
          </p:nvSpPr>
          <p:spPr>
            <a:xfrm>
              <a:off x="0" y="0"/>
              <a:ext cx="40957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" name="郑彦文  2022112879…"/>
            <p:cNvSpPr txBox="1"/>
            <p:nvPr/>
          </p:nvSpPr>
          <p:spPr>
            <a:xfrm>
              <a:off x="0" y="-1"/>
              <a:ext cx="4095750" cy="1016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郑彦文  2022112879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指导教师：陈源龙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哈尔滨工业大学 计算学部</a:t>
              </a:r>
            </a:p>
            <a:p>
              <a:pPr>
                <a:defRPr sz="1400">
                  <a:solidFill>
                    <a:srgbClr val="FFFFFF">
                      <a:alpha val="90196"/>
                    </a:srgbClr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2026年5月26日</a:t>
              </a:r>
            </a:p>
          </p:txBody>
        </p:sp>
      </p:grpSp>
      <p:sp>
        <p:nvSpPr>
          <p:cNvPr id="3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FFFFFF">
              <a:alpha val="66667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3" name="image3.png" descr="image3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6" name="成组"/>
          <p:cNvGrpSpPr/>
          <p:nvPr/>
        </p:nvGrpSpPr>
        <p:grpSpPr>
          <a:xfrm>
            <a:off x="6863921" y="260079"/>
            <a:ext cx="5950336" cy="6819903"/>
            <a:chOff x="0" y="0"/>
            <a:chExt cx="5950334" cy="6819901"/>
          </a:xfrm>
        </p:grpSpPr>
        <p:pic>
          <p:nvPicPr>
            <p:cNvPr id="104" name="Picture 11" descr="Picture 11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 rot="21439852">
              <a:off x="367545" y="122928"/>
              <a:ext cx="5432666" cy="657404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05" name="Picture 18" descr="Picture 18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 rot="21416039">
              <a:off x="169861" y="152710"/>
              <a:ext cx="5601037" cy="650147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2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10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1" name="目录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目录</a:t>
              </a:r>
            </a:p>
          </p:txBody>
        </p:sp>
      </p:grpSp>
      <p:grpSp>
        <p:nvGrpSpPr>
          <p:cNvPr id="115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13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4" name="AGENDA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AGENDA</a:t>
              </a:r>
            </a:p>
          </p:txBody>
        </p:sp>
      </p:grpSp>
      <p:pic>
        <p:nvPicPr>
          <p:cNvPr id="116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9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7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8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86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9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87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" name="2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0" name="矩形"/>
          <p:cNvSpPr/>
          <p:nvPr/>
        </p:nvSpPr>
        <p:spPr>
          <a:xfrm>
            <a:off x="838200" y="12763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1" name="矩形"/>
          <p:cNvSpPr/>
          <p:nvPr/>
        </p:nvSpPr>
        <p:spPr>
          <a:xfrm>
            <a:off x="838200" y="1276350"/>
            <a:ext cx="57150" cy="5905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4" name="成组"/>
          <p:cNvGrpSpPr/>
          <p:nvPr/>
        </p:nvGrpSpPr>
        <p:grpSpPr>
          <a:xfrm>
            <a:off x="1104900" y="1428749"/>
            <a:ext cx="609600" cy="266701"/>
            <a:chOff x="0" y="0"/>
            <a:chExt cx="609600" cy="266700"/>
          </a:xfrm>
        </p:grpSpPr>
        <p:sp>
          <p:nvSpPr>
            <p:cNvPr id="192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3" name="01"/>
            <p:cNvSpPr txBox="1"/>
            <p:nvPr/>
          </p:nvSpPr>
          <p:spPr>
            <a:xfrm>
              <a:off x="0" y="-1"/>
              <a:ext cx="6096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197" name="成组"/>
          <p:cNvGrpSpPr/>
          <p:nvPr/>
        </p:nvGrpSpPr>
        <p:grpSpPr>
          <a:xfrm>
            <a:off x="2000250" y="1428750"/>
            <a:ext cx="2857500" cy="266700"/>
            <a:chOff x="0" y="0"/>
            <a:chExt cx="2857500" cy="266700"/>
          </a:xfrm>
        </p:grpSpPr>
        <p:sp>
          <p:nvSpPr>
            <p:cNvPr id="195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6" name="研究背景与问题定义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研究背景与问题定义</a:t>
              </a:r>
            </a:p>
          </p:txBody>
        </p:sp>
      </p:grpSp>
      <p:grpSp>
        <p:nvGrpSpPr>
          <p:cNvPr id="200" name="成组"/>
          <p:cNvGrpSpPr/>
          <p:nvPr/>
        </p:nvGrpSpPr>
        <p:grpSpPr>
          <a:xfrm>
            <a:off x="5286375" y="1447799"/>
            <a:ext cx="5334000" cy="228601"/>
            <a:chOff x="0" y="0"/>
            <a:chExt cx="5334000" cy="228600"/>
          </a:xfrm>
        </p:grpSpPr>
        <p:sp>
          <p:nvSpPr>
            <p:cNvPr id="198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9" name="工作流复杂性、研究边界与本人工作范围"/>
            <p:cNvSpPr txBox="1"/>
            <p:nvPr/>
          </p:nvSpPr>
          <p:spPr>
            <a:xfrm>
              <a:off x="0" y="-1"/>
              <a:ext cx="53340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工作流复杂性、研究边界与本人工作范围</a:t>
              </a:r>
            </a:p>
          </p:txBody>
        </p:sp>
      </p:grpSp>
      <p:sp>
        <p:nvSpPr>
          <p:cNvPr id="201" name="矩形"/>
          <p:cNvSpPr/>
          <p:nvPr/>
        </p:nvSpPr>
        <p:spPr>
          <a:xfrm>
            <a:off x="838200" y="2114550"/>
            <a:ext cx="10287000" cy="5905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矩形"/>
          <p:cNvSpPr/>
          <p:nvPr/>
        </p:nvSpPr>
        <p:spPr>
          <a:xfrm>
            <a:off x="838200" y="2114550"/>
            <a:ext cx="57150" cy="5905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5" name="成组"/>
          <p:cNvGrpSpPr/>
          <p:nvPr/>
        </p:nvGrpSpPr>
        <p:grpSpPr>
          <a:xfrm>
            <a:off x="1104900" y="2266949"/>
            <a:ext cx="609600" cy="266701"/>
            <a:chOff x="0" y="0"/>
            <a:chExt cx="609600" cy="266700"/>
          </a:xfrm>
        </p:grpSpPr>
        <p:sp>
          <p:nvSpPr>
            <p:cNvPr id="203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" name="02"/>
            <p:cNvSpPr txBox="1"/>
            <p:nvPr/>
          </p:nvSpPr>
          <p:spPr>
            <a:xfrm>
              <a:off x="0" y="-1"/>
              <a:ext cx="6096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208" name="成组"/>
          <p:cNvGrpSpPr/>
          <p:nvPr/>
        </p:nvGrpSpPr>
        <p:grpSpPr>
          <a:xfrm>
            <a:off x="2000250" y="2266950"/>
            <a:ext cx="2857500" cy="266700"/>
            <a:chOff x="0" y="0"/>
            <a:chExt cx="2857500" cy="266700"/>
          </a:xfrm>
        </p:grpSpPr>
        <p:sp>
          <p:nvSpPr>
            <p:cNvPr id="206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" name="系统架构与协作边界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系统架构与协作边界</a:t>
              </a:r>
            </a:p>
          </p:txBody>
        </p:sp>
      </p:grpSp>
      <p:grpSp>
        <p:nvGrpSpPr>
          <p:cNvPr id="211" name="成组"/>
          <p:cNvGrpSpPr/>
          <p:nvPr/>
        </p:nvGrpSpPr>
        <p:grpSpPr>
          <a:xfrm>
            <a:off x="5286375" y="2285999"/>
            <a:ext cx="5334000" cy="228601"/>
            <a:chOff x="0" y="0"/>
            <a:chExt cx="5334000" cy="228600"/>
          </a:xfrm>
        </p:grpSpPr>
        <p:sp>
          <p:nvSpPr>
            <p:cNvPr id="209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0" name="五层架构、多 Agent 职责、FSM/HITL 约束"/>
            <p:cNvSpPr txBox="1"/>
            <p:nvPr/>
          </p:nvSpPr>
          <p:spPr>
            <a:xfrm>
              <a:off x="0" y="-1"/>
              <a:ext cx="53340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五层架构、多 Agent 职责、FSM/HITL 约束</a:t>
              </a:r>
            </a:p>
          </p:txBody>
        </p:sp>
      </p:grpSp>
      <p:sp>
        <p:nvSpPr>
          <p:cNvPr id="212" name="矩形"/>
          <p:cNvSpPr/>
          <p:nvPr/>
        </p:nvSpPr>
        <p:spPr>
          <a:xfrm>
            <a:off x="838200" y="29527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" name="矩形"/>
          <p:cNvSpPr/>
          <p:nvPr/>
        </p:nvSpPr>
        <p:spPr>
          <a:xfrm>
            <a:off x="838200" y="2952750"/>
            <a:ext cx="57150" cy="5905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6" name="成组"/>
          <p:cNvGrpSpPr/>
          <p:nvPr/>
        </p:nvGrpSpPr>
        <p:grpSpPr>
          <a:xfrm>
            <a:off x="1104900" y="3105149"/>
            <a:ext cx="609600" cy="266701"/>
            <a:chOff x="0" y="0"/>
            <a:chExt cx="609600" cy="266700"/>
          </a:xfrm>
        </p:grpSpPr>
        <p:sp>
          <p:nvSpPr>
            <p:cNvPr id="214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5" name="03"/>
            <p:cNvSpPr txBox="1"/>
            <p:nvPr/>
          </p:nvSpPr>
          <p:spPr>
            <a:xfrm>
              <a:off x="0" y="-1"/>
              <a:ext cx="6096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219" name="成组"/>
          <p:cNvGrpSpPr/>
          <p:nvPr/>
        </p:nvGrpSpPr>
        <p:grpSpPr>
          <a:xfrm>
            <a:off x="2000250" y="3105150"/>
            <a:ext cx="2857500" cy="266700"/>
            <a:chOff x="0" y="0"/>
            <a:chExt cx="2857500" cy="266700"/>
          </a:xfrm>
        </p:grpSpPr>
        <p:sp>
          <p:nvSpPr>
            <p:cNvPr id="217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" name="工作流规划机制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工作流规划机制</a:t>
              </a:r>
            </a:p>
          </p:txBody>
        </p:sp>
      </p:grpSp>
      <p:grpSp>
        <p:nvGrpSpPr>
          <p:cNvPr id="222" name="成组"/>
          <p:cNvGrpSpPr/>
          <p:nvPr/>
        </p:nvGrpSpPr>
        <p:grpSpPr>
          <a:xfrm>
            <a:off x="5286375" y="3124199"/>
            <a:ext cx="5334000" cy="228601"/>
            <a:chOff x="0" y="0"/>
            <a:chExt cx="5334000" cy="228600"/>
          </a:xfrm>
        </p:grpSpPr>
        <p:sp>
          <p:nvSpPr>
            <p:cNvPr id="220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" name="CEBRA-WP、硬可行性过滤、轻量状态与恢复动作"/>
            <p:cNvSpPr txBox="1"/>
            <p:nvPr/>
          </p:nvSpPr>
          <p:spPr>
            <a:xfrm>
              <a:off x="0" y="-1"/>
              <a:ext cx="53340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CEBRA-WP、硬可行性过滤、轻量状态与恢复动作</a:t>
              </a:r>
            </a:p>
          </p:txBody>
        </p:sp>
      </p:grpSp>
      <p:sp>
        <p:nvSpPr>
          <p:cNvPr id="223" name="矩形"/>
          <p:cNvSpPr/>
          <p:nvPr/>
        </p:nvSpPr>
        <p:spPr>
          <a:xfrm>
            <a:off x="838200" y="3790950"/>
            <a:ext cx="10287000" cy="5905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矩形"/>
          <p:cNvSpPr/>
          <p:nvPr/>
        </p:nvSpPr>
        <p:spPr>
          <a:xfrm>
            <a:off x="838200" y="3790950"/>
            <a:ext cx="57150" cy="5905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7" name="成组"/>
          <p:cNvGrpSpPr/>
          <p:nvPr/>
        </p:nvGrpSpPr>
        <p:grpSpPr>
          <a:xfrm>
            <a:off x="1104900" y="3943349"/>
            <a:ext cx="609600" cy="266701"/>
            <a:chOff x="0" y="0"/>
            <a:chExt cx="609600" cy="266700"/>
          </a:xfrm>
        </p:grpSpPr>
        <p:sp>
          <p:nvSpPr>
            <p:cNvPr id="225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6" name="04"/>
            <p:cNvSpPr txBox="1"/>
            <p:nvPr/>
          </p:nvSpPr>
          <p:spPr>
            <a:xfrm>
              <a:off x="0" y="-1"/>
              <a:ext cx="6096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230" name="成组"/>
          <p:cNvGrpSpPr/>
          <p:nvPr/>
        </p:nvGrpSpPr>
        <p:grpSpPr>
          <a:xfrm>
            <a:off x="2000250" y="3943350"/>
            <a:ext cx="2857500" cy="266700"/>
            <a:chOff x="0" y="0"/>
            <a:chExt cx="2857500" cy="266700"/>
          </a:xfrm>
        </p:grpSpPr>
        <p:sp>
          <p:nvSpPr>
            <p:cNvPr id="228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9" name="工程实现与测试验证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工程实现与测试验证</a:t>
              </a:r>
            </a:p>
          </p:txBody>
        </p:sp>
      </p:grpSp>
      <p:grpSp>
        <p:nvGrpSpPr>
          <p:cNvPr id="233" name="成组"/>
          <p:cNvGrpSpPr/>
          <p:nvPr/>
        </p:nvGrpSpPr>
        <p:grpSpPr>
          <a:xfrm>
            <a:off x="5286375" y="3962399"/>
            <a:ext cx="5334000" cy="228601"/>
            <a:chOff x="0" y="0"/>
            <a:chExt cx="5334000" cy="228600"/>
          </a:xfrm>
        </p:grpSpPr>
        <p:sp>
          <p:nvSpPr>
            <p:cNvPr id="231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" name="API、Workflow、ToolAdapter、Web 工作台与证据链"/>
            <p:cNvSpPr txBox="1"/>
            <p:nvPr/>
          </p:nvSpPr>
          <p:spPr>
            <a:xfrm>
              <a:off x="0" y="-1"/>
              <a:ext cx="53340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API、Workflow、ToolAdapter、Web 工作台与证据链</a:t>
              </a:r>
            </a:p>
          </p:txBody>
        </p:sp>
      </p:grpSp>
      <p:sp>
        <p:nvSpPr>
          <p:cNvPr id="234" name="矩形"/>
          <p:cNvSpPr/>
          <p:nvPr/>
        </p:nvSpPr>
        <p:spPr>
          <a:xfrm>
            <a:off x="838200" y="4629150"/>
            <a:ext cx="10287000" cy="590550"/>
          </a:xfrm>
          <a:prstGeom prst="rect">
            <a:avLst/>
          </a:prstGeom>
          <a:solidFill>
            <a:srgbClr val="F4F8FC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5" name="矩形"/>
          <p:cNvSpPr/>
          <p:nvPr/>
        </p:nvSpPr>
        <p:spPr>
          <a:xfrm>
            <a:off x="838200" y="4629150"/>
            <a:ext cx="57150" cy="5905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8" name="成组"/>
          <p:cNvGrpSpPr/>
          <p:nvPr/>
        </p:nvGrpSpPr>
        <p:grpSpPr>
          <a:xfrm>
            <a:off x="1104900" y="4781549"/>
            <a:ext cx="609600" cy="266701"/>
            <a:chOff x="0" y="0"/>
            <a:chExt cx="609600" cy="266700"/>
          </a:xfrm>
        </p:grpSpPr>
        <p:sp>
          <p:nvSpPr>
            <p:cNvPr id="236" name="矩形"/>
            <p:cNvSpPr/>
            <p:nvPr/>
          </p:nvSpPr>
          <p:spPr>
            <a:xfrm>
              <a:off x="0" y="0"/>
              <a:ext cx="6096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7" name="05"/>
            <p:cNvSpPr txBox="1"/>
            <p:nvPr/>
          </p:nvSpPr>
          <p:spPr>
            <a:xfrm>
              <a:off x="0" y="-1"/>
              <a:ext cx="6096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05</a:t>
              </a:r>
            </a:p>
          </p:txBody>
        </p:sp>
      </p:grpSp>
      <p:grpSp>
        <p:nvGrpSpPr>
          <p:cNvPr id="241" name="成组"/>
          <p:cNvGrpSpPr/>
          <p:nvPr/>
        </p:nvGrpSpPr>
        <p:grpSpPr>
          <a:xfrm>
            <a:off x="2000250" y="4781550"/>
            <a:ext cx="2857500" cy="266700"/>
            <a:chOff x="0" y="0"/>
            <a:chExt cx="2857500" cy="266700"/>
          </a:xfrm>
        </p:grpSpPr>
        <p:sp>
          <p:nvSpPr>
            <p:cNvPr id="239" name="矩形"/>
            <p:cNvSpPr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0" name="结论与备查材料"/>
            <p:cNvSpPr txBox="1"/>
            <p:nvPr/>
          </p:nvSpPr>
          <p:spPr>
            <a:xfrm>
              <a:off x="0" y="0"/>
              <a:ext cx="2857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结论与备查材料</a:t>
              </a:r>
            </a:p>
          </p:txBody>
        </p:sp>
      </p:grpSp>
      <p:grpSp>
        <p:nvGrpSpPr>
          <p:cNvPr id="244" name="成组"/>
          <p:cNvGrpSpPr/>
          <p:nvPr/>
        </p:nvGrpSpPr>
        <p:grpSpPr>
          <a:xfrm>
            <a:off x="5286375" y="4800599"/>
            <a:ext cx="5334000" cy="228601"/>
            <a:chOff x="0" y="0"/>
            <a:chExt cx="5334000" cy="228600"/>
          </a:xfrm>
        </p:grpSpPr>
        <p:sp>
          <p:nvSpPr>
            <p:cNvPr id="242" name="矩形"/>
            <p:cNvSpPr/>
            <p:nvPr/>
          </p:nvSpPr>
          <p:spPr>
            <a:xfrm>
              <a:off x="0" y="0"/>
              <a:ext cx="5334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3" name="贡献边界、消融结果、失败样本和后续工作"/>
            <p:cNvSpPr txBox="1"/>
            <p:nvPr/>
          </p:nvSpPr>
          <p:spPr>
            <a:xfrm>
              <a:off x="0" y="-1"/>
              <a:ext cx="53340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贡献边界、消融结果、失败样本和后续工作</a:t>
              </a:r>
            </a:p>
          </p:txBody>
        </p:sp>
      </p:grpSp>
      <p:grpSp>
        <p:nvGrpSpPr>
          <p:cNvPr id="247" name="成组"/>
          <p:cNvGrpSpPr/>
          <p:nvPr/>
        </p:nvGrpSpPr>
        <p:grpSpPr>
          <a:xfrm>
            <a:off x="904875" y="5714999"/>
            <a:ext cx="9906000" cy="304801"/>
            <a:chOff x="0" y="0"/>
            <a:chExt cx="9906000" cy="304800"/>
          </a:xfrm>
        </p:grpSpPr>
        <p:sp>
          <p:nvSpPr>
            <p:cNvPr id="245" name="矩形"/>
            <p:cNvSpPr/>
            <p:nvPr/>
          </p:nvSpPr>
          <p:spPr>
            <a:xfrm>
              <a:off x="0" y="0"/>
              <a:ext cx="9906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" name="汇报重点放在工程系统本身：架构是否清楚、机制是否可解释、实现是否可信、验证是否充分。"/>
            <p:cNvSpPr txBox="1"/>
            <p:nvPr/>
          </p:nvSpPr>
          <p:spPr>
            <a:xfrm>
              <a:off x="0" y="-1"/>
              <a:ext cx="9906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汇报重点放在工程系统本身：架构是否清楚、机制是否可解释、实现是否可信、验证是否充分。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3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51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2" name="汇报问题链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汇报问题链</a:t>
              </a:r>
            </a:p>
          </p:txBody>
        </p:sp>
      </p:grpSp>
      <p:grpSp>
        <p:nvGrpSpPr>
          <p:cNvPr id="256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54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" name="STORYLIN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STORYLINE</a:t>
              </a:r>
            </a:p>
          </p:txBody>
        </p:sp>
      </p:grpSp>
      <p:pic>
        <p:nvPicPr>
          <p:cNvPr id="25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32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30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328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29" name="3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333" name="成组"/>
          <p:cNvGrpSpPr/>
          <p:nvPr/>
        </p:nvGrpSpPr>
        <p:grpSpPr>
          <a:xfrm>
            <a:off x="666750" y="1066799"/>
            <a:ext cx="10572750" cy="323851"/>
            <a:chOff x="0" y="0"/>
            <a:chExt cx="10572750" cy="323850"/>
          </a:xfrm>
        </p:grpSpPr>
        <p:sp>
          <p:nvSpPr>
            <p:cNvPr id="331" name="矩形"/>
            <p:cNvSpPr/>
            <p:nvPr/>
          </p:nvSpPr>
          <p:spPr>
            <a:xfrm>
              <a:off x="0" y="0"/>
              <a:ext cx="105727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2" name="从工程约束出发，依次给出架构、规划机制、实现路径和验证证据。"/>
            <p:cNvSpPr txBox="1"/>
            <p:nvPr/>
          </p:nvSpPr>
          <p:spPr>
            <a:xfrm>
              <a:off x="0" y="-1"/>
              <a:ext cx="10572750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从工程约束出发，依次给出架构、规划机制、实现路径和验证证据。</a:t>
              </a:r>
            </a:p>
          </p:txBody>
        </p:sp>
      </p:grpSp>
      <p:sp>
        <p:nvSpPr>
          <p:cNvPr id="334" name="矩形"/>
          <p:cNvSpPr/>
          <p:nvPr/>
        </p:nvSpPr>
        <p:spPr>
          <a:xfrm>
            <a:off x="6858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37" name="成组"/>
          <p:cNvGrpSpPr/>
          <p:nvPr/>
        </p:nvGrpSpPr>
        <p:grpSpPr>
          <a:xfrm>
            <a:off x="838200" y="2266949"/>
            <a:ext cx="533400" cy="323851"/>
            <a:chOff x="0" y="0"/>
            <a:chExt cx="533400" cy="323850"/>
          </a:xfrm>
        </p:grpSpPr>
        <p:sp>
          <p:nvSpPr>
            <p:cNvPr id="335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6" name="01"/>
            <p:cNvSpPr txBox="1"/>
            <p:nvPr/>
          </p:nvSpPr>
          <p:spPr>
            <a:xfrm>
              <a:off x="0" y="-1"/>
              <a:ext cx="5334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340" name="成组"/>
          <p:cNvGrpSpPr/>
          <p:nvPr/>
        </p:nvGrpSpPr>
        <p:grpSpPr>
          <a:xfrm>
            <a:off x="838200" y="2724149"/>
            <a:ext cx="1457325" cy="323851"/>
            <a:chOff x="0" y="0"/>
            <a:chExt cx="1457325" cy="323850"/>
          </a:xfrm>
        </p:grpSpPr>
        <p:sp>
          <p:nvSpPr>
            <p:cNvPr id="338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39" name="为什么需要系统"/>
            <p:cNvSpPr txBox="1"/>
            <p:nvPr/>
          </p:nvSpPr>
          <p:spPr>
            <a:xfrm>
              <a:off x="0" y="-1"/>
              <a:ext cx="1457325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为什么需要系统</a:t>
              </a:r>
            </a:p>
          </p:txBody>
        </p:sp>
      </p:grpSp>
      <p:grpSp>
        <p:nvGrpSpPr>
          <p:cNvPr id="343" name="成组"/>
          <p:cNvGrpSpPr/>
          <p:nvPr/>
        </p:nvGrpSpPr>
        <p:grpSpPr>
          <a:xfrm>
            <a:off x="838200" y="3238499"/>
            <a:ext cx="1428750" cy="533401"/>
            <a:chOff x="0" y="0"/>
            <a:chExt cx="1428750" cy="533400"/>
          </a:xfrm>
        </p:grpSpPr>
        <p:sp>
          <p:nvSpPr>
            <p:cNvPr id="341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2" name="多工具、高代价、可失败的蛋白质设计工作流"/>
            <p:cNvSpPr txBox="1"/>
            <p:nvPr/>
          </p:nvSpPr>
          <p:spPr>
            <a:xfrm>
              <a:off x="0" y="-1"/>
              <a:ext cx="142875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多工具、高代价、可失败的蛋白质设计工作流</a:t>
              </a:r>
            </a:p>
          </p:txBody>
        </p:sp>
      </p:grpSp>
      <p:sp>
        <p:nvSpPr>
          <p:cNvPr id="344" name="矩形"/>
          <p:cNvSpPr/>
          <p:nvPr/>
        </p:nvSpPr>
        <p:spPr>
          <a:xfrm>
            <a:off x="24955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5" name="圆形"/>
          <p:cNvSpPr/>
          <p:nvPr/>
        </p:nvSpPr>
        <p:spPr>
          <a:xfrm>
            <a:off x="28003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矩形"/>
          <p:cNvSpPr/>
          <p:nvPr/>
        </p:nvSpPr>
        <p:spPr>
          <a:xfrm>
            <a:off x="28956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49" name="成组"/>
          <p:cNvGrpSpPr/>
          <p:nvPr/>
        </p:nvGrpSpPr>
        <p:grpSpPr>
          <a:xfrm>
            <a:off x="3048000" y="2266949"/>
            <a:ext cx="533400" cy="323851"/>
            <a:chOff x="0" y="0"/>
            <a:chExt cx="533400" cy="323850"/>
          </a:xfrm>
        </p:grpSpPr>
        <p:sp>
          <p:nvSpPr>
            <p:cNvPr id="347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48" name="02"/>
            <p:cNvSpPr txBox="1"/>
            <p:nvPr/>
          </p:nvSpPr>
          <p:spPr>
            <a:xfrm>
              <a:off x="0" y="-1"/>
              <a:ext cx="5334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352" name="成组"/>
          <p:cNvGrpSpPr/>
          <p:nvPr/>
        </p:nvGrpSpPr>
        <p:grpSpPr>
          <a:xfrm>
            <a:off x="3048000" y="2724149"/>
            <a:ext cx="1457325" cy="323851"/>
            <a:chOff x="0" y="0"/>
            <a:chExt cx="1457325" cy="323850"/>
          </a:xfrm>
        </p:grpSpPr>
        <p:sp>
          <p:nvSpPr>
            <p:cNvPr id="350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51" name="设计什么架构"/>
            <p:cNvSpPr txBox="1"/>
            <p:nvPr/>
          </p:nvSpPr>
          <p:spPr>
            <a:xfrm>
              <a:off x="0" y="-1"/>
              <a:ext cx="1457325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设计什么架构</a:t>
              </a:r>
            </a:p>
          </p:txBody>
        </p:sp>
      </p:grpSp>
      <p:grpSp>
        <p:nvGrpSpPr>
          <p:cNvPr id="355" name="成组"/>
          <p:cNvGrpSpPr/>
          <p:nvPr/>
        </p:nvGrpSpPr>
        <p:grpSpPr>
          <a:xfrm>
            <a:off x="3048000" y="3238499"/>
            <a:ext cx="1428750" cy="533401"/>
            <a:chOff x="0" y="0"/>
            <a:chExt cx="1428750" cy="533400"/>
          </a:xfrm>
        </p:grpSpPr>
        <p:sp>
          <p:nvSpPr>
            <p:cNvPr id="353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54" name="五层架构 + 多 Agent + FSM/HITL"/>
            <p:cNvSpPr txBox="1"/>
            <p:nvPr/>
          </p:nvSpPr>
          <p:spPr>
            <a:xfrm>
              <a:off x="0" y="-1"/>
              <a:ext cx="1428750" cy="368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 + 多 Agent + FSM/HITL</a:t>
              </a:r>
            </a:p>
          </p:txBody>
        </p:sp>
      </p:grpSp>
      <p:sp>
        <p:nvSpPr>
          <p:cNvPr id="356" name="矩形"/>
          <p:cNvSpPr/>
          <p:nvPr/>
        </p:nvSpPr>
        <p:spPr>
          <a:xfrm>
            <a:off x="47053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圆形"/>
          <p:cNvSpPr/>
          <p:nvPr/>
        </p:nvSpPr>
        <p:spPr>
          <a:xfrm>
            <a:off x="50101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8" name="矩形"/>
          <p:cNvSpPr/>
          <p:nvPr/>
        </p:nvSpPr>
        <p:spPr>
          <a:xfrm>
            <a:off x="5105400" y="2095500"/>
            <a:ext cx="1762125" cy="1952625"/>
          </a:xfrm>
          <a:prstGeom prst="rect">
            <a:avLst/>
          </a:prstGeom>
          <a:solidFill>
            <a:srgbClr val="004EA2"/>
          </a:solidFill>
          <a:ln>
            <a:solidFill>
              <a:srgbClr val="004EA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61" name="成组"/>
          <p:cNvGrpSpPr/>
          <p:nvPr/>
        </p:nvGrpSpPr>
        <p:grpSpPr>
          <a:xfrm>
            <a:off x="5257800" y="2266949"/>
            <a:ext cx="533400" cy="323851"/>
            <a:chOff x="0" y="0"/>
            <a:chExt cx="533400" cy="323850"/>
          </a:xfrm>
        </p:grpSpPr>
        <p:sp>
          <p:nvSpPr>
            <p:cNvPr id="359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0" name="03"/>
            <p:cNvSpPr txBox="1"/>
            <p:nvPr/>
          </p:nvSpPr>
          <p:spPr>
            <a:xfrm>
              <a:off x="0" y="-1"/>
              <a:ext cx="5334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364" name="成组"/>
          <p:cNvGrpSpPr/>
          <p:nvPr/>
        </p:nvGrpSpPr>
        <p:grpSpPr>
          <a:xfrm>
            <a:off x="5257800" y="2724149"/>
            <a:ext cx="1457325" cy="323851"/>
            <a:chOff x="0" y="0"/>
            <a:chExt cx="1457325" cy="323850"/>
          </a:xfrm>
        </p:grpSpPr>
        <p:sp>
          <p:nvSpPr>
            <p:cNvPr id="362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3" name="提出什么机制"/>
            <p:cNvSpPr txBox="1"/>
            <p:nvPr/>
          </p:nvSpPr>
          <p:spPr>
            <a:xfrm>
              <a:off x="0" y="-1"/>
              <a:ext cx="1457325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提出什么机制</a:t>
              </a:r>
            </a:p>
          </p:txBody>
        </p:sp>
      </p:grpSp>
      <p:grpSp>
        <p:nvGrpSpPr>
          <p:cNvPr id="367" name="成组"/>
          <p:cNvGrpSpPr/>
          <p:nvPr/>
        </p:nvGrpSpPr>
        <p:grpSpPr>
          <a:xfrm>
            <a:off x="5257800" y="3238499"/>
            <a:ext cx="1428750" cy="533401"/>
            <a:chOff x="0" y="0"/>
            <a:chExt cx="1428750" cy="533400"/>
          </a:xfrm>
        </p:grpSpPr>
        <p:sp>
          <p:nvSpPr>
            <p:cNvPr id="365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DDEE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66" name="CEBRA-WP 工作流规划与恢复控制"/>
            <p:cNvSpPr txBox="1"/>
            <p:nvPr/>
          </p:nvSpPr>
          <p:spPr>
            <a:xfrm>
              <a:off x="0" y="-1"/>
              <a:ext cx="142875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DDEE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工作流规划与恢复控制</a:t>
              </a:r>
            </a:p>
          </p:txBody>
        </p:sp>
      </p:grpSp>
      <p:sp>
        <p:nvSpPr>
          <p:cNvPr id="368" name="矩形"/>
          <p:cNvSpPr/>
          <p:nvPr/>
        </p:nvSpPr>
        <p:spPr>
          <a:xfrm>
            <a:off x="69151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9" name="圆形"/>
          <p:cNvSpPr/>
          <p:nvPr/>
        </p:nvSpPr>
        <p:spPr>
          <a:xfrm>
            <a:off x="72199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0" name="矩形"/>
          <p:cNvSpPr/>
          <p:nvPr/>
        </p:nvSpPr>
        <p:spPr>
          <a:xfrm>
            <a:off x="73152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3" name="成组"/>
          <p:cNvGrpSpPr/>
          <p:nvPr/>
        </p:nvGrpSpPr>
        <p:grpSpPr>
          <a:xfrm>
            <a:off x="7467600" y="2266949"/>
            <a:ext cx="533400" cy="323851"/>
            <a:chOff x="0" y="0"/>
            <a:chExt cx="533400" cy="323850"/>
          </a:xfrm>
        </p:grpSpPr>
        <p:sp>
          <p:nvSpPr>
            <p:cNvPr id="371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2" name="04"/>
            <p:cNvSpPr txBox="1"/>
            <p:nvPr/>
          </p:nvSpPr>
          <p:spPr>
            <a:xfrm>
              <a:off x="0" y="-1"/>
              <a:ext cx="5334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376" name="成组"/>
          <p:cNvGrpSpPr/>
          <p:nvPr/>
        </p:nvGrpSpPr>
        <p:grpSpPr>
          <a:xfrm>
            <a:off x="7467600" y="2724149"/>
            <a:ext cx="1457325" cy="323851"/>
            <a:chOff x="0" y="0"/>
            <a:chExt cx="1457325" cy="323850"/>
          </a:xfrm>
        </p:grpSpPr>
        <p:sp>
          <p:nvSpPr>
            <p:cNvPr id="374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5" name="如何工程落地"/>
            <p:cNvSpPr txBox="1"/>
            <p:nvPr/>
          </p:nvSpPr>
          <p:spPr>
            <a:xfrm>
              <a:off x="0" y="-1"/>
              <a:ext cx="1457325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如何工程落地</a:t>
              </a:r>
            </a:p>
          </p:txBody>
        </p:sp>
      </p:grpSp>
      <p:grpSp>
        <p:nvGrpSpPr>
          <p:cNvPr id="379" name="成组"/>
          <p:cNvGrpSpPr/>
          <p:nvPr/>
        </p:nvGrpSpPr>
        <p:grpSpPr>
          <a:xfrm>
            <a:off x="7467600" y="3238499"/>
            <a:ext cx="1428750" cy="571501"/>
            <a:chOff x="0" y="0"/>
            <a:chExt cx="1428750" cy="571500"/>
          </a:xfrm>
        </p:grpSpPr>
        <p:sp>
          <p:nvSpPr>
            <p:cNvPr id="377" name="矩形"/>
            <p:cNvSpPr/>
            <p:nvPr/>
          </p:nvSpPr>
          <p:spPr>
            <a:xfrm>
              <a:off x="0" y="-1"/>
              <a:ext cx="1428750" cy="5334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78" name="API / Workflow / ToolAdapter / Web 工作台"/>
            <p:cNvSpPr txBox="1"/>
            <p:nvPr/>
          </p:nvSpPr>
          <p:spPr>
            <a:xfrm>
              <a:off x="0" y="0"/>
              <a:ext cx="1428750" cy="571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 / Workflow / ToolAdapter / Web 工作台</a:t>
              </a:r>
            </a:p>
          </p:txBody>
        </p:sp>
      </p:grpSp>
      <p:sp>
        <p:nvSpPr>
          <p:cNvPr id="380" name="矩形"/>
          <p:cNvSpPr/>
          <p:nvPr/>
        </p:nvSpPr>
        <p:spPr>
          <a:xfrm>
            <a:off x="9124950" y="3057525"/>
            <a:ext cx="34290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1" name="圆形"/>
          <p:cNvSpPr/>
          <p:nvPr/>
        </p:nvSpPr>
        <p:spPr>
          <a:xfrm>
            <a:off x="9429750" y="3000375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矩形"/>
          <p:cNvSpPr/>
          <p:nvPr/>
        </p:nvSpPr>
        <p:spPr>
          <a:xfrm>
            <a:off x="9525000" y="2095500"/>
            <a:ext cx="1762125" cy="1952625"/>
          </a:xfrm>
          <a:prstGeom prst="rect">
            <a:avLst/>
          </a:prstGeom>
          <a:solidFill>
            <a:srgbClr val="FFFFFF"/>
          </a:solidFill>
          <a:ln>
            <a:solidFill>
              <a:srgbClr val="D9E7F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85" name="成组"/>
          <p:cNvGrpSpPr/>
          <p:nvPr/>
        </p:nvGrpSpPr>
        <p:grpSpPr>
          <a:xfrm>
            <a:off x="9677400" y="2266949"/>
            <a:ext cx="533400" cy="323851"/>
            <a:chOff x="0" y="0"/>
            <a:chExt cx="533400" cy="323850"/>
          </a:xfrm>
        </p:grpSpPr>
        <p:sp>
          <p:nvSpPr>
            <p:cNvPr id="383" name="矩形"/>
            <p:cNvSpPr/>
            <p:nvPr/>
          </p:nvSpPr>
          <p:spPr>
            <a:xfrm>
              <a:off x="0" y="0"/>
              <a:ext cx="5334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84" name="05"/>
            <p:cNvSpPr txBox="1"/>
            <p:nvPr/>
          </p:nvSpPr>
          <p:spPr>
            <a:xfrm>
              <a:off x="0" y="-1"/>
              <a:ext cx="5334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05</a:t>
              </a:r>
            </a:p>
          </p:txBody>
        </p:sp>
      </p:grpSp>
      <p:grpSp>
        <p:nvGrpSpPr>
          <p:cNvPr id="388" name="成组"/>
          <p:cNvGrpSpPr/>
          <p:nvPr/>
        </p:nvGrpSpPr>
        <p:grpSpPr>
          <a:xfrm>
            <a:off x="9677400" y="2724149"/>
            <a:ext cx="1457325" cy="323851"/>
            <a:chOff x="0" y="0"/>
            <a:chExt cx="1457325" cy="323850"/>
          </a:xfrm>
        </p:grpSpPr>
        <p:sp>
          <p:nvSpPr>
            <p:cNvPr id="386" name="矩形"/>
            <p:cNvSpPr/>
            <p:nvPr/>
          </p:nvSpPr>
          <p:spPr>
            <a:xfrm>
              <a:off x="0" y="0"/>
              <a:ext cx="14573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87" name="如何验证有效"/>
            <p:cNvSpPr txBox="1"/>
            <p:nvPr/>
          </p:nvSpPr>
          <p:spPr>
            <a:xfrm>
              <a:off x="0" y="-1"/>
              <a:ext cx="1457325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如何验证有效</a:t>
              </a:r>
            </a:p>
          </p:txBody>
        </p:sp>
      </p:grpSp>
      <p:grpSp>
        <p:nvGrpSpPr>
          <p:cNvPr id="391" name="成组"/>
          <p:cNvGrpSpPr/>
          <p:nvPr/>
        </p:nvGrpSpPr>
        <p:grpSpPr>
          <a:xfrm>
            <a:off x="9677400" y="3238499"/>
            <a:ext cx="1428750" cy="533401"/>
            <a:chOff x="0" y="0"/>
            <a:chExt cx="1428750" cy="533400"/>
          </a:xfrm>
        </p:grpSpPr>
        <p:sp>
          <p:nvSpPr>
            <p:cNvPr id="389" name="矩形"/>
            <p:cNvSpPr/>
            <p:nvPr/>
          </p:nvSpPr>
          <p:spPr>
            <a:xfrm>
              <a:off x="0" y="0"/>
              <a:ext cx="1428750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0" name="13 个测试用例 + 84-run 消融实验"/>
            <p:cNvSpPr txBox="1"/>
            <p:nvPr/>
          </p:nvSpPr>
          <p:spPr>
            <a:xfrm>
              <a:off x="0" y="-1"/>
              <a:ext cx="142875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个测试用例 + 84-run 消融实验</a:t>
              </a:r>
            </a:p>
          </p:txBody>
        </p:sp>
      </p:grpSp>
      <p:grpSp>
        <p:nvGrpSpPr>
          <p:cNvPr id="394" name="成组"/>
          <p:cNvGrpSpPr/>
          <p:nvPr/>
        </p:nvGrpSpPr>
        <p:grpSpPr>
          <a:xfrm>
            <a:off x="723900" y="4857750"/>
            <a:ext cx="1428750" cy="228600"/>
            <a:chOff x="0" y="0"/>
            <a:chExt cx="1428750" cy="228600"/>
          </a:xfrm>
        </p:grpSpPr>
        <p:sp>
          <p:nvSpPr>
            <p:cNvPr id="39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3" name="页面安排"/>
            <p:cNvSpPr txBox="1"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页面安排</a:t>
              </a:r>
            </a:p>
          </p:txBody>
        </p:sp>
      </p:grpSp>
      <p:sp>
        <p:nvSpPr>
          <p:cNvPr id="395" name="圆形"/>
          <p:cNvSpPr/>
          <p:nvPr/>
        </p:nvSpPr>
        <p:spPr>
          <a:xfrm>
            <a:off x="742950" y="5276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8" name="成组"/>
          <p:cNvGrpSpPr/>
          <p:nvPr/>
        </p:nvGrpSpPr>
        <p:grpSpPr>
          <a:xfrm>
            <a:off x="914400" y="5219699"/>
            <a:ext cx="4114800" cy="361951"/>
            <a:chOff x="0" y="0"/>
            <a:chExt cx="4114800" cy="361950"/>
          </a:xfrm>
        </p:grpSpPr>
        <p:sp>
          <p:nvSpPr>
            <p:cNvPr id="396" name="矩形"/>
            <p:cNvSpPr/>
            <p:nvPr/>
          </p:nvSpPr>
          <p:spPr>
            <a:xfrm>
              <a:off x="0" y="0"/>
              <a:ext cx="41148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397" name="问题与边界 → 架构与机制 → 实现与验证。"/>
            <p:cNvSpPr txBox="1"/>
            <p:nvPr/>
          </p:nvSpPr>
          <p:spPr>
            <a:xfrm>
              <a:off x="0" y="-1"/>
              <a:ext cx="41148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问题与边界 → 架构与机制 → 实现与验证。</a:t>
              </a:r>
            </a:p>
          </p:txBody>
        </p:sp>
      </p:grpSp>
      <p:sp>
        <p:nvSpPr>
          <p:cNvPr id="399" name="圆形"/>
          <p:cNvSpPr/>
          <p:nvPr/>
        </p:nvSpPr>
        <p:spPr>
          <a:xfrm>
            <a:off x="6096000" y="5276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02" name="成组"/>
          <p:cNvGrpSpPr/>
          <p:nvPr/>
        </p:nvGrpSpPr>
        <p:grpSpPr>
          <a:xfrm>
            <a:off x="6267450" y="5219699"/>
            <a:ext cx="4591050" cy="361951"/>
            <a:chOff x="0" y="0"/>
            <a:chExt cx="4591050" cy="361950"/>
          </a:xfrm>
        </p:grpSpPr>
        <p:sp>
          <p:nvSpPr>
            <p:cNvPr id="400" name="矩形"/>
            <p:cNvSpPr/>
            <p:nvPr/>
          </p:nvSpPr>
          <p:spPr>
            <a:xfrm>
              <a:off x="0" y="0"/>
              <a:ext cx="4591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01" name="算法选择放在机制页展开，测试和消融作为结论依据。"/>
            <p:cNvSpPr txBox="1"/>
            <p:nvPr/>
          </p:nvSpPr>
          <p:spPr>
            <a:xfrm>
              <a:off x="0" y="-1"/>
              <a:ext cx="459105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算法选择放在机制页展开，测试和消融作为结论依据。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05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08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406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07" name="蛋白质设计工作流的工程复杂性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蛋白质设计工作流的工程复杂性</a:t>
              </a:r>
            </a:p>
          </p:txBody>
        </p:sp>
      </p:grpSp>
      <p:grpSp>
        <p:nvGrpSpPr>
          <p:cNvPr id="411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409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10" name="PROBLEM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PROBLEM</a:t>
              </a:r>
            </a:p>
          </p:txBody>
        </p:sp>
      </p:grpSp>
      <p:pic>
        <p:nvPicPr>
          <p:cNvPr id="412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413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8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9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2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5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8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1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2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3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4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5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9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2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4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5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6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7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8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9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0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1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2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3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4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5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6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8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9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0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1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2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3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4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5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6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7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8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9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0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1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2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3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4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6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7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8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9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0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1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82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85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483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84" name="4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86" name="矩形"/>
          <p:cNvSpPr/>
          <p:nvPr/>
        </p:nvSpPr>
        <p:spPr>
          <a:xfrm>
            <a:off x="552450" y="1095375"/>
            <a:ext cx="5810250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487" name="image13.png" descr="image1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611636"/>
            <a:ext cx="5695950" cy="306322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90" name="成组"/>
          <p:cNvGrpSpPr/>
          <p:nvPr/>
        </p:nvGrpSpPr>
        <p:grpSpPr>
          <a:xfrm>
            <a:off x="6858000" y="1142999"/>
            <a:ext cx="2095500" cy="317501"/>
            <a:chOff x="0" y="0"/>
            <a:chExt cx="2095500" cy="317500"/>
          </a:xfrm>
        </p:grpSpPr>
        <p:sp>
          <p:nvSpPr>
            <p:cNvPr id="488" name="矩形"/>
            <p:cNvSpPr/>
            <p:nvPr/>
          </p:nvSpPr>
          <p:spPr>
            <a:xfrm>
              <a:off x="0" y="-1"/>
              <a:ext cx="20955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89" name="工程痛点"/>
            <p:cNvSpPr txBox="1"/>
            <p:nvPr/>
          </p:nvSpPr>
          <p:spPr>
            <a:xfrm>
              <a:off x="0" y="0"/>
              <a:ext cx="2095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工程痛点</a:t>
              </a:r>
            </a:p>
          </p:txBody>
        </p:sp>
      </p:grpSp>
      <p:sp>
        <p:nvSpPr>
          <p:cNvPr id="491" name="矩形"/>
          <p:cNvSpPr/>
          <p:nvPr/>
        </p:nvSpPr>
        <p:spPr>
          <a:xfrm>
            <a:off x="6858000" y="16192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2" name="矩形"/>
          <p:cNvSpPr/>
          <p:nvPr/>
        </p:nvSpPr>
        <p:spPr>
          <a:xfrm>
            <a:off x="6858000" y="1619250"/>
            <a:ext cx="47625" cy="666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5" name="成组"/>
          <p:cNvGrpSpPr/>
          <p:nvPr/>
        </p:nvGrpSpPr>
        <p:grpSpPr>
          <a:xfrm>
            <a:off x="7029450" y="1714499"/>
            <a:ext cx="4133850" cy="266701"/>
            <a:chOff x="0" y="0"/>
            <a:chExt cx="4133850" cy="266700"/>
          </a:xfrm>
        </p:grpSpPr>
        <p:sp>
          <p:nvSpPr>
            <p:cNvPr id="493" name="矩形"/>
            <p:cNvSpPr/>
            <p:nvPr/>
          </p:nvSpPr>
          <p:spPr>
            <a:xfrm>
              <a:off x="0" y="-1"/>
              <a:ext cx="4133850" cy="2286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94" name="接口异构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接口异构</a:t>
              </a:r>
            </a:p>
          </p:txBody>
        </p:sp>
      </p:grpSp>
      <p:grpSp>
        <p:nvGrpSpPr>
          <p:cNvPr id="498" name="成组"/>
          <p:cNvGrpSpPr/>
          <p:nvPr/>
        </p:nvGrpSpPr>
        <p:grpSpPr>
          <a:xfrm>
            <a:off x="7029450" y="1971674"/>
            <a:ext cx="4133850" cy="238126"/>
            <a:chOff x="0" y="0"/>
            <a:chExt cx="4133850" cy="238125"/>
          </a:xfrm>
        </p:grpSpPr>
        <p:sp>
          <p:nvSpPr>
            <p:cNvPr id="496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497" name="序列、结构、评分工具的输入输出格式差异明显"/>
            <p:cNvSpPr txBox="1"/>
            <p:nvPr/>
          </p:nvSpPr>
          <p:spPr>
            <a:xfrm>
              <a:off x="0" y="-1"/>
              <a:ext cx="4133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序列、结构、评分工具的输入输出格式差异明显</a:t>
              </a:r>
            </a:p>
          </p:txBody>
        </p:sp>
      </p:grpSp>
      <p:sp>
        <p:nvSpPr>
          <p:cNvPr id="499" name="矩形"/>
          <p:cNvSpPr/>
          <p:nvPr/>
        </p:nvSpPr>
        <p:spPr>
          <a:xfrm>
            <a:off x="6858000" y="24574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0" name="矩形"/>
          <p:cNvSpPr/>
          <p:nvPr/>
        </p:nvSpPr>
        <p:spPr>
          <a:xfrm>
            <a:off x="6858000" y="2457450"/>
            <a:ext cx="47625" cy="6667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3" name="成组"/>
          <p:cNvGrpSpPr/>
          <p:nvPr/>
        </p:nvGrpSpPr>
        <p:grpSpPr>
          <a:xfrm>
            <a:off x="7029450" y="2552699"/>
            <a:ext cx="4133850" cy="266701"/>
            <a:chOff x="0" y="0"/>
            <a:chExt cx="4133850" cy="266700"/>
          </a:xfrm>
        </p:grpSpPr>
        <p:sp>
          <p:nvSpPr>
            <p:cNvPr id="501" name="矩形"/>
            <p:cNvSpPr/>
            <p:nvPr/>
          </p:nvSpPr>
          <p:spPr>
            <a:xfrm>
              <a:off x="0" y="-1"/>
              <a:ext cx="4133850" cy="2286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02" name="高代价调用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</a:t>
              </a:r>
            </a:p>
          </p:txBody>
        </p:sp>
      </p:grpSp>
      <p:grpSp>
        <p:nvGrpSpPr>
          <p:cNvPr id="506" name="成组"/>
          <p:cNvGrpSpPr/>
          <p:nvPr/>
        </p:nvGrpSpPr>
        <p:grpSpPr>
          <a:xfrm>
            <a:off x="7029450" y="2809874"/>
            <a:ext cx="4133850" cy="238126"/>
            <a:chOff x="0" y="0"/>
            <a:chExt cx="4133850" cy="238125"/>
          </a:xfrm>
        </p:grpSpPr>
        <p:sp>
          <p:nvSpPr>
            <p:cNvPr id="504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05" name="结构预测与重型打分不宜在证据不足时盲目执行"/>
            <p:cNvSpPr txBox="1"/>
            <p:nvPr/>
          </p:nvSpPr>
          <p:spPr>
            <a:xfrm>
              <a:off x="0" y="-1"/>
              <a:ext cx="4133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结构预测与重型打分不宜在证据不足时盲目执行</a:t>
              </a:r>
            </a:p>
          </p:txBody>
        </p:sp>
      </p:grpSp>
      <p:sp>
        <p:nvSpPr>
          <p:cNvPr id="507" name="矩形"/>
          <p:cNvSpPr/>
          <p:nvPr/>
        </p:nvSpPr>
        <p:spPr>
          <a:xfrm>
            <a:off x="6858000" y="32956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8" name="矩形"/>
          <p:cNvSpPr/>
          <p:nvPr/>
        </p:nvSpPr>
        <p:spPr>
          <a:xfrm>
            <a:off x="6858000" y="3295650"/>
            <a:ext cx="47625" cy="6667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1" name="成组"/>
          <p:cNvGrpSpPr/>
          <p:nvPr/>
        </p:nvGrpSpPr>
        <p:grpSpPr>
          <a:xfrm>
            <a:off x="7029450" y="3390899"/>
            <a:ext cx="4133850" cy="266701"/>
            <a:chOff x="0" y="0"/>
            <a:chExt cx="4133850" cy="266700"/>
          </a:xfrm>
        </p:grpSpPr>
        <p:sp>
          <p:nvSpPr>
            <p:cNvPr id="509" name="矩形"/>
            <p:cNvSpPr/>
            <p:nvPr/>
          </p:nvSpPr>
          <p:spPr>
            <a:xfrm>
              <a:off x="0" y="-1"/>
              <a:ext cx="4133850" cy="2286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0" name="失败可恢复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失败可恢复</a:t>
              </a:r>
            </a:p>
          </p:txBody>
        </p:sp>
      </p:grpSp>
      <p:grpSp>
        <p:nvGrpSpPr>
          <p:cNvPr id="514" name="成组"/>
          <p:cNvGrpSpPr/>
          <p:nvPr/>
        </p:nvGrpSpPr>
        <p:grpSpPr>
          <a:xfrm>
            <a:off x="7029450" y="3648074"/>
            <a:ext cx="4133850" cy="238126"/>
            <a:chOff x="0" y="0"/>
            <a:chExt cx="4133850" cy="238125"/>
          </a:xfrm>
        </p:grpSpPr>
        <p:sp>
          <p:nvSpPr>
            <p:cNvPr id="512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3" name="参数错误、I/O 缺失、质量门禁失败不必直接终止"/>
            <p:cNvSpPr txBox="1"/>
            <p:nvPr/>
          </p:nvSpPr>
          <p:spPr>
            <a:xfrm>
              <a:off x="0" y="-1"/>
              <a:ext cx="4133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参数错误、I/O 缺失、质量门禁失败不必直接终止</a:t>
              </a:r>
            </a:p>
          </p:txBody>
        </p:sp>
      </p:grpSp>
      <p:sp>
        <p:nvSpPr>
          <p:cNvPr id="515" name="矩形"/>
          <p:cNvSpPr/>
          <p:nvPr/>
        </p:nvSpPr>
        <p:spPr>
          <a:xfrm>
            <a:off x="6858000" y="4133850"/>
            <a:ext cx="447675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6" name="矩形"/>
          <p:cNvSpPr/>
          <p:nvPr/>
        </p:nvSpPr>
        <p:spPr>
          <a:xfrm>
            <a:off x="6858000" y="4133850"/>
            <a:ext cx="47625" cy="6667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9" name="成组"/>
          <p:cNvGrpSpPr/>
          <p:nvPr/>
        </p:nvGrpSpPr>
        <p:grpSpPr>
          <a:xfrm>
            <a:off x="7029450" y="4229099"/>
            <a:ext cx="4133850" cy="266701"/>
            <a:chOff x="0" y="0"/>
            <a:chExt cx="4133850" cy="266700"/>
          </a:xfrm>
        </p:grpSpPr>
        <p:sp>
          <p:nvSpPr>
            <p:cNvPr id="517" name="矩形"/>
            <p:cNvSpPr/>
            <p:nvPr/>
          </p:nvSpPr>
          <p:spPr>
            <a:xfrm>
              <a:off x="0" y="-1"/>
              <a:ext cx="4133850" cy="2286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18" name="关键决策需审查"/>
            <p:cNvSpPr txBox="1"/>
            <p:nvPr/>
          </p:nvSpPr>
          <p:spPr>
            <a:xfrm>
              <a:off x="0" y="0"/>
              <a:ext cx="41338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关键决策需审查</a:t>
              </a:r>
            </a:p>
          </p:txBody>
        </p:sp>
      </p:grpSp>
      <p:grpSp>
        <p:nvGrpSpPr>
          <p:cNvPr id="522" name="成组"/>
          <p:cNvGrpSpPr/>
          <p:nvPr/>
        </p:nvGrpSpPr>
        <p:grpSpPr>
          <a:xfrm>
            <a:off x="7029450" y="4486274"/>
            <a:ext cx="4133850" cy="238126"/>
            <a:chOff x="0" y="0"/>
            <a:chExt cx="4133850" cy="238125"/>
          </a:xfrm>
        </p:grpSpPr>
        <p:sp>
          <p:nvSpPr>
            <p:cNvPr id="520" name="矩形"/>
            <p:cNvSpPr/>
            <p:nvPr/>
          </p:nvSpPr>
          <p:spPr>
            <a:xfrm>
              <a:off x="0" y="0"/>
              <a:ext cx="4133850" cy="23812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21" name="高风险、高成本、不确定场景需要人工确认"/>
            <p:cNvSpPr txBox="1"/>
            <p:nvPr/>
          </p:nvSpPr>
          <p:spPr>
            <a:xfrm>
              <a:off x="0" y="-1"/>
              <a:ext cx="4133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高风险、高成本、不确定场景需要人工确认</a:t>
              </a:r>
            </a:p>
          </p:txBody>
        </p:sp>
      </p:grpSp>
      <p:grpSp>
        <p:nvGrpSpPr>
          <p:cNvPr id="525" name="成组"/>
          <p:cNvGrpSpPr/>
          <p:nvPr/>
        </p:nvGrpSpPr>
        <p:grpSpPr>
          <a:xfrm>
            <a:off x="876300" y="5600699"/>
            <a:ext cx="9906000" cy="285751"/>
            <a:chOff x="0" y="0"/>
            <a:chExt cx="9906000" cy="285750"/>
          </a:xfrm>
        </p:grpSpPr>
        <p:sp>
          <p:nvSpPr>
            <p:cNvPr id="523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24" name="研究范围：面向已有蛋白质设计工具的工作流控制层，底层模型训练不在本次工作范围内。"/>
            <p:cNvSpPr txBox="1"/>
            <p:nvPr/>
          </p:nvSpPr>
          <p:spPr>
            <a:xfrm>
              <a:off x="0" y="-1"/>
              <a:ext cx="9906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研究范围：面向已有蛋白质设计工具的工作流控制层，底层模型训练不在本次工作范围内。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52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31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52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30" name="本文解决的是工作流控制问题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本文解决的是工作流控制问题</a:t>
              </a:r>
            </a:p>
          </p:txBody>
        </p:sp>
      </p:grpSp>
      <p:grpSp>
        <p:nvGrpSpPr>
          <p:cNvPr id="534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53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533" name="SCOP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SCOPE</a:t>
              </a:r>
            </a:p>
          </p:txBody>
        </p:sp>
      </p:grpSp>
      <p:pic>
        <p:nvPicPr>
          <p:cNvPr id="53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53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60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08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60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07" name="5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609" name="矩形"/>
          <p:cNvSpPr/>
          <p:nvPr/>
        </p:nvSpPr>
        <p:spPr>
          <a:xfrm>
            <a:off x="590550" y="1190625"/>
            <a:ext cx="3714750" cy="3905250"/>
          </a:xfrm>
          <a:prstGeom prst="rect">
            <a:avLst/>
          </a:prstGeom>
          <a:solidFill>
            <a:srgbClr val="F4F8FC"/>
          </a:solidFill>
          <a:ln>
            <a:solidFill>
              <a:srgbClr val="DDE9F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2" name="成组"/>
          <p:cNvGrpSpPr/>
          <p:nvPr/>
        </p:nvGrpSpPr>
        <p:grpSpPr>
          <a:xfrm>
            <a:off x="876300" y="1504949"/>
            <a:ext cx="1714500" cy="317501"/>
            <a:chOff x="0" y="0"/>
            <a:chExt cx="1714500" cy="317500"/>
          </a:xfrm>
        </p:grpSpPr>
        <p:sp>
          <p:nvSpPr>
            <p:cNvPr id="610" name="矩形"/>
            <p:cNvSpPr/>
            <p:nvPr/>
          </p:nvSpPr>
          <p:spPr>
            <a:xfrm>
              <a:off x="0" y="-1"/>
              <a:ext cx="17145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1" name="研究边界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研究边界</a:t>
              </a:r>
            </a:p>
          </p:txBody>
        </p:sp>
      </p:grpSp>
      <p:sp>
        <p:nvSpPr>
          <p:cNvPr id="613" name="圆形"/>
          <p:cNvSpPr/>
          <p:nvPr/>
        </p:nvSpPr>
        <p:spPr>
          <a:xfrm>
            <a:off x="914400" y="21526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6" name="成组"/>
          <p:cNvGrpSpPr/>
          <p:nvPr/>
        </p:nvGrpSpPr>
        <p:grpSpPr>
          <a:xfrm>
            <a:off x="1085850" y="2095499"/>
            <a:ext cx="2686050" cy="361951"/>
            <a:chOff x="0" y="0"/>
            <a:chExt cx="2686050" cy="361950"/>
          </a:xfrm>
        </p:grpSpPr>
        <p:sp>
          <p:nvSpPr>
            <p:cNvPr id="614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5" name="不训练新的蛋白质生成模型"/>
            <p:cNvSpPr txBox="1"/>
            <p:nvPr/>
          </p:nvSpPr>
          <p:spPr>
            <a:xfrm>
              <a:off x="0" y="-1"/>
              <a:ext cx="26860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不训练新的蛋白质生成模型</a:t>
              </a:r>
            </a:p>
          </p:txBody>
        </p:sp>
      </p:grpSp>
      <p:sp>
        <p:nvSpPr>
          <p:cNvPr id="617" name="圆形"/>
          <p:cNvSpPr/>
          <p:nvPr/>
        </p:nvSpPr>
        <p:spPr>
          <a:xfrm>
            <a:off x="914400" y="27432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0" name="成组"/>
          <p:cNvGrpSpPr/>
          <p:nvPr/>
        </p:nvGrpSpPr>
        <p:grpSpPr>
          <a:xfrm>
            <a:off x="1085850" y="2686049"/>
            <a:ext cx="2686050" cy="361951"/>
            <a:chOff x="0" y="0"/>
            <a:chExt cx="2686050" cy="361950"/>
          </a:xfrm>
        </p:grpSpPr>
        <p:sp>
          <p:nvSpPr>
            <p:cNvPr id="618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19" name="不宣称湿实验验证"/>
            <p:cNvSpPr txBox="1"/>
            <p:nvPr/>
          </p:nvSpPr>
          <p:spPr>
            <a:xfrm>
              <a:off x="0" y="-1"/>
              <a:ext cx="26860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不宣称湿实验验证</a:t>
              </a:r>
            </a:p>
          </p:txBody>
        </p:sp>
      </p:grpSp>
      <p:sp>
        <p:nvSpPr>
          <p:cNvPr id="621" name="圆形"/>
          <p:cNvSpPr/>
          <p:nvPr/>
        </p:nvSpPr>
        <p:spPr>
          <a:xfrm>
            <a:off x="914400" y="33337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4" name="成组"/>
          <p:cNvGrpSpPr/>
          <p:nvPr/>
        </p:nvGrpSpPr>
        <p:grpSpPr>
          <a:xfrm>
            <a:off x="1085850" y="3276599"/>
            <a:ext cx="2686050" cy="508001"/>
            <a:chOff x="0" y="0"/>
            <a:chExt cx="2686050" cy="508000"/>
          </a:xfrm>
        </p:grpSpPr>
        <p:sp>
          <p:nvSpPr>
            <p:cNvPr id="622" name="矩形"/>
            <p:cNvSpPr/>
            <p:nvPr/>
          </p:nvSpPr>
          <p:spPr>
            <a:xfrm>
              <a:off x="0" y="-1"/>
              <a:ext cx="268605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23" name="不替代 AlphaFold / ESMFold 等工具"/>
            <p:cNvSpPr txBox="1"/>
            <p:nvPr/>
          </p:nvSpPr>
          <p:spPr>
            <a:xfrm>
              <a:off x="0" y="0"/>
              <a:ext cx="26860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不替代 AlphaFold / ESMFold 等工具</a:t>
              </a:r>
            </a:p>
          </p:txBody>
        </p:sp>
      </p:grpSp>
      <p:sp>
        <p:nvSpPr>
          <p:cNvPr id="625" name="圆形"/>
          <p:cNvSpPr/>
          <p:nvPr/>
        </p:nvSpPr>
        <p:spPr>
          <a:xfrm>
            <a:off x="914400" y="39243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8" name="成组"/>
          <p:cNvGrpSpPr/>
          <p:nvPr/>
        </p:nvGrpSpPr>
        <p:grpSpPr>
          <a:xfrm>
            <a:off x="1085850" y="3867149"/>
            <a:ext cx="2686050" cy="361951"/>
            <a:chOff x="0" y="0"/>
            <a:chExt cx="2686050" cy="361950"/>
          </a:xfrm>
        </p:grpSpPr>
        <p:sp>
          <p:nvSpPr>
            <p:cNvPr id="626" name="矩形"/>
            <p:cNvSpPr/>
            <p:nvPr/>
          </p:nvSpPr>
          <p:spPr>
            <a:xfrm>
              <a:off x="0" y="0"/>
              <a:ext cx="2686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27" name="结论限定在工作流与工程原型层"/>
            <p:cNvSpPr txBox="1"/>
            <p:nvPr/>
          </p:nvSpPr>
          <p:spPr>
            <a:xfrm>
              <a:off x="0" y="-1"/>
              <a:ext cx="26860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4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结论限定在工作流与工程原型层</a:t>
              </a:r>
            </a:p>
          </p:txBody>
        </p:sp>
      </p:grpSp>
      <p:sp>
        <p:nvSpPr>
          <p:cNvPr id="629" name="矩形"/>
          <p:cNvSpPr/>
          <p:nvPr/>
        </p:nvSpPr>
        <p:spPr>
          <a:xfrm>
            <a:off x="4762500" y="1285875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0" name="矩形"/>
          <p:cNvSpPr/>
          <p:nvPr/>
        </p:nvSpPr>
        <p:spPr>
          <a:xfrm>
            <a:off x="4762500" y="1285875"/>
            <a:ext cx="47625" cy="14763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3" name="成组"/>
          <p:cNvGrpSpPr/>
          <p:nvPr/>
        </p:nvGrpSpPr>
        <p:grpSpPr>
          <a:xfrm>
            <a:off x="4933950" y="1419224"/>
            <a:ext cx="2466975" cy="304801"/>
            <a:chOff x="0" y="0"/>
            <a:chExt cx="2466975" cy="304800"/>
          </a:xfrm>
        </p:grpSpPr>
        <p:sp>
          <p:nvSpPr>
            <p:cNvPr id="631" name="矩形"/>
            <p:cNvSpPr/>
            <p:nvPr/>
          </p:nvSpPr>
          <p:spPr>
            <a:xfrm>
              <a:off x="0" y="-1"/>
              <a:ext cx="246697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32" name="系统架构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系统架构</a:t>
              </a:r>
            </a:p>
          </p:txBody>
        </p:sp>
      </p:grpSp>
      <p:grpSp>
        <p:nvGrpSpPr>
          <p:cNvPr id="636" name="成组"/>
          <p:cNvGrpSpPr/>
          <p:nvPr/>
        </p:nvGrpSpPr>
        <p:grpSpPr>
          <a:xfrm>
            <a:off x="4933950" y="1762124"/>
            <a:ext cx="2466975" cy="904876"/>
            <a:chOff x="0" y="0"/>
            <a:chExt cx="2466975" cy="904875"/>
          </a:xfrm>
        </p:grpSpPr>
        <p:sp>
          <p:nvSpPr>
            <p:cNvPr id="634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35" name="五层架构、多 Agent、FSM/HITL"/>
            <p:cNvSpPr txBox="1"/>
            <p:nvPr/>
          </p:nvSpPr>
          <p:spPr>
            <a:xfrm>
              <a:off x="0" y="-1"/>
              <a:ext cx="2466975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五层架构、多 Agent、FSM/HITL</a:t>
              </a:r>
            </a:p>
          </p:txBody>
        </p:sp>
      </p:grpSp>
      <p:sp>
        <p:nvSpPr>
          <p:cNvPr id="637" name="矩形"/>
          <p:cNvSpPr/>
          <p:nvPr/>
        </p:nvSpPr>
        <p:spPr>
          <a:xfrm>
            <a:off x="7905750" y="1285875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8" name="矩形"/>
          <p:cNvSpPr/>
          <p:nvPr/>
        </p:nvSpPr>
        <p:spPr>
          <a:xfrm>
            <a:off x="7905750" y="1285875"/>
            <a:ext cx="47625" cy="1476375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41" name="成组"/>
          <p:cNvGrpSpPr/>
          <p:nvPr/>
        </p:nvGrpSpPr>
        <p:grpSpPr>
          <a:xfrm>
            <a:off x="8077200" y="1419224"/>
            <a:ext cx="2466975" cy="304801"/>
            <a:chOff x="0" y="0"/>
            <a:chExt cx="2466975" cy="304800"/>
          </a:xfrm>
        </p:grpSpPr>
        <p:sp>
          <p:nvSpPr>
            <p:cNvPr id="639" name="矩形"/>
            <p:cNvSpPr/>
            <p:nvPr/>
          </p:nvSpPr>
          <p:spPr>
            <a:xfrm>
              <a:off x="0" y="-1"/>
              <a:ext cx="246697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0" name="核心机制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核心机制</a:t>
              </a:r>
            </a:p>
          </p:txBody>
        </p:sp>
      </p:grpSp>
      <p:grpSp>
        <p:nvGrpSpPr>
          <p:cNvPr id="644" name="成组"/>
          <p:cNvGrpSpPr/>
          <p:nvPr/>
        </p:nvGrpSpPr>
        <p:grpSpPr>
          <a:xfrm>
            <a:off x="8077200" y="1762124"/>
            <a:ext cx="2466975" cy="904876"/>
            <a:chOff x="0" y="0"/>
            <a:chExt cx="2466975" cy="904875"/>
          </a:xfrm>
        </p:grpSpPr>
        <p:sp>
          <p:nvSpPr>
            <p:cNvPr id="642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3" name="CEBRA-WP 规划与恢复动作选择"/>
            <p:cNvSpPr txBox="1"/>
            <p:nvPr/>
          </p:nvSpPr>
          <p:spPr>
            <a:xfrm>
              <a:off x="0" y="-1"/>
              <a:ext cx="2466975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规划与恢复动作选择</a:t>
              </a:r>
            </a:p>
          </p:txBody>
        </p:sp>
      </p:grpSp>
      <p:sp>
        <p:nvSpPr>
          <p:cNvPr id="645" name="矩形"/>
          <p:cNvSpPr/>
          <p:nvPr/>
        </p:nvSpPr>
        <p:spPr>
          <a:xfrm>
            <a:off x="4762500" y="3238500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6" name="矩形"/>
          <p:cNvSpPr/>
          <p:nvPr/>
        </p:nvSpPr>
        <p:spPr>
          <a:xfrm>
            <a:off x="4762500" y="3238500"/>
            <a:ext cx="47625" cy="1476375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49" name="成组"/>
          <p:cNvGrpSpPr/>
          <p:nvPr/>
        </p:nvGrpSpPr>
        <p:grpSpPr>
          <a:xfrm>
            <a:off x="4933950" y="3371849"/>
            <a:ext cx="2466975" cy="304801"/>
            <a:chOff x="0" y="0"/>
            <a:chExt cx="2466975" cy="304800"/>
          </a:xfrm>
        </p:grpSpPr>
        <p:sp>
          <p:nvSpPr>
            <p:cNvPr id="647" name="矩形"/>
            <p:cNvSpPr/>
            <p:nvPr/>
          </p:nvSpPr>
          <p:spPr>
            <a:xfrm>
              <a:off x="0" y="-1"/>
              <a:ext cx="246697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48" name="工程实现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工程实现</a:t>
              </a:r>
            </a:p>
          </p:txBody>
        </p:sp>
      </p:grpSp>
      <p:grpSp>
        <p:nvGrpSpPr>
          <p:cNvPr id="652" name="成组"/>
          <p:cNvGrpSpPr/>
          <p:nvPr/>
        </p:nvGrpSpPr>
        <p:grpSpPr>
          <a:xfrm>
            <a:off x="4933950" y="3714749"/>
            <a:ext cx="2466975" cy="904876"/>
            <a:chOff x="0" y="0"/>
            <a:chExt cx="2466975" cy="904875"/>
          </a:xfrm>
        </p:grpSpPr>
        <p:sp>
          <p:nvSpPr>
            <p:cNvPr id="650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1" name="API / Workflow / ToolAdapter…"/>
            <p:cNvSpPr txBox="1"/>
            <p:nvPr/>
          </p:nvSpPr>
          <p:spPr>
            <a:xfrm>
              <a:off x="0" y="-1"/>
              <a:ext cx="2466975" cy="393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API / Workflow / ToolAdapter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Web 工作台</a:t>
              </a:r>
            </a:p>
          </p:txBody>
        </p:sp>
      </p:grpSp>
      <p:sp>
        <p:nvSpPr>
          <p:cNvPr id="653" name="矩形"/>
          <p:cNvSpPr/>
          <p:nvPr/>
        </p:nvSpPr>
        <p:spPr>
          <a:xfrm>
            <a:off x="7905750" y="3238500"/>
            <a:ext cx="2809875" cy="1476375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4" name="矩形"/>
          <p:cNvSpPr/>
          <p:nvPr/>
        </p:nvSpPr>
        <p:spPr>
          <a:xfrm>
            <a:off x="7905750" y="3238500"/>
            <a:ext cx="47625" cy="1476375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57" name="成组"/>
          <p:cNvGrpSpPr/>
          <p:nvPr/>
        </p:nvGrpSpPr>
        <p:grpSpPr>
          <a:xfrm>
            <a:off x="8077200" y="3371849"/>
            <a:ext cx="2466975" cy="304801"/>
            <a:chOff x="0" y="0"/>
            <a:chExt cx="2466975" cy="304800"/>
          </a:xfrm>
        </p:grpSpPr>
        <p:sp>
          <p:nvSpPr>
            <p:cNvPr id="655" name="矩形"/>
            <p:cNvSpPr/>
            <p:nvPr/>
          </p:nvSpPr>
          <p:spPr>
            <a:xfrm>
              <a:off x="0" y="-1"/>
              <a:ext cx="246697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6" name="验证实验"/>
            <p:cNvSpPr txBox="1"/>
            <p:nvPr/>
          </p:nvSpPr>
          <p:spPr>
            <a:xfrm>
              <a:off x="0" y="0"/>
              <a:ext cx="2466975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验证实验</a:t>
              </a:r>
            </a:p>
          </p:txBody>
        </p:sp>
      </p:grpSp>
      <p:grpSp>
        <p:nvGrpSpPr>
          <p:cNvPr id="660" name="成组"/>
          <p:cNvGrpSpPr/>
          <p:nvPr/>
        </p:nvGrpSpPr>
        <p:grpSpPr>
          <a:xfrm>
            <a:off x="8077200" y="3714749"/>
            <a:ext cx="2466975" cy="904876"/>
            <a:chOff x="0" y="0"/>
            <a:chExt cx="2466975" cy="904875"/>
          </a:xfrm>
        </p:grpSpPr>
        <p:sp>
          <p:nvSpPr>
            <p:cNvPr id="658" name="矩形"/>
            <p:cNvSpPr/>
            <p:nvPr/>
          </p:nvSpPr>
          <p:spPr>
            <a:xfrm>
              <a:off x="0" y="0"/>
              <a:ext cx="2466975" cy="9048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59" name="13 TC + 84 runs，证据可追溯"/>
            <p:cNvSpPr txBox="1"/>
            <p:nvPr/>
          </p:nvSpPr>
          <p:spPr>
            <a:xfrm>
              <a:off x="0" y="-1"/>
              <a:ext cx="2466975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TC + 84 runs，证据可追溯</a:t>
              </a:r>
            </a:p>
          </p:txBody>
        </p:sp>
      </p:grpSp>
      <p:grpSp>
        <p:nvGrpSpPr>
          <p:cNvPr id="663" name="成组"/>
          <p:cNvGrpSpPr/>
          <p:nvPr/>
        </p:nvGrpSpPr>
        <p:grpSpPr>
          <a:xfrm>
            <a:off x="4781550" y="5391149"/>
            <a:ext cx="6191250" cy="558801"/>
            <a:chOff x="0" y="0"/>
            <a:chExt cx="6191250" cy="558800"/>
          </a:xfrm>
        </p:grpSpPr>
        <p:sp>
          <p:nvSpPr>
            <p:cNvPr id="661" name="矩形"/>
            <p:cNvSpPr/>
            <p:nvPr/>
          </p:nvSpPr>
          <p:spPr>
            <a:xfrm>
              <a:off x="0" y="-1"/>
              <a:ext cx="6191250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62" name="本人工作量集中在：任务、工具、状态、人工决策、恢复和证据链的系统化打通。"/>
            <p:cNvSpPr txBox="1"/>
            <p:nvPr/>
          </p:nvSpPr>
          <p:spPr>
            <a:xfrm>
              <a:off x="0" y="0"/>
              <a:ext cx="6191250" cy="558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本人工作量集中在：任务、工具、状态、人工决策、恢复和证据链的系统化打通。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6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9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66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68" name="系统五层架构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系统五层架构</a:t>
              </a:r>
            </a:p>
          </p:txBody>
        </p:sp>
      </p:grpSp>
      <p:grpSp>
        <p:nvGrpSpPr>
          <p:cNvPr id="672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67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671" name="ARCHITECTUR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ARCHITECTURE</a:t>
              </a:r>
            </a:p>
          </p:txBody>
        </p:sp>
      </p:grpSp>
      <p:pic>
        <p:nvPicPr>
          <p:cNvPr id="67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8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74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6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74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45" name="6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747" name="矩形"/>
          <p:cNvSpPr/>
          <p:nvPr/>
        </p:nvSpPr>
        <p:spPr>
          <a:xfrm>
            <a:off x="476250" y="1047750"/>
            <a:ext cx="7667625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748" name="image20.png" descr="image20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52783" y="1085850"/>
            <a:ext cx="6714559" cy="4495800"/>
          </a:xfrm>
          <a:prstGeom prst="rect">
            <a:avLst/>
          </a:prstGeom>
          <a:ln w="12700">
            <a:miter lim="400000"/>
          </a:ln>
        </p:spPr>
      </p:pic>
      <p:sp>
        <p:nvSpPr>
          <p:cNvPr id="749" name="矩形"/>
          <p:cNvSpPr/>
          <p:nvPr/>
        </p:nvSpPr>
        <p:spPr>
          <a:xfrm>
            <a:off x="8458200" y="108585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矩形"/>
          <p:cNvSpPr/>
          <p:nvPr/>
        </p:nvSpPr>
        <p:spPr>
          <a:xfrm>
            <a:off x="8458200" y="1085850"/>
            <a:ext cx="47625" cy="6858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3" name="成组"/>
          <p:cNvGrpSpPr/>
          <p:nvPr/>
        </p:nvGrpSpPr>
        <p:grpSpPr>
          <a:xfrm>
            <a:off x="8629650" y="1181099"/>
            <a:ext cx="2800350" cy="215901"/>
            <a:chOff x="0" y="0"/>
            <a:chExt cx="2800350" cy="215900"/>
          </a:xfrm>
        </p:grpSpPr>
        <p:sp>
          <p:nvSpPr>
            <p:cNvPr id="751" name="矩形"/>
            <p:cNvSpPr/>
            <p:nvPr/>
          </p:nvSpPr>
          <p:spPr>
            <a:xfrm>
              <a:off x="0" y="-1"/>
              <a:ext cx="2800350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52" name="输入交互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输入交互层</a:t>
              </a:r>
            </a:p>
          </p:txBody>
        </p:sp>
      </p:grpSp>
      <p:grpSp>
        <p:nvGrpSpPr>
          <p:cNvPr id="756" name="成组"/>
          <p:cNvGrpSpPr/>
          <p:nvPr/>
        </p:nvGrpSpPr>
        <p:grpSpPr>
          <a:xfrm>
            <a:off x="8629650" y="1400174"/>
            <a:ext cx="2800350" cy="295276"/>
            <a:chOff x="0" y="0"/>
            <a:chExt cx="2800350" cy="295275"/>
          </a:xfrm>
        </p:grpSpPr>
        <p:sp>
          <p:nvSpPr>
            <p:cNvPr id="754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55" name="Web / CLI / API 与人工决策"/>
            <p:cNvSpPr txBox="1"/>
            <p:nvPr/>
          </p:nvSpPr>
          <p:spPr>
            <a:xfrm>
              <a:off x="0" y="-1"/>
              <a:ext cx="28003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/ CLI / API 与人工决策</a:t>
              </a:r>
            </a:p>
          </p:txBody>
        </p:sp>
      </p:grpSp>
      <p:sp>
        <p:nvSpPr>
          <p:cNvPr id="757" name="矩形"/>
          <p:cNvSpPr/>
          <p:nvPr/>
        </p:nvSpPr>
        <p:spPr>
          <a:xfrm>
            <a:off x="8458200" y="1952625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8" name="矩形"/>
          <p:cNvSpPr/>
          <p:nvPr/>
        </p:nvSpPr>
        <p:spPr>
          <a:xfrm>
            <a:off x="8458200" y="1952625"/>
            <a:ext cx="47625" cy="6858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1" name="成组"/>
          <p:cNvGrpSpPr/>
          <p:nvPr/>
        </p:nvGrpSpPr>
        <p:grpSpPr>
          <a:xfrm>
            <a:off x="8629650" y="2047874"/>
            <a:ext cx="2800350" cy="215901"/>
            <a:chOff x="0" y="0"/>
            <a:chExt cx="2800350" cy="215900"/>
          </a:xfrm>
        </p:grpSpPr>
        <p:sp>
          <p:nvSpPr>
            <p:cNvPr id="759" name="矩形"/>
            <p:cNvSpPr/>
            <p:nvPr/>
          </p:nvSpPr>
          <p:spPr>
            <a:xfrm>
              <a:off x="0" y="-1"/>
              <a:ext cx="2800350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0" name="智能规划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智能规划层</a:t>
              </a:r>
            </a:p>
          </p:txBody>
        </p:sp>
      </p:grpSp>
      <p:grpSp>
        <p:nvGrpSpPr>
          <p:cNvPr id="764" name="成组"/>
          <p:cNvGrpSpPr/>
          <p:nvPr/>
        </p:nvGrpSpPr>
        <p:grpSpPr>
          <a:xfrm>
            <a:off x="8629650" y="2266949"/>
            <a:ext cx="2800350" cy="295276"/>
            <a:chOff x="0" y="0"/>
            <a:chExt cx="2800350" cy="295275"/>
          </a:xfrm>
        </p:grpSpPr>
        <p:sp>
          <p:nvSpPr>
            <p:cNvPr id="762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3" name="PlannerAgent、ProteinToolKG、CEBRA-WP"/>
            <p:cNvSpPr txBox="1"/>
            <p:nvPr/>
          </p:nvSpPr>
          <p:spPr>
            <a:xfrm>
              <a:off x="0" y="-1"/>
              <a:ext cx="28003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PlannerAgent、ProteinToolKG、CEBRA-WP</a:t>
              </a:r>
            </a:p>
          </p:txBody>
        </p:sp>
      </p:grpSp>
      <p:sp>
        <p:nvSpPr>
          <p:cNvPr id="765" name="矩形"/>
          <p:cNvSpPr/>
          <p:nvPr/>
        </p:nvSpPr>
        <p:spPr>
          <a:xfrm>
            <a:off x="8458200" y="281940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6" name="矩形"/>
          <p:cNvSpPr/>
          <p:nvPr/>
        </p:nvSpPr>
        <p:spPr>
          <a:xfrm>
            <a:off x="8458200" y="2819400"/>
            <a:ext cx="47625" cy="6858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9" name="成组"/>
          <p:cNvGrpSpPr/>
          <p:nvPr/>
        </p:nvGrpSpPr>
        <p:grpSpPr>
          <a:xfrm>
            <a:off x="8629650" y="2914649"/>
            <a:ext cx="2800350" cy="215901"/>
            <a:chOff x="0" y="0"/>
            <a:chExt cx="2800350" cy="215900"/>
          </a:xfrm>
        </p:grpSpPr>
        <p:sp>
          <p:nvSpPr>
            <p:cNvPr id="767" name="矩形"/>
            <p:cNvSpPr/>
            <p:nvPr/>
          </p:nvSpPr>
          <p:spPr>
            <a:xfrm>
              <a:off x="0" y="-1"/>
              <a:ext cx="2800350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68" name="工作流执行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工作流执行层</a:t>
              </a:r>
            </a:p>
          </p:txBody>
        </p:sp>
      </p:grpSp>
      <p:grpSp>
        <p:nvGrpSpPr>
          <p:cNvPr id="772" name="成组"/>
          <p:cNvGrpSpPr/>
          <p:nvPr/>
        </p:nvGrpSpPr>
        <p:grpSpPr>
          <a:xfrm>
            <a:off x="8629650" y="3133724"/>
            <a:ext cx="2800350" cy="295276"/>
            <a:chOff x="0" y="0"/>
            <a:chExt cx="2800350" cy="295275"/>
          </a:xfrm>
        </p:grpSpPr>
        <p:sp>
          <p:nvSpPr>
            <p:cNvPr id="770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1" name="ExecutorAgent、PlanRunner、StepRunner"/>
            <p:cNvSpPr txBox="1"/>
            <p:nvPr/>
          </p:nvSpPr>
          <p:spPr>
            <a:xfrm>
              <a:off x="0" y="-1"/>
              <a:ext cx="28003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ExecutorAgent、PlanRunner、StepRunner</a:t>
              </a:r>
            </a:p>
          </p:txBody>
        </p:sp>
      </p:grpSp>
      <p:sp>
        <p:nvSpPr>
          <p:cNvPr id="773" name="矩形"/>
          <p:cNvSpPr/>
          <p:nvPr/>
        </p:nvSpPr>
        <p:spPr>
          <a:xfrm>
            <a:off x="8458200" y="3686175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4" name="矩形"/>
          <p:cNvSpPr/>
          <p:nvPr/>
        </p:nvSpPr>
        <p:spPr>
          <a:xfrm>
            <a:off x="8458200" y="3686175"/>
            <a:ext cx="47625" cy="6858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77" name="成组"/>
          <p:cNvGrpSpPr/>
          <p:nvPr/>
        </p:nvGrpSpPr>
        <p:grpSpPr>
          <a:xfrm>
            <a:off x="8629650" y="3781424"/>
            <a:ext cx="2800350" cy="215901"/>
            <a:chOff x="0" y="0"/>
            <a:chExt cx="2800350" cy="215900"/>
          </a:xfrm>
        </p:grpSpPr>
        <p:sp>
          <p:nvSpPr>
            <p:cNvPr id="775" name="矩形"/>
            <p:cNvSpPr/>
            <p:nvPr/>
          </p:nvSpPr>
          <p:spPr>
            <a:xfrm>
              <a:off x="0" y="-1"/>
              <a:ext cx="2800350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6" name="安全与汇总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安全与汇总层</a:t>
              </a:r>
            </a:p>
          </p:txBody>
        </p:sp>
      </p:grpSp>
      <p:grpSp>
        <p:nvGrpSpPr>
          <p:cNvPr id="780" name="成组"/>
          <p:cNvGrpSpPr/>
          <p:nvPr/>
        </p:nvGrpSpPr>
        <p:grpSpPr>
          <a:xfrm>
            <a:off x="8629650" y="4000499"/>
            <a:ext cx="2800350" cy="295276"/>
            <a:chOff x="0" y="0"/>
            <a:chExt cx="2800350" cy="295275"/>
          </a:xfrm>
        </p:grpSpPr>
        <p:sp>
          <p:nvSpPr>
            <p:cNvPr id="778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79" name="SafetyAgent、SummarizerAgent"/>
            <p:cNvSpPr txBox="1"/>
            <p:nvPr/>
          </p:nvSpPr>
          <p:spPr>
            <a:xfrm>
              <a:off x="0" y="-1"/>
              <a:ext cx="28003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SafetyAgent、SummarizerAgent</a:t>
              </a:r>
            </a:p>
          </p:txBody>
        </p:sp>
      </p:grpSp>
      <p:sp>
        <p:nvSpPr>
          <p:cNvPr id="781" name="矩形"/>
          <p:cNvSpPr/>
          <p:nvPr/>
        </p:nvSpPr>
        <p:spPr>
          <a:xfrm>
            <a:off x="8458200" y="4552950"/>
            <a:ext cx="31432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2" name="矩形"/>
          <p:cNvSpPr/>
          <p:nvPr/>
        </p:nvSpPr>
        <p:spPr>
          <a:xfrm>
            <a:off x="8458200" y="4552950"/>
            <a:ext cx="47625" cy="6858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85" name="成组"/>
          <p:cNvGrpSpPr/>
          <p:nvPr/>
        </p:nvGrpSpPr>
        <p:grpSpPr>
          <a:xfrm>
            <a:off x="8629650" y="4648199"/>
            <a:ext cx="2800350" cy="215901"/>
            <a:chOff x="0" y="0"/>
            <a:chExt cx="2800350" cy="215900"/>
          </a:xfrm>
        </p:grpSpPr>
        <p:sp>
          <p:nvSpPr>
            <p:cNvPr id="783" name="矩形"/>
            <p:cNvSpPr/>
            <p:nvPr/>
          </p:nvSpPr>
          <p:spPr>
            <a:xfrm>
              <a:off x="0" y="-1"/>
              <a:ext cx="2800350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84" name="资源层"/>
            <p:cNvSpPr txBox="1"/>
            <p:nvPr/>
          </p:nvSpPr>
          <p:spPr>
            <a:xfrm>
              <a:off x="0" y="0"/>
              <a:ext cx="280035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资源层</a:t>
              </a:r>
            </a:p>
          </p:txBody>
        </p:sp>
      </p:grpSp>
      <p:grpSp>
        <p:nvGrpSpPr>
          <p:cNvPr id="788" name="成组"/>
          <p:cNvGrpSpPr/>
          <p:nvPr/>
        </p:nvGrpSpPr>
        <p:grpSpPr>
          <a:xfrm>
            <a:off x="8629650" y="4867274"/>
            <a:ext cx="2800350" cy="295276"/>
            <a:chOff x="0" y="0"/>
            <a:chExt cx="2800350" cy="295275"/>
          </a:xfrm>
        </p:grpSpPr>
        <p:sp>
          <p:nvSpPr>
            <p:cNvPr id="786" name="矩形"/>
            <p:cNvSpPr/>
            <p:nvPr/>
          </p:nvSpPr>
          <p:spPr>
            <a:xfrm>
              <a:off x="0" y="0"/>
              <a:ext cx="2800350" cy="2952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87" name="ToolAdapter、KG、日志、快照、产物"/>
            <p:cNvSpPr txBox="1"/>
            <p:nvPr/>
          </p:nvSpPr>
          <p:spPr>
            <a:xfrm>
              <a:off x="0" y="-1"/>
              <a:ext cx="28003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ToolAdapter、KG、日志、快照、产物</a:t>
              </a:r>
            </a:p>
          </p:txBody>
        </p:sp>
      </p:grpSp>
      <p:grpSp>
        <p:nvGrpSpPr>
          <p:cNvPr id="791" name="成组"/>
          <p:cNvGrpSpPr/>
          <p:nvPr/>
        </p:nvGrpSpPr>
        <p:grpSpPr>
          <a:xfrm>
            <a:off x="704850" y="5829299"/>
            <a:ext cx="10477500" cy="285751"/>
            <a:chOff x="0" y="0"/>
            <a:chExt cx="10477500" cy="285750"/>
          </a:xfrm>
        </p:grpSpPr>
        <p:sp>
          <p:nvSpPr>
            <p:cNvPr id="789" name="矩形"/>
            <p:cNvSpPr/>
            <p:nvPr/>
          </p:nvSpPr>
          <p:spPr>
            <a:xfrm>
              <a:off x="0" y="0"/>
              <a:ext cx="10477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0" name="架构原则：规划不执行工具，执行不越过 FSM，安全不改计划，汇总不重新计算。"/>
            <p:cNvSpPr txBox="1"/>
            <p:nvPr/>
          </p:nvSpPr>
          <p:spPr>
            <a:xfrm>
              <a:off x="0" y="-1"/>
              <a:ext cx="104775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架构原则：规划不执行工具，执行不越过 FSM，安全不改计划，汇总不重新计算。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794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7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795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6" name="多 Agent 协作如何避免越权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多 Agent 协作如何避免越权</a:t>
              </a:r>
            </a:p>
          </p:txBody>
        </p:sp>
      </p:grpSp>
      <p:grpSp>
        <p:nvGrpSpPr>
          <p:cNvPr id="800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798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799" name="CONTRACTS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CONTRACTS</a:t>
              </a:r>
            </a:p>
          </p:txBody>
        </p:sp>
      </p:grpSp>
      <p:pic>
        <p:nvPicPr>
          <p:cNvPr id="801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02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3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4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5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6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7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8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9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0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1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2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3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4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5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6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7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8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0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1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2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3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4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5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6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7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8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9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1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2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3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4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5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6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8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9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0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1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2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3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9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0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1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2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3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4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6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7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8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9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0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1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2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3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4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5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6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7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8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9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0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871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74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872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73" name="7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877" name="成组"/>
          <p:cNvGrpSpPr/>
          <p:nvPr/>
        </p:nvGrpSpPr>
        <p:grpSpPr>
          <a:xfrm>
            <a:off x="666750" y="1066799"/>
            <a:ext cx="1714500" cy="317501"/>
            <a:chOff x="0" y="0"/>
            <a:chExt cx="1714500" cy="317500"/>
          </a:xfrm>
        </p:grpSpPr>
        <p:sp>
          <p:nvSpPr>
            <p:cNvPr id="875" name="矩形"/>
            <p:cNvSpPr/>
            <p:nvPr/>
          </p:nvSpPr>
          <p:spPr>
            <a:xfrm>
              <a:off x="0" y="-1"/>
              <a:ext cx="17145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76" name="职责边界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职责边界</a:t>
              </a:r>
            </a:p>
          </p:txBody>
        </p:sp>
      </p:grpSp>
      <p:sp>
        <p:nvSpPr>
          <p:cNvPr id="878" name="矩形"/>
          <p:cNvSpPr/>
          <p:nvPr/>
        </p:nvSpPr>
        <p:spPr>
          <a:xfrm>
            <a:off x="666750" y="1524000"/>
            <a:ext cx="6667500" cy="628650"/>
          </a:xfrm>
          <a:prstGeom prst="rect">
            <a:avLst/>
          </a:prstGeom>
          <a:solidFill>
            <a:srgbClr val="F4F8FC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81" name="成组"/>
          <p:cNvGrpSpPr/>
          <p:nvPr/>
        </p:nvGrpSpPr>
        <p:grpSpPr>
          <a:xfrm>
            <a:off x="895350" y="1695449"/>
            <a:ext cx="1524000" cy="247651"/>
            <a:chOff x="0" y="0"/>
            <a:chExt cx="1524000" cy="247650"/>
          </a:xfrm>
        </p:grpSpPr>
        <p:sp>
          <p:nvSpPr>
            <p:cNvPr id="87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0" name="PlannerAgent"/>
            <p:cNvSpPr txBox="1"/>
            <p:nvPr/>
          </p:nvSpPr>
          <p:spPr>
            <a:xfrm>
              <a:off x="0" y="-1"/>
              <a:ext cx="1524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PlannerAgent</a:t>
              </a:r>
            </a:p>
          </p:txBody>
        </p:sp>
      </p:grpSp>
      <p:grpSp>
        <p:nvGrpSpPr>
          <p:cNvPr id="884" name="成组"/>
          <p:cNvGrpSpPr/>
          <p:nvPr/>
        </p:nvGrpSpPr>
        <p:grpSpPr>
          <a:xfrm>
            <a:off x="2667000" y="1666874"/>
            <a:ext cx="2286000" cy="323851"/>
            <a:chOff x="0" y="0"/>
            <a:chExt cx="2286000" cy="323850"/>
          </a:xfrm>
        </p:grpSpPr>
        <p:sp>
          <p:nvSpPr>
            <p:cNvPr id="88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3" name="生成 Plan / Patch / Replan 候选"/>
            <p:cNvSpPr txBox="1"/>
            <p:nvPr/>
          </p:nvSpPr>
          <p:spPr>
            <a:xfrm>
              <a:off x="0" y="-1"/>
              <a:ext cx="2286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生成 Plan / Patch / Replan 候选</a:t>
              </a:r>
            </a:p>
          </p:txBody>
        </p:sp>
      </p:grpSp>
      <p:grpSp>
        <p:nvGrpSpPr>
          <p:cNvPr id="887" name="成组"/>
          <p:cNvGrpSpPr/>
          <p:nvPr/>
        </p:nvGrpSpPr>
        <p:grpSpPr>
          <a:xfrm>
            <a:off x="5105400" y="1666874"/>
            <a:ext cx="2000250" cy="406401"/>
            <a:chOff x="0" y="0"/>
            <a:chExt cx="2000250" cy="406400"/>
          </a:xfrm>
        </p:grpSpPr>
        <p:sp>
          <p:nvSpPr>
            <p:cNvPr id="885" name="矩形"/>
            <p:cNvSpPr/>
            <p:nvPr/>
          </p:nvSpPr>
          <p:spPr>
            <a:xfrm>
              <a:off x="0" y="-1"/>
              <a:ext cx="2000250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86" name="不直接执行工具，不自行确认计划"/>
            <p:cNvSpPr txBox="1"/>
            <p:nvPr/>
          </p:nvSpPr>
          <p:spPr>
            <a:xfrm>
              <a:off x="0" y="0"/>
              <a:ext cx="20002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不直接执行工具，不自行确认计划</a:t>
              </a:r>
            </a:p>
          </p:txBody>
        </p:sp>
      </p:grpSp>
      <p:sp>
        <p:nvSpPr>
          <p:cNvPr id="888" name="矩形"/>
          <p:cNvSpPr/>
          <p:nvPr/>
        </p:nvSpPr>
        <p:spPr>
          <a:xfrm>
            <a:off x="666750" y="2362200"/>
            <a:ext cx="6667500" cy="628650"/>
          </a:xfrm>
          <a:prstGeom prst="rect">
            <a:avLst/>
          </a:prstGeom>
          <a:solidFill>
            <a:srgbClr val="FFFFFF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91" name="成组"/>
          <p:cNvGrpSpPr/>
          <p:nvPr/>
        </p:nvGrpSpPr>
        <p:grpSpPr>
          <a:xfrm>
            <a:off x="895350" y="2533649"/>
            <a:ext cx="1524000" cy="247651"/>
            <a:chOff x="0" y="0"/>
            <a:chExt cx="1524000" cy="247650"/>
          </a:xfrm>
        </p:grpSpPr>
        <p:sp>
          <p:nvSpPr>
            <p:cNvPr id="88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0" name="ExecutorAgent"/>
            <p:cNvSpPr txBox="1"/>
            <p:nvPr/>
          </p:nvSpPr>
          <p:spPr>
            <a:xfrm>
              <a:off x="0" y="-1"/>
              <a:ext cx="1524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ExecutorAgent</a:t>
              </a:r>
            </a:p>
          </p:txBody>
        </p:sp>
      </p:grpSp>
      <p:grpSp>
        <p:nvGrpSpPr>
          <p:cNvPr id="894" name="成组"/>
          <p:cNvGrpSpPr/>
          <p:nvPr/>
        </p:nvGrpSpPr>
        <p:grpSpPr>
          <a:xfrm>
            <a:off x="2667000" y="2505074"/>
            <a:ext cx="2286000" cy="323851"/>
            <a:chOff x="0" y="0"/>
            <a:chExt cx="2286000" cy="323850"/>
          </a:xfrm>
        </p:grpSpPr>
        <p:sp>
          <p:nvSpPr>
            <p:cNvPr id="89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3" name="执行已确认 PlanStep，检测失败"/>
            <p:cNvSpPr txBox="1"/>
            <p:nvPr/>
          </p:nvSpPr>
          <p:spPr>
            <a:xfrm>
              <a:off x="0" y="-1"/>
              <a:ext cx="2286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执行已确认 PlanStep，检测失败</a:t>
              </a:r>
            </a:p>
          </p:txBody>
        </p:sp>
      </p:grpSp>
      <p:grpSp>
        <p:nvGrpSpPr>
          <p:cNvPr id="897" name="成组"/>
          <p:cNvGrpSpPr/>
          <p:nvPr/>
        </p:nvGrpSpPr>
        <p:grpSpPr>
          <a:xfrm>
            <a:off x="5105400" y="2505074"/>
            <a:ext cx="2000250" cy="323851"/>
            <a:chOff x="0" y="0"/>
            <a:chExt cx="2000250" cy="323850"/>
          </a:xfrm>
        </p:grpSpPr>
        <p:sp>
          <p:nvSpPr>
            <p:cNvPr id="89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896" name="WAITING_* 下不继续调用工具"/>
            <p:cNvSpPr txBox="1"/>
            <p:nvPr/>
          </p:nvSpPr>
          <p:spPr>
            <a:xfrm>
              <a:off x="0" y="-1"/>
              <a:ext cx="2000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WAITING_* 下不继续调用工具</a:t>
              </a:r>
            </a:p>
          </p:txBody>
        </p:sp>
      </p:grpSp>
      <p:sp>
        <p:nvSpPr>
          <p:cNvPr id="898" name="矩形"/>
          <p:cNvSpPr/>
          <p:nvPr/>
        </p:nvSpPr>
        <p:spPr>
          <a:xfrm>
            <a:off x="666750" y="3200400"/>
            <a:ext cx="6667500" cy="628650"/>
          </a:xfrm>
          <a:prstGeom prst="rect">
            <a:avLst/>
          </a:prstGeom>
          <a:solidFill>
            <a:srgbClr val="F4F8FC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01" name="成组"/>
          <p:cNvGrpSpPr/>
          <p:nvPr/>
        </p:nvGrpSpPr>
        <p:grpSpPr>
          <a:xfrm>
            <a:off x="895350" y="3371849"/>
            <a:ext cx="1524000" cy="247651"/>
            <a:chOff x="0" y="0"/>
            <a:chExt cx="1524000" cy="247650"/>
          </a:xfrm>
        </p:grpSpPr>
        <p:sp>
          <p:nvSpPr>
            <p:cNvPr id="89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0" name="SafetyAgent"/>
            <p:cNvSpPr txBox="1"/>
            <p:nvPr/>
          </p:nvSpPr>
          <p:spPr>
            <a:xfrm>
              <a:off x="0" y="-1"/>
              <a:ext cx="1524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SafetyAgent</a:t>
              </a:r>
            </a:p>
          </p:txBody>
        </p:sp>
      </p:grpSp>
      <p:grpSp>
        <p:nvGrpSpPr>
          <p:cNvPr id="904" name="成组"/>
          <p:cNvGrpSpPr/>
          <p:nvPr/>
        </p:nvGrpSpPr>
        <p:grpSpPr>
          <a:xfrm>
            <a:off x="2667000" y="3343274"/>
            <a:ext cx="2286000" cy="323851"/>
            <a:chOff x="0" y="0"/>
            <a:chExt cx="2286000" cy="323850"/>
          </a:xfrm>
        </p:grpSpPr>
        <p:sp>
          <p:nvSpPr>
            <p:cNvPr id="90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3" name="输出 ok / warn / block 风险信号"/>
            <p:cNvSpPr txBox="1"/>
            <p:nvPr/>
          </p:nvSpPr>
          <p:spPr>
            <a:xfrm>
              <a:off x="0" y="-1"/>
              <a:ext cx="2286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输出 ok / warn / block 风险信号</a:t>
              </a:r>
            </a:p>
          </p:txBody>
        </p:sp>
      </p:grpSp>
      <p:grpSp>
        <p:nvGrpSpPr>
          <p:cNvPr id="907" name="成组"/>
          <p:cNvGrpSpPr/>
          <p:nvPr/>
        </p:nvGrpSpPr>
        <p:grpSpPr>
          <a:xfrm>
            <a:off x="5105400" y="3343274"/>
            <a:ext cx="2000250" cy="323851"/>
            <a:chOff x="0" y="0"/>
            <a:chExt cx="2000250" cy="323850"/>
          </a:xfrm>
        </p:grpSpPr>
        <p:sp>
          <p:nvSpPr>
            <p:cNvPr id="90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06" name="不直接修改 Plan 或终止任务"/>
            <p:cNvSpPr txBox="1"/>
            <p:nvPr/>
          </p:nvSpPr>
          <p:spPr>
            <a:xfrm>
              <a:off x="0" y="-1"/>
              <a:ext cx="2000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不直接修改 Plan 或终止任务</a:t>
              </a:r>
            </a:p>
          </p:txBody>
        </p:sp>
      </p:grpSp>
      <p:sp>
        <p:nvSpPr>
          <p:cNvPr id="908" name="矩形"/>
          <p:cNvSpPr/>
          <p:nvPr/>
        </p:nvSpPr>
        <p:spPr>
          <a:xfrm>
            <a:off x="666750" y="4038600"/>
            <a:ext cx="6667500" cy="628650"/>
          </a:xfrm>
          <a:prstGeom prst="rect">
            <a:avLst/>
          </a:prstGeom>
          <a:solidFill>
            <a:srgbClr val="FFFFFF"/>
          </a:solidFill>
          <a:ln>
            <a:solidFill>
              <a:srgbClr val="DCE7F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1" name="成组"/>
          <p:cNvGrpSpPr/>
          <p:nvPr/>
        </p:nvGrpSpPr>
        <p:grpSpPr>
          <a:xfrm>
            <a:off x="895350" y="4210049"/>
            <a:ext cx="1524000" cy="247651"/>
            <a:chOff x="0" y="0"/>
            <a:chExt cx="1524000" cy="247650"/>
          </a:xfrm>
        </p:grpSpPr>
        <p:sp>
          <p:nvSpPr>
            <p:cNvPr id="909" name="矩形"/>
            <p:cNvSpPr/>
            <p:nvPr/>
          </p:nvSpPr>
          <p:spPr>
            <a:xfrm>
              <a:off x="0" y="0"/>
              <a:ext cx="1524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0" name="SummarizerAgent"/>
            <p:cNvSpPr txBox="1"/>
            <p:nvPr/>
          </p:nvSpPr>
          <p:spPr>
            <a:xfrm>
              <a:off x="0" y="-1"/>
              <a:ext cx="1524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SummarizerAgent</a:t>
              </a:r>
            </a:p>
          </p:txBody>
        </p:sp>
      </p:grpSp>
      <p:grpSp>
        <p:nvGrpSpPr>
          <p:cNvPr id="914" name="成组"/>
          <p:cNvGrpSpPr/>
          <p:nvPr/>
        </p:nvGrpSpPr>
        <p:grpSpPr>
          <a:xfrm>
            <a:off x="2667000" y="4181474"/>
            <a:ext cx="2286000" cy="323851"/>
            <a:chOff x="0" y="0"/>
            <a:chExt cx="2286000" cy="323850"/>
          </a:xfrm>
        </p:grpSpPr>
        <p:sp>
          <p:nvSpPr>
            <p:cNvPr id="912" name="矩形"/>
            <p:cNvSpPr/>
            <p:nvPr/>
          </p:nvSpPr>
          <p:spPr>
            <a:xfrm>
              <a:off x="0" y="0"/>
              <a:ext cx="2286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3" name="汇总 DesignResult 与报告"/>
            <p:cNvSpPr txBox="1"/>
            <p:nvPr/>
          </p:nvSpPr>
          <p:spPr>
            <a:xfrm>
              <a:off x="0" y="-1"/>
              <a:ext cx="2286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汇总 DesignResult 与报告</a:t>
              </a:r>
            </a:p>
          </p:txBody>
        </p:sp>
      </p:grpSp>
      <p:grpSp>
        <p:nvGrpSpPr>
          <p:cNvPr id="917" name="成组"/>
          <p:cNvGrpSpPr/>
          <p:nvPr/>
        </p:nvGrpSpPr>
        <p:grpSpPr>
          <a:xfrm>
            <a:off x="5105400" y="4181474"/>
            <a:ext cx="2000250" cy="323851"/>
            <a:chOff x="0" y="0"/>
            <a:chExt cx="2000250" cy="323850"/>
          </a:xfrm>
        </p:grpSpPr>
        <p:sp>
          <p:nvSpPr>
            <p:cNvPr id="915" name="矩形"/>
            <p:cNvSpPr/>
            <p:nvPr/>
          </p:nvSpPr>
          <p:spPr>
            <a:xfrm>
              <a:off x="0" y="0"/>
              <a:ext cx="20002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6" name="不把未验证推断写成结论"/>
            <p:cNvSpPr txBox="1"/>
            <p:nvPr/>
          </p:nvSpPr>
          <p:spPr>
            <a:xfrm>
              <a:off x="0" y="-1"/>
              <a:ext cx="2000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不把未验证推断写成结论</a:t>
              </a:r>
            </a:p>
          </p:txBody>
        </p:sp>
      </p:grpSp>
      <p:grpSp>
        <p:nvGrpSpPr>
          <p:cNvPr id="920" name="成组"/>
          <p:cNvGrpSpPr/>
          <p:nvPr/>
        </p:nvGrpSpPr>
        <p:grpSpPr>
          <a:xfrm>
            <a:off x="7810500" y="1066799"/>
            <a:ext cx="1714500" cy="317501"/>
            <a:chOff x="0" y="0"/>
            <a:chExt cx="1714500" cy="317500"/>
          </a:xfrm>
        </p:grpSpPr>
        <p:sp>
          <p:nvSpPr>
            <p:cNvPr id="918" name="矩形"/>
            <p:cNvSpPr/>
            <p:nvPr/>
          </p:nvSpPr>
          <p:spPr>
            <a:xfrm>
              <a:off x="0" y="-1"/>
              <a:ext cx="17145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19" name="核心契约"/>
            <p:cNvSpPr txBox="1"/>
            <p:nvPr/>
          </p:nvSpPr>
          <p:spPr>
            <a:xfrm>
              <a:off x="0" y="0"/>
              <a:ext cx="17145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核心契约</a:t>
              </a:r>
            </a:p>
          </p:txBody>
        </p:sp>
      </p:grpSp>
      <p:sp>
        <p:nvSpPr>
          <p:cNvPr id="921" name="矩形"/>
          <p:cNvSpPr/>
          <p:nvPr/>
        </p:nvSpPr>
        <p:spPr>
          <a:xfrm>
            <a:off x="7858125" y="15240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4" name="成组"/>
          <p:cNvGrpSpPr/>
          <p:nvPr/>
        </p:nvGrpSpPr>
        <p:grpSpPr>
          <a:xfrm>
            <a:off x="7953375" y="1581149"/>
            <a:ext cx="2762250" cy="171451"/>
            <a:chOff x="0" y="0"/>
            <a:chExt cx="2762250" cy="171450"/>
          </a:xfrm>
        </p:grpSpPr>
        <p:sp>
          <p:nvSpPr>
            <p:cNvPr id="922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23" name="ProteinDesignTask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ProteinDesignTask</a:t>
              </a:r>
            </a:p>
          </p:txBody>
        </p:sp>
      </p:grpSp>
      <p:sp>
        <p:nvSpPr>
          <p:cNvPr id="925" name="矩形"/>
          <p:cNvSpPr/>
          <p:nvPr/>
        </p:nvSpPr>
        <p:spPr>
          <a:xfrm>
            <a:off x="7858125" y="20193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8" name="成组"/>
          <p:cNvGrpSpPr/>
          <p:nvPr/>
        </p:nvGrpSpPr>
        <p:grpSpPr>
          <a:xfrm>
            <a:off x="7953375" y="2076449"/>
            <a:ext cx="2762250" cy="171451"/>
            <a:chOff x="0" y="0"/>
            <a:chExt cx="2762250" cy="171450"/>
          </a:xfrm>
        </p:grpSpPr>
        <p:sp>
          <p:nvSpPr>
            <p:cNvPr id="926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27" name="PlanCandidate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PlanCandidate</a:t>
              </a:r>
            </a:p>
          </p:txBody>
        </p:sp>
      </p:grpSp>
      <p:sp>
        <p:nvSpPr>
          <p:cNvPr id="929" name="矩形"/>
          <p:cNvSpPr/>
          <p:nvPr/>
        </p:nvSpPr>
        <p:spPr>
          <a:xfrm>
            <a:off x="7858125" y="2514600"/>
            <a:ext cx="2952750" cy="285750"/>
          </a:xfrm>
          <a:prstGeom prst="rect">
            <a:avLst/>
          </a:prstGeom>
          <a:solidFill>
            <a:srgbClr val="EAF4FF"/>
          </a:solidFill>
          <a:ln>
            <a:solidFill>
              <a:srgbClr val="C8E2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2" name="成组"/>
          <p:cNvGrpSpPr/>
          <p:nvPr/>
        </p:nvGrpSpPr>
        <p:grpSpPr>
          <a:xfrm>
            <a:off x="7953375" y="2571749"/>
            <a:ext cx="2762250" cy="171451"/>
            <a:chOff x="0" y="0"/>
            <a:chExt cx="2762250" cy="171450"/>
          </a:xfrm>
        </p:grpSpPr>
        <p:sp>
          <p:nvSpPr>
            <p:cNvPr id="930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1" name="StepResult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StepResult</a:t>
              </a:r>
            </a:p>
          </p:txBody>
        </p:sp>
      </p:grpSp>
      <p:sp>
        <p:nvSpPr>
          <p:cNvPr id="933" name="矩形"/>
          <p:cNvSpPr/>
          <p:nvPr/>
        </p:nvSpPr>
        <p:spPr>
          <a:xfrm>
            <a:off x="7858125" y="30099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6" name="成组"/>
          <p:cNvGrpSpPr/>
          <p:nvPr/>
        </p:nvGrpSpPr>
        <p:grpSpPr>
          <a:xfrm>
            <a:off x="7953375" y="3067049"/>
            <a:ext cx="2762250" cy="171451"/>
            <a:chOff x="0" y="0"/>
            <a:chExt cx="2762250" cy="171450"/>
          </a:xfrm>
        </p:grpSpPr>
        <p:sp>
          <p:nvSpPr>
            <p:cNvPr id="934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5" name="PendingAction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PendingAction</a:t>
              </a:r>
            </a:p>
          </p:txBody>
        </p:sp>
      </p:grpSp>
      <p:sp>
        <p:nvSpPr>
          <p:cNvPr id="937" name="矩形"/>
          <p:cNvSpPr/>
          <p:nvPr/>
        </p:nvSpPr>
        <p:spPr>
          <a:xfrm>
            <a:off x="7858125" y="35052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40" name="成组"/>
          <p:cNvGrpSpPr/>
          <p:nvPr/>
        </p:nvGrpSpPr>
        <p:grpSpPr>
          <a:xfrm>
            <a:off x="7953375" y="3562349"/>
            <a:ext cx="2762250" cy="171451"/>
            <a:chOff x="0" y="0"/>
            <a:chExt cx="2762250" cy="171450"/>
          </a:xfrm>
        </p:grpSpPr>
        <p:sp>
          <p:nvSpPr>
            <p:cNvPr id="938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39" name="Decision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Decision</a:t>
              </a:r>
            </a:p>
          </p:txBody>
        </p:sp>
      </p:grpSp>
      <p:sp>
        <p:nvSpPr>
          <p:cNvPr id="941" name="矩形"/>
          <p:cNvSpPr/>
          <p:nvPr/>
        </p:nvSpPr>
        <p:spPr>
          <a:xfrm>
            <a:off x="7858125" y="4000500"/>
            <a:ext cx="2952750" cy="285750"/>
          </a:xfrm>
          <a:prstGeom prst="rect">
            <a:avLst/>
          </a:prstGeom>
          <a:solidFill>
            <a:srgbClr val="FFF7E8"/>
          </a:solidFill>
          <a:ln>
            <a:solidFill>
              <a:srgbClr val="EBD7A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44" name="成组"/>
          <p:cNvGrpSpPr/>
          <p:nvPr/>
        </p:nvGrpSpPr>
        <p:grpSpPr>
          <a:xfrm>
            <a:off x="7953375" y="4057649"/>
            <a:ext cx="2762250" cy="171451"/>
            <a:chOff x="0" y="0"/>
            <a:chExt cx="2762250" cy="171450"/>
          </a:xfrm>
        </p:grpSpPr>
        <p:sp>
          <p:nvSpPr>
            <p:cNvPr id="942" name="矩形"/>
            <p:cNvSpPr/>
            <p:nvPr/>
          </p:nvSpPr>
          <p:spPr>
            <a:xfrm>
              <a:off x="0" y="0"/>
              <a:ext cx="2762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43" name="TaskSnapshot"/>
            <p:cNvSpPr txBox="1"/>
            <p:nvPr/>
          </p:nvSpPr>
          <p:spPr>
            <a:xfrm>
              <a:off x="0" y="-1"/>
              <a:ext cx="2762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8A5A0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TaskSnapshot</a:t>
              </a:r>
            </a:p>
          </p:txBody>
        </p:sp>
      </p:grpSp>
      <p:sp>
        <p:nvSpPr>
          <p:cNvPr id="945" name="矩形"/>
          <p:cNvSpPr/>
          <p:nvPr/>
        </p:nvSpPr>
        <p:spPr>
          <a:xfrm>
            <a:off x="7791450" y="4724400"/>
            <a:ext cx="3143250" cy="1047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946" name="image24.png" descr="image24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525056" y="4762500"/>
            <a:ext cx="1676041" cy="9715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49" name="成组"/>
          <p:cNvGrpSpPr/>
          <p:nvPr/>
        </p:nvGrpSpPr>
        <p:grpSpPr>
          <a:xfrm>
            <a:off x="800100" y="5810249"/>
            <a:ext cx="10001250" cy="285751"/>
            <a:chOff x="0" y="0"/>
            <a:chExt cx="10001250" cy="285750"/>
          </a:xfrm>
        </p:grpSpPr>
        <p:sp>
          <p:nvSpPr>
            <p:cNvPr id="947" name="矩形"/>
            <p:cNvSpPr/>
            <p:nvPr/>
          </p:nvSpPr>
          <p:spPr>
            <a:xfrm>
              <a:off x="0" y="0"/>
              <a:ext cx="100012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48" name="可验证协作依赖结构化对象：计划、步骤结果、决策和快照都可追溯。"/>
            <p:cNvSpPr txBox="1"/>
            <p:nvPr/>
          </p:nvSpPr>
          <p:spPr>
            <a:xfrm>
              <a:off x="0" y="-1"/>
              <a:ext cx="1000125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可验证协作依赖结构化对象：计划、步骤结果、决策和快照都可追溯。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95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55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95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54" name="用状态机约束人在环决策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用状态机约束人在环决策</a:t>
              </a:r>
            </a:p>
          </p:txBody>
        </p:sp>
      </p:grpSp>
      <p:grpSp>
        <p:nvGrpSpPr>
          <p:cNvPr id="958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95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957" name="FSM / HITL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 / HITL</a:t>
              </a:r>
            </a:p>
          </p:txBody>
        </p:sp>
      </p:grpSp>
      <p:pic>
        <p:nvPicPr>
          <p:cNvPr id="95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96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2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32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03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31" name="8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</a:t>
              </a:r>
            </a:p>
          </p:txBody>
        </p:sp>
      </p:grpSp>
      <p:sp>
        <p:nvSpPr>
          <p:cNvPr id="1033" name="矩形"/>
          <p:cNvSpPr/>
          <p:nvPr/>
        </p:nvSpPr>
        <p:spPr>
          <a:xfrm>
            <a:off x="533400" y="1066800"/>
            <a:ext cx="6143625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34" name="image28.png" descr="image2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71500" y="1187159"/>
            <a:ext cx="6067425" cy="3855033"/>
          </a:xfrm>
          <a:prstGeom prst="rect">
            <a:avLst/>
          </a:prstGeom>
          <a:ln w="12700">
            <a:miter lim="400000"/>
          </a:ln>
        </p:spPr>
      </p:pic>
      <p:sp>
        <p:nvSpPr>
          <p:cNvPr id="1035" name="矩形"/>
          <p:cNvSpPr/>
          <p:nvPr/>
        </p:nvSpPr>
        <p:spPr>
          <a:xfrm>
            <a:off x="6858000" y="1066800"/>
            <a:ext cx="476250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36" name="image29.png" descr="image29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389555" y="1104900"/>
            <a:ext cx="3699389" cy="2400300"/>
          </a:xfrm>
          <a:prstGeom prst="rect">
            <a:avLst/>
          </a:prstGeom>
          <a:ln w="12700">
            <a:miter lim="400000"/>
          </a:ln>
        </p:spPr>
      </p:pic>
      <p:sp>
        <p:nvSpPr>
          <p:cNvPr id="1037" name="矩形"/>
          <p:cNvSpPr/>
          <p:nvPr/>
        </p:nvSpPr>
        <p:spPr>
          <a:xfrm>
            <a:off x="7000875" y="38290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8" name="矩形"/>
          <p:cNvSpPr/>
          <p:nvPr/>
        </p:nvSpPr>
        <p:spPr>
          <a:xfrm>
            <a:off x="7000875" y="3829050"/>
            <a:ext cx="47625" cy="4953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1" name="成组"/>
          <p:cNvGrpSpPr/>
          <p:nvPr/>
        </p:nvGrpSpPr>
        <p:grpSpPr>
          <a:xfrm>
            <a:off x="7172325" y="3924299"/>
            <a:ext cx="3990975" cy="171451"/>
            <a:chOff x="0" y="0"/>
            <a:chExt cx="3990975" cy="171450"/>
          </a:xfrm>
        </p:grpSpPr>
        <p:sp>
          <p:nvSpPr>
            <p:cNvPr id="1039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0" name="WAITING_PLAN_CONFIRM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WAITING_PLAN_CONFIRM</a:t>
              </a:r>
            </a:p>
          </p:txBody>
        </p:sp>
      </p:grpSp>
      <p:grpSp>
        <p:nvGrpSpPr>
          <p:cNvPr id="1044" name="成组"/>
          <p:cNvGrpSpPr/>
          <p:nvPr/>
        </p:nvGrpSpPr>
        <p:grpSpPr>
          <a:xfrm>
            <a:off x="7172325" y="4124324"/>
            <a:ext cx="3990975" cy="171451"/>
            <a:chOff x="0" y="0"/>
            <a:chExt cx="3990975" cy="171450"/>
          </a:xfrm>
        </p:grpSpPr>
        <p:sp>
          <p:nvSpPr>
            <p:cNvPr id="1042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3" name="初始高成本 / 高风险计划确认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初始高成本 / 高风险计划确认</a:t>
              </a:r>
            </a:p>
          </p:txBody>
        </p:sp>
      </p:grpSp>
      <p:sp>
        <p:nvSpPr>
          <p:cNvPr id="1045" name="矩形"/>
          <p:cNvSpPr/>
          <p:nvPr/>
        </p:nvSpPr>
        <p:spPr>
          <a:xfrm>
            <a:off x="7000875" y="44386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6" name="矩形"/>
          <p:cNvSpPr/>
          <p:nvPr/>
        </p:nvSpPr>
        <p:spPr>
          <a:xfrm>
            <a:off x="7000875" y="4438650"/>
            <a:ext cx="47625" cy="4953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9" name="成组"/>
          <p:cNvGrpSpPr/>
          <p:nvPr/>
        </p:nvGrpSpPr>
        <p:grpSpPr>
          <a:xfrm>
            <a:off x="7172325" y="4533899"/>
            <a:ext cx="3990975" cy="171451"/>
            <a:chOff x="0" y="0"/>
            <a:chExt cx="3990975" cy="171450"/>
          </a:xfrm>
        </p:grpSpPr>
        <p:sp>
          <p:nvSpPr>
            <p:cNvPr id="1047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48" name="WAITING_PATCH_CONFIRM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WAITING_PATCH_CONFIRM</a:t>
              </a:r>
            </a:p>
          </p:txBody>
        </p:sp>
      </p:grpSp>
      <p:grpSp>
        <p:nvGrpSpPr>
          <p:cNvPr id="1052" name="成组"/>
          <p:cNvGrpSpPr/>
          <p:nvPr/>
        </p:nvGrpSpPr>
        <p:grpSpPr>
          <a:xfrm>
            <a:off x="7172325" y="4733924"/>
            <a:ext cx="3990975" cy="171451"/>
            <a:chOff x="0" y="0"/>
            <a:chExt cx="3990975" cy="171450"/>
          </a:xfrm>
        </p:grpSpPr>
        <p:sp>
          <p:nvSpPr>
            <p:cNvPr id="1050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1" name="局部失败后的修补确认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局部失败后的修补确认</a:t>
              </a:r>
            </a:p>
          </p:txBody>
        </p:sp>
      </p:grpSp>
      <p:sp>
        <p:nvSpPr>
          <p:cNvPr id="1053" name="矩形"/>
          <p:cNvSpPr/>
          <p:nvPr/>
        </p:nvSpPr>
        <p:spPr>
          <a:xfrm>
            <a:off x="7000875" y="5048250"/>
            <a:ext cx="433387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4" name="矩形"/>
          <p:cNvSpPr/>
          <p:nvPr/>
        </p:nvSpPr>
        <p:spPr>
          <a:xfrm>
            <a:off x="7000875" y="5048250"/>
            <a:ext cx="47625" cy="4953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7" name="成组"/>
          <p:cNvGrpSpPr/>
          <p:nvPr/>
        </p:nvGrpSpPr>
        <p:grpSpPr>
          <a:xfrm>
            <a:off x="7172325" y="5143499"/>
            <a:ext cx="3990975" cy="171451"/>
            <a:chOff x="0" y="0"/>
            <a:chExt cx="3990975" cy="171450"/>
          </a:xfrm>
        </p:grpSpPr>
        <p:sp>
          <p:nvSpPr>
            <p:cNvPr id="1055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6" name="WAITING_REPLAN_CONFIRM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WAITING_REPLAN_CONFIRM</a:t>
              </a:r>
            </a:p>
          </p:txBody>
        </p:sp>
      </p:grpSp>
      <p:grpSp>
        <p:nvGrpSpPr>
          <p:cNvPr id="1060" name="成组"/>
          <p:cNvGrpSpPr/>
          <p:nvPr/>
        </p:nvGrpSpPr>
        <p:grpSpPr>
          <a:xfrm>
            <a:off x="7172325" y="5343524"/>
            <a:ext cx="3990975" cy="171451"/>
            <a:chOff x="0" y="0"/>
            <a:chExt cx="3990975" cy="171450"/>
          </a:xfrm>
        </p:grpSpPr>
        <p:sp>
          <p:nvSpPr>
            <p:cNvPr id="1058" name="矩形"/>
            <p:cNvSpPr/>
            <p:nvPr/>
          </p:nvSpPr>
          <p:spPr>
            <a:xfrm>
              <a:off x="0" y="0"/>
              <a:ext cx="399097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59" name="整体风险、结构性失败或 stop 候选确认"/>
            <p:cNvSpPr txBox="1"/>
            <p:nvPr/>
          </p:nvSpPr>
          <p:spPr>
            <a:xfrm>
              <a:off x="0" y="-1"/>
              <a:ext cx="39909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整体风险、结构性失败或 stop 候选确认</a:t>
              </a:r>
            </a:p>
          </p:txBody>
        </p:sp>
      </p:grpSp>
      <p:grpSp>
        <p:nvGrpSpPr>
          <p:cNvPr id="1063" name="成组"/>
          <p:cNvGrpSpPr/>
          <p:nvPr/>
        </p:nvGrpSpPr>
        <p:grpSpPr>
          <a:xfrm>
            <a:off x="904875" y="5714999"/>
            <a:ext cx="9906000" cy="304801"/>
            <a:chOff x="0" y="0"/>
            <a:chExt cx="9906000" cy="304800"/>
          </a:xfrm>
        </p:grpSpPr>
        <p:sp>
          <p:nvSpPr>
            <p:cNvPr id="1061" name="矩形"/>
            <p:cNvSpPr/>
            <p:nvPr/>
          </p:nvSpPr>
          <p:spPr>
            <a:xfrm>
              <a:off x="0" y="0"/>
              <a:ext cx="99060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62" name="HITL 是 PendingAction / Decision / EventLog / Snapshot 共同约束的等待态机制。"/>
            <p:cNvSpPr txBox="1"/>
            <p:nvPr/>
          </p:nvSpPr>
          <p:spPr>
            <a:xfrm>
              <a:off x="0" y="-1"/>
              <a:ext cx="9906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HITL 是 PendingAction / Decision / EventLog / Snapshot 共同约束的等待态机制。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06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069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06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68" name="为什么需要 CEBRA-WP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为什么需要 CEBRA-WP</a:t>
              </a:r>
            </a:p>
          </p:txBody>
        </p:sp>
      </p:grpSp>
      <p:grpSp>
        <p:nvGrpSpPr>
          <p:cNvPr id="1072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07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071" name="ALGORITHM MOTIV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ALGORITHM MOTIVE</a:t>
              </a:r>
            </a:p>
          </p:txBody>
        </p:sp>
      </p:grpSp>
      <p:pic>
        <p:nvPicPr>
          <p:cNvPr id="107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07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14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46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14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45" name="9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9</a:t>
              </a:r>
            </a:p>
          </p:txBody>
        </p:sp>
      </p:grpSp>
      <p:sp>
        <p:nvSpPr>
          <p:cNvPr id="1147" name="矩形"/>
          <p:cNvSpPr/>
          <p:nvPr/>
        </p:nvSpPr>
        <p:spPr>
          <a:xfrm>
            <a:off x="533400" y="1123950"/>
            <a:ext cx="5715000" cy="3857625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148" name="image33.png" descr="image33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60342" y="1162050"/>
            <a:ext cx="5261115" cy="37814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51" name="成组"/>
          <p:cNvGrpSpPr/>
          <p:nvPr/>
        </p:nvGrpSpPr>
        <p:grpSpPr>
          <a:xfrm>
            <a:off x="6858000" y="1104899"/>
            <a:ext cx="4095750" cy="609601"/>
            <a:chOff x="0" y="0"/>
            <a:chExt cx="4095750" cy="609600"/>
          </a:xfrm>
        </p:grpSpPr>
        <p:sp>
          <p:nvSpPr>
            <p:cNvPr id="1149" name="矩形"/>
            <p:cNvSpPr/>
            <p:nvPr/>
          </p:nvSpPr>
          <p:spPr>
            <a:xfrm>
              <a:off x="0" y="-1"/>
              <a:ext cx="4095750" cy="5334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0" name="阶段划分能说明流程，但不能回答失败后的运行时选择。"/>
            <p:cNvSpPr txBox="1"/>
            <p:nvPr/>
          </p:nvSpPr>
          <p:spPr>
            <a:xfrm>
              <a:off x="0" y="0"/>
              <a:ext cx="4095750" cy="609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阶段划分能说明流程，但不能回答失败后的运行时选择。</a:t>
              </a:r>
            </a:p>
          </p:txBody>
        </p:sp>
      </p:grpSp>
      <p:sp>
        <p:nvSpPr>
          <p:cNvPr id="1152" name="矩形"/>
          <p:cNvSpPr/>
          <p:nvPr/>
        </p:nvSpPr>
        <p:spPr>
          <a:xfrm>
            <a:off x="6858000" y="18669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3" name="矩形"/>
          <p:cNvSpPr/>
          <p:nvPr/>
        </p:nvSpPr>
        <p:spPr>
          <a:xfrm>
            <a:off x="6858000" y="1866900"/>
            <a:ext cx="47625" cy="6858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6" name="成组"/>
          <p:cNvGrpSpPr/>
          <p:nvPr/>
        </p:nvGrpSpPr>
        <p:grpSpPr>
          <a:xfrm>
            <a:off x="7029450" y="1962149"/>
            <a:ext cx="3752850" cy="254001"/>
            <a:chOff x="0" y="0"/>
            <a:chExt cx="3752850" cy="254000"/>
          </a:xfrm>
        </p:grpSpPr>
        <p:sp>
          <p:nvSpPr>
            <p:cNvPr id="1154" name="矩形"/>
            <p:cNvSpPr/>
            <p:nvPr/>
          </p:nvSpPr>
          <p:spPr>
            <a:xfrm>
              <a:off x="0" y="-1"/>
              <a:ext cx="3752850" cy="219076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5" name="流程知道下一阶段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流程知道下一阶段</a:t>
              </a:r>
            </a:p>
          </p:txBody>
        </p:sp>
      </p:grpSp>
      <p:grpSp>
        <p:nvGrpSpPr>
          <p:cNvPr id="1159" name="成组"/>
          <p:cNvGrpSpPr/>
          <p:nvPr/>
        </p:nvGrpSpPr>
        <p:grpSpPr>
          <a:xfrm>
            <a:off x="7029450" y="2209799"/>
            <a:ext cx="3752850" cy="266701"/>
            <a:chOff x="0" y="0"/>
            <a:chExt cx="3752850" cy="266700"/>
          </a:xfrm>
        </p:grpSpPr>
        <p:sp>
          <p:nvSpPr>
            <p:cNvPr id="1157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58" name="候选生成、结构预测、评分和汇总可以按阶段组织"/>
            <p:cNvSpPr txBox="1"/>
            <p:nvPr/>
          </p:nvSpPr>
          <p:spPr>
            <a:xfrm>
              <a:off x="0" y="-1"/>
              <a:ext cx="3752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候选生成、结构预测、评分和汇总可以按阶段组织</a:t>
              </a:r>
            </a:p>
          </p:txBody>
        </p:sp>
      </p:grpSp>
      <p:sp>
        <p:nvSpPr>
          <p:cNvPr id="1160" name="矩形"/>
          <p:cNvSpPr/>
          <p:nvPr/>
        </p:nvSpPr>
        <p:spPr>
          <a:xfrm>
            <a:off x="6858000" y="27432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61" name="矩形"/>
          <p:cNvSpPr/>
          <p:nvPr/>
        </p:nvSpPr>
        <p:spPr>
          <a:xfrm>
            <a:off x="6858000" y="2743200"/>
            <a:ext cx="47625" cy="6858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4" name="成组"/>
          <p:cNvGrpSpPr/>
          <p:nvPr/>
        </p:nvGrpSpPr>
        <p:grpSpPr>
          <a:xfrm>
            <a:off x="7029450" y="2838449"/>
            <a:ext cx="3752850" cy="254001"/>
            <a:chOff x="0" y="0"/>
            <a:chExt cx="3752850" cy="254000"/>
          </a:xfrm>
        </p:grpSpPr>
        <p:sp>
          <p:nvSpPr>
            <p:cNvPr id="1162" name="矩形"/>
            <p:cNvSpPr/>
            <p:nvPr/>
          </p:nvSpPr>
          <p:spPr>
            <a:xfrm>
              <a:off x="0" y="-1"/>
              <a:ext cx="3752850" cy="219076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63" name="现场要做下一步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现场要做下一步</a:t>
              </a:r>
            </a:p>
          </p:txBody>
        </p:sp>
      </p:grpSp>
      <p:grpSp>
        <p:nvGrpSpPr>
          <p:cNvPr id="1167" name="成组"/>
          <p:cNvGrpSpPr/>
          <p:nvPr/>
        </p:nvGrpSpPr>
        <p:grpSpPr>
          <a:xfrm>
            <a:off x="7029450" y="3086099"/>
            <a:ext cx="3752850" cy="266701"/>
            <a:chOff x="0" y="0"/>
            <a:chExt cx="3752850" cy="266700"/>
          </a:xfrm>
        </p:grpSpPr>
        <p:sp>
          <p:nvSpPr>
            <p:cNvPr id="1165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66" name="工具失败、预算升高、证据不足时需要选择恢复策略"/>
            <p:cNvSpPr txBox="1"/>
            <p:nvPr/>
          </p:nvSpPr>
          <p:spPr>
            <a:xfrm>
              <a:off x="0" y="-1"/>
              <a:ext cx="3752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工具失败、预算升高、证据不足时需要选择恢复策略</a:t>
              </a:r>
            </a:p>
          </p:txBody>
        </p:sp>
      </p:grpSp>
      <p:sp>
        <p:nvSpPr>
          <p:cNvPr id="1168" name="矩形"/>
          <p:cNvSpPr/>
          <p:nvPr/>
        </p:nvSpPr>
        <p:spPr>
          <a:xfrm>
            <a:off x="6858000" y="3619500"/>
            <a:ext cx="409575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69" name="矩形"/>
          <p:cNvSpPr/>
          <p:nvPr/>
        </p:nvSpPr>
        <p:spPr>
          <a:xfrm>
            <a:off x="6858000" y="3619500"/>
            <a:ext cx="47625" cy="6858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2" name="成组"/>
          <p:cNvGrpSpPr/>
          <p:nvPr/>
        </p:nvGrpSpPr>
        <p:grpSpPr>
          <a:xfrm>
            <a:off x="7029450" y="3714749"/>
            <a:ext cx="3752850" cy="254001"/>
            <a:chOff x="0" y="0"/>
            <a:chExt cx="3752850" cy="254000"/>
          </a:xfrm>
        </p:grpSpPr>
        <p:sp>
          <p:nvSpPr>
            <p:cNvPr id="1170" name="矩形"/>
            <p:cNvSpPr/>
            <p:nvPr/>
          </p:nvSpPr>
          <p:spPr>
            <a:xfrm>
              <a:off x="0" y="-1"/>
              <a:ext cx="3752850" cy="219076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1" name="决策依赖多源信息"/>
            <p:cNvSpPr txBox="1"/>
            <p:nvPr/>
          </p:nvSpPr>
          <p:spPr>
            <a:xfrm>
              <a:off x="0" y="0"/>
              <a:ext cx="37528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决策依赖多源信息</a:t>
              </a:r>
            </a:p>
          </p:txBody>
        </p:sp>
      </p:grpSp>
      <p:grpSp>
        <p:nvGrpSpPr>
          <p:cNvPr id="1175" name="成组"/>
          <p:cNvGrpSpPr/>
          <p:nvPr/>
        </p:nvGrpSpPr>
        <p:grpSpPr>
          <a:xfrm>
            <a:off x="7029450" y="3962399"/>
            <a:ext cx="3752850" cy="266701"/>
            <a:chOff x="0" y="0"/>
            <a:chExt cx="3752850" cy="266700"/>
          </a:xfrm>
        </p:grpSpPr>
        <p:sp>
          <p:nvSpPr>
            <p:cNvPr id="1173" name="矩形"/>
            <p:cNvSpPr/>
            <p:nvPr/>
          </p:nvSpPr>
          <p:spPr>
            <a:xfrm>
              <a:off x="0" y="0"/>
              <a:ext cx="37528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4" name="约束、证据、成本、失败历史共同决定是否继续"/>
            <p:cNvSpPr txBox="1"/>
            <p:nvPr/>
          </p:nvSpPr>
          <p:spPr>
            <a:xfrm>
              <a:off x="0" y="-1"/>
              <a:ext cx="37528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约束、证据、成本、失败历史共同决定是否继续</a:t>
              </a:r>
            </a:p>
          </p:txBody>
        </p:sp>
      </p:grpSp>
      <p:sp>
        <p:nvSpPr>
          <p:cNvPr id="1176" name="矩形"/>
          <p:cNvSpPr/>
          <p:nvPr/>
        </p:nvSpPr>
        <p:spPr>
          <a:xfrm>
            <a:off x="676275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7" name="矩形"/>
          <p:cNvSpPr/>
          <p:nvPr/>
        </p:nvSpPr>
        <p:spPr>
          <a:xfrm>
            <a:off x="6762750" y="4667250"/>
            <a:ext cx="47625" cy="3810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0" name="成组"/>
          <p:cNvGrpSpPr/>
          <p:nvPr/>
        </p:nvGrpSpPr>
        <p:grpSpPr>
          <a:xfrm>
            <a:off x="6858000" y="4772024"/>
            <a:ext cx="819150" cy="171451"/>
            <a:chOff x="0" y="0"/>
            <a:chExt cx="819150" cy="171450"/>
          </a:xfrm>
        </p:grpSpPr>
        <p:sp>
          <p:nvSpPr>
            <p:cNvPr id="1178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79" name="continue"/>
            <p:cNvSpPr txBox="1"/>
            <p:nvPr/>
          </p:nvSpPr>
          <p:spPr>
            <a:xfrm>
              <a:off x="0" y="-1"/>
              <a:ext cx="8191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continue</a:t>
              </a:r>
            </a:p>
          </p:txBody>
        </p:sp>
      </p:grpSp>
      <p:sp>
        <p:nvSpPr>
          <p:cNvPr id="1181" name="矩形"/>
          <p:cNvSpPr/>
          <p:nvPr/>
        </p:nvSpPr>
        <p:spPr>
          <a:xfrm>
            <a:off x="788670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2" name="矩形"/>
          <p:cNvSpPr/>
          <p:nvPr/>
        </p:nvSpPr>
        <p:spPr>
          <a:xfrm>
            <a:off x="7886700" y="4667250"/>
            <a:ext cx="47625" cy="3810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5" name="成组"/>
          <p:cNvGrpSpPr/>
          <p:nvPr/>
        </p:nvGrpSpPr>
        <p:grpSpPr>
          <a:xfrm>
            <a:off x="7981950" y="4772024"/>
            <a:ext cx="819150" cy="171451"/>
            <a:chOff x="0" y="0"/>
            <a:chExt cx="819150" cy="171450"/>
          </a:xfrm>
        </p:grpSpPr>
        <p:sp>
          <p:nvSpPr>
            <p:cNvPr id="1183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84" name="patch_local"/>
            <p:cNvSpPr txBox="1"/>
            <p:nvPr/>
          </p:nvSpPr>
          <p:spPr>
            <a:xfrm>
              <a:off x="0" y="-1"/>
              <a:ext cx="8191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patch_local</a:t>
              </a:r>
            </a:p>
          </p:txBody>
        </p:sp>
      </p:grpSp>
      <p:sp>
        <p:nvSpPr>
          <p:cNvPr id="1186" name="矩形"/>
          <p:cNvSpPr/>
          <p:nvPr/>
        </p:nvSpPr>
        <p:spPr>
          <a:xfrm>
            <a:off x="901065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7" name="矩形"/>
          <p:cNvSpPr/>
          <p:nvPr/>
        </p:nvSpPr>
        <p:spPr>
          <a:xfrm>
            <a:off x="9010650" y="4667250"/>
            <a:ext cx="47625" cy="38100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90" name="成组"/>
          <p:cNvGrpSpPr/>
          <p:nvPr/>
        </p:nvGrpSpPr>
        <p:grpSpPr>
          <a:xfrm>
            <a:off x="9105900" y="4772024"/>
            <a:ext cx="819150" cy="171451"/>
            <a:chOff x="0" y="0"/>
            <a:chExt cx="819150" cy="171450"/>
          </a:xfrm>
        </p:grpSpPr>
        <p:sp>
          <p:nvSpPr>
            <p:cNvPr id="1188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89" name="suffix_replan"/>
            <p:cNvSpPr txBox="1"/>
            <p:nvPr/>
          </p:nvSpPr>
          <p:spPr>
            <a:xfrm>
              <a:off x="0" y="-1"/>
              <a:ext cx="8191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suffix_replan</a:t>
              </a:r>
            </a:p>
          </p:txBody>
        </p:sp>
      </p:grpSp>
      <p:sp>
        <p:nvSpPr>
          <p:cNvPr id="1191" name="矩形"/>
          <p:cNvSpPr/>
          <p:nvPr/>
        </p:nvSpPr>
        <p:spPr>
          <a:xfrm>
            <a:off x="10134600" y="4667250"/>
            <a:ext cx="1028700" cy="3810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92" name="矩形"/>
          <p:cNvSpPr/>
          <p:nvPr/>
        </p:nvSpPr>
        <p:spPr>
          <a:xfrm>
            <a:off x="10134600" y="4667250"/>
            <a:ext cx="47625" cy="3810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95" name="成组"/>
          <p:cNvGrpSpPr/>
          <p:nvPr/>
        </p:nvGrpSpPr>
        <p:grpSpPr>
          <a:xfrm>
            <a:off x="10229850" y="4772024"/>
            <a:ext cx="819150" cy="171451"/>
            <a:chOff x="0" y="0"/>
            <a:chExt cx="819150" cy="171450"/>
          </a:xfrm>
        </p:grpSpPr>
        <p:sp>
          <p:nvSpPr>
            <p:cNvPr id="1193" name="矩形"/>
            <p:cNvSpPr/>
            <p:nvPr/>
          </p:nvSpPr>
          <p:spPr>
            <a:xfrm>
              <a:off x="0" y="0"/>
              <a:ext cx="8191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9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94" name="stop"/>
            <p:cNvSpPr txBox="1"/>
            <p:nvPr/>
          </p:nvSpPr>
          <p:spPr>
            <a:xfrm>
              <a:off x="0" y="-1"/>
              <a:ext cx="8191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9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stop</a:t>
              </a:r>
            </a:p>
          </p:txBody>
        </p:sp>
      </p:grpSp>
      <p:sp>
        <p:nvSpPr>
          <p:cNvPr id="1196" name="矩形"/>
          <p:cNvSpPr/>
          <p:nvPr/>
        </p:nvSpPr>
        <p:spPr>
          <a:xfrm>
            <a:off x="838200" y="5476875"/>
            <a:ext cx="10334625" cy="590550"/>
          </a:xfrm>
          <a:prstGeom prst="rect">
            <a:avLst/>
          </a:prstGeom>
          <a:solidFill>
            <a:srgbClr val="F6FAFF"/>
          </a:solidFill>
          <a:ln>
            <a:solidFill>
              <a:srgbClr val="C9E1F8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99" name="成组"/>
          <p:cNvGrpSpPr/>
          <p:nvPr/>
        </p:nvGrpSpPr>
        <p:grpSpPr>
          <a:xfrm>
            <a:off x="1104900" y="5657849"/>
            <a:ext cx="9810750" cy="266701"/>
            <a:chOff x="0" y="0"/>
            <a:chExt cx="9810750" cy="266700"/>
          </a:xfrm>
        </p:grpSpPr>
        <p:sp>
          <p:nvSpPr>
            <p:cNvPr id="1197" name="矩形"/>
            <p:cNvSpPr/>
            <p:nvPr/>
          </p:nvSpPr>
          <p:spPr>
            <a:xfrm>
              <a:off x="0" y="-1"/>
              <a:ext cx="9810750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198" name="CEBRA-WP 的作用：在工具链执行过程中，根据约束、证据、成本和失败信息，动态选择下一步恢复动作。"/>
            <p:cNvSpPr txBox="1"/>
            <p:nvPr/>
          </p:nvSpPr>
          <p:spPr>
            <a:xfrm>
              <a:off x="0" y="0"/>
              <a:ext cx="98107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的作用：在工具链执行过程中，根据约束、证据、成本和失败信息，动态选择下一步恢复动作。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0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05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20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04" name="CEBRA-WP 怎么做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怎么做</a:t>
              </a:r>
            </a:p>
          </p:txBody>
        </p:sp>
      </p:grpSp>
      <p:grpSp>
        <p:nvGrpSpPr>
          <p:cNvPr id="1208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20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07" name="ALGORITHM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ALGORITHM</a:t>
              </a:r>
            </a:p>
          </p:txBody>
        </p:sp>
      </p:grpSp>
      <p:pic>
        <p:nvPicPr>
          <p:cNvPr id="120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21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7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82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28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1" name="10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grpSp>
        <p:nvGrpSpPr>
          <p:cNvPr id="1285" name="成组"/>
          <p:cNvGrpSpPr/>
          <p:nvPr/>
        </p:nvGrpSpPr>
        <p:grpSpPr>
          <a:xfrm>
            <a:off x="666750" y="1066799"/>
            <a:ext cx="8953500" cy="285751"/>
            <a:chOff x="0" y="0"/>
            <a:chExt cx="8953500" cy="285750"/>
          </a:xfrm>
        </p:grpSpPr>
        <p:sp>
          <p:nvSpPr>
            <p:cNvPr id="1283" name="矩形"/>
            <p:cNvSpPr/>
            <p:nvPr/>
          </p:nvSpPr>
          <p:spPr>
            <a:xfrm>
              <a:off x="0" y="0"/>
              <a:ext cx="8953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4" name="四步主流程：生成候选、过滤不可行项、更新运行时状态，并选择恢复动作。"/>
            <p:cNvSpPr txBox="1"/>
            <p:nvPr/>
          </p:nvSpPr>
          <p:spPr>
            <a:xfrm>
              <a:off x="0" y="-1"/>
              <a:ext cx="89535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四步主流程：生成候选、过滤不可行项、更新运行时状态，并选择恢复动作。</a:t>
              </a:r>
            </a:p>
          </p:txBody>
        </p:sp>
      </p:grpSp>
      <p:sp>
        <p:nvSpPr>
          <p:cNvPr id="1286" name="矩形"/>
          <p:cNvSpPr/>
          <p:nvPr/>
        </p:nvSpPr>
        <p:spPr>
          <a:xfrm>
            <a:off x="6858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7" name="矩形"/>
          <p:cNvSpPr/>
          <p:nvPr/>
        </p:nvSpPr>
        <p:spPr>
          <a:xfrm>
            <a:off x="685800" y="1790700"/>
            <a:ext cx="2247900" cy="571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90" name="成组"/>
          <p:cNvGrpSpPr/>
          <p:nvPr/>
        </p:nvGrpSpPr>
        <p:grpSpPr>
          <a:xfrm>
            <a:off x="876300" y="2057399"/>
            <a:ext cx="514350" cy="285751"/>
            <a:chOff x="0" y="0"/>
            <a:chExt cx="514350" cy="285750"/>
          </a:xfrm>
        </p:grpSpPr>
        <p:sp>
          <p:nvSpPr>
            <p:cNvPr id="1288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89" name="01"/>
            <p:cNvSpPr txBox="1"/>
            <p:nvPr/>
          </p:nvSpPr>
          <p:spPr>
            <a:xfrm>
              <a:off x="0" y="-1"/>
              <a:ext cx="5143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01</a:t>
              </a:r>
            </a:p>
          </p:txBody>
        </p:sp>
      </p:grpSp>
      <p:grpSp>
        <p:nvGrpSpPr>
          <p:cNvPr id="1293" name="成组"/>
          <p:cNvGrpSpPr/>
          <p:nvPr/>
        </p:nvGrpSpPr>
        <p:grpSpPr>
          <a:xfrm>
            <a:off x="876300" y="2533649"/>
            <a:ext cx="1809750" cy="285751"/>
            <a:chOff x="0" y="0"/>
            <a:chExt cx="1809750" cy="285750"/>
          </a:xfrm>
        </p:grpSpPr>
        <p:sp>
          <p:nvSpPr>
            <p:cNvPr id="1291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92" name="候选生成"/>
            <p:cNvSpPr txBox="1"/>
            <p:nvPr/>
          </p:nvSpPr>
          <p:spPr>
            <a:xfrm>
              <a:off x="0" y="-1"/>
              <a:ext cx="1809750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候选生成</a:t>
              </a:r>
            </a:p>
          </p:txBody>
        </p:sp>
      </p:grpSp>
      <p:grpSp>
        <p:nvGrpSpPr>
          <p:cNvPr id="1296" name="成组"/>
          <p:cNvGrpSpPr/>
          <p:nvPr/>
        </p:nvGrpSpPr>
        <p:grpSpPr>
          <a:xfrm>
            <a:off x="876300" y="3105149"/>
            <a:ext cx="1809750" cy="552451"/>
            <a:chOff x="0" y="0"/>
            <a:chExt cx="1809750" cy="552450"/>
          </a:xfrm>
        </p:grpSpPr>
        <p:sp>
          <p:nvSpPr>
            <p:cNvPr id="1294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295" name="生成 Plan / Patch / Replan 的 Top-K 候选"/>
            <p:cNvSpPr txBox="1"/>
            <p:nvPr/>
          </p:nvSpPr>
          <p:spPr>
            <a:xfrm>
              <a:off x="0" y="-1"/>
              <a:ext cx="180975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生成 Plan / Patch / Replan 的 Top-K 候选</a:t>
              </a:r>
            </a:p>
          </p:txBody>
        </p:sp>
      </p:grpSp>
      <p:sp>
        <p:nvSpPr>
          <p:cNvPr id="1297" name="矩形"/>
          <p:cNvSpPr/>
          <p:nvPr/>
        </p:nvSpPr>
        <p:spPr>
          <a:xfrm>
            <a:off x="30099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8" name="圆形"/>
          <p:cNvSpPr/>
          <p:nvPr/>
        </p:nvSpPr>
        <p:spPr>
          <a:xfrm>
            <a:off x="32956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9" name="矩形"/>
          <p:cNvSpPr/>
          <p:nvPr/>
        </p:nvSpPr>
        <p:spPr>
          <a:xfrm>
            <a:off x="3390900" y="1790700"/>
            <a:ext cx="2247900" cy="2209800"/>
          </a:xfrm>
          <a:prstGeom prst="rect">
            <a:avLst/>
          </a:prstGeom>
          <a:solidFill>
            <a:srgbClr val="FFF6F4"/>
          </a:solidFill>
          <a:ln>
            <a:solidFill>
              <a:srgbClr val="EFCAC5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0" name="矩形"/>
          <p:cNvSpPr/>
          <p:nvPr/>
        </p:nvSpPr>
        <p:spPr>
          <a:xfrm>
            <a:off x="3390900" y="1790700"/>
            <a:ext cx="2247900" cy="571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03" name="成组"/>
          <p:cNvGrpSpPr/>
          <p:nvPr/>
        </p:nvGrpSpPr>
        <p:grpSpPr>
          <a:xfrm>
            <a:off x="3581400" y="2057399"/>
            <a:ext cx="514350" cy="285751"/>
            <a:chOff x="0" y="0"/>
            <a:chExt cx="514350" cy="285750"/>
          </a:xfrm>
        </p:grpSpPr>
        <p:sp>
          <p:nvSpPr>
            <p:cNvPr id="1301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2" name="02"/>
            <p:cNvSpPr txBox="1"/>
            <p:nvPr/>
          </p:nvSpPr>
          <p:spPr>
            <a:xfrm>
              <a:off x="0" y="-1"/>
              <a:ext cx="5143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02</a:t>
              </a:r>
            </a:p>
          </p:txBody>
        </p:sp>
      </p:grpSp>
      <p:grpSp>
        <p:nvGrpSpPr>
          <p:cNvPr id="1306" name="成组"/>
          <p:cNvGrpSpPr/>
          <p:nvPr/>
        </p:nvGrpSpPr>
        <p:grpSpPr>
          <a:xfrm>
            <a:off x="3581400" y="2533649"/>
            <a:ext cx="1809750" cy="285751"/>
            <a:chOff x="0" y="0"/>
            <a:chExt cx="1809750" cy="285750"/>
          </a:xfrm>
        </p:grpSpPr>
        <p:sp>
          <p:nvSpPr>
            <p:cNvPr id="1304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5" name="硬可行性过滤"/>
            <p:cNvSpPr txBox="1"/>
            <p:nvPr/>
          </p:nvSpPr>
          <p:spPr>
            <a:xfrm>
              <a:off x="0" y="-1"/>
              <a:ext cx="1809750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硬可行性过滤</a:t>
              </a:r>
            </a:p>
          </p:txBody>
        </p:sp>
      </p:grpSp>
      <p:grpSp>
        <p:nvGrpSpPr>
          <p:cNvPr id="1309" name="成组"/>
          <p:cNvGrpSpPr/>
          <p:nvPr/>
        </p:nvGrpSpPr>
        <p:grpSpPr>
          <a:xfrm>
            <a:off x="3581400" y="3105149"/>
            <a:ext cx="1809750" cy="552451"/>
            <a:chOff x="0" y="0"/>
            <a:chExt cx="1809750" cy="552450"/>
          </a:xfrm>
        </p:grpSpPr>
        <p:sp>
          <p:nvSpPr>
            <p:cNvPr id="1307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08" name="先检查 tool / schema / I-O / safety / budget"/>
            <p:cNvSpPr txBox="1"/>
            <p:nvPr/>
          </p:nvSpPr>
          <p:spPr>
            <a:xfrm>
              <a:off x="0" y="-1"/>
              <a:ext cx="1809750" cy="368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先检查 tool / schema / I-O / safety / budget</a:t>
              </a:r>
            </a:p>
          </p:txBody>
        </p:sp>
      </p:grpSp>
      <p:sp>
        <p:nvSpPr>
          <p:cNvPr id="1310" name="矩形"/>
          <p:cNvSpPr/>
          <p:nvPr/>
        </p:nvSpPr>
        <p:spPr>
          <a:xfrm>
            <a:off x="57150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1" name="圆形"/>
          <p:cNvSpPr/>
          <p:nvPr/>
        </p:nvSpPr>
        <p:spPr>
          <a:xfrm>
            <a:off x="60007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2" name="矩形"/>
          <p:cNvSpPr/>
          <p:nvPr/>
        </p:nvSpPr>
        <p:spPr>
          <a:xfrm>
            <a:off x="60960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3" name="矩形"/>
          <p:cNvSpPr/>
          <p:nvPr/>
        </p:nvSpPr>
        <p:spPr>
          <a:xfrm>
            <a:off x="6096000" y="1790700"/>
            <a:ext cx="2247900" cy="571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16" name="成组"/>
          <p:cNvGrpSpPr/>
          <p:nvPr/>
        </p:nvGrpSpPr>
        <p:grpSpPr>
          <a:xfrm>
            <a:off x="6286500" y="2057399"/>
            <a:ext cx="514350" cy="285751"/>
            <a:chOff x="0" y="0"/>
            <a:chExt cx="514350" cy="285750"/>
          </a:xfrm>
        </p:grpSpPr>
        <p:sp>
          <p:nvSpPr>
            <p:cNvPr id="1314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15" name="03"/>
            <p:cNvSpPr txBox="1"/>
            <p:nvPr/>
          </p:nvSpPr>
          <p:spPr>
            <a:xfrm>
              <a:off x="0" y="-1"/>
              <a:ext cx="5143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D8FE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03</a:t>
              </a:r>
            </a:p>
          </p:txBody>
        </p:sp>
      </p:grpSp>
      <p:grpSp>
        <p:nvGrpSpPr>
          <p:cNvPr id="1319" name="成组"/>
          <p:cNvGrpSpPr/>
          <p:nvPr/>
        </p:nvGrpSpPr>
        <p:grpSpPr>
          <a:xfrm>
            <a:off x="6286500" y="2533649"/>
            <a:ext cx="1809750" cy="285751"/>
            <a:chOff x="0" y="0"/>
            <a:chExt cx="1809750" cy="285750"/>
          </a:xfrm>
        </p:grpSpPr>
        <p:sp>
          <p:nvSpPr>
            <p:cNvPr id="1317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18" name="状态更新与重排"/>
            <p:cNvSpPr txBox="1"/>
            <p:nvPr/>
          </p:nvSpPr>
          <p:spPr>
            <a:xfrm>
              <a:off x="0" y="-1"/>
              <a:ext cx="1809750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状态更新与重排</a:t>
              </a:r>
            </a:p>
          </p:txBody>
        </p:sp>
      </p:grpSp>
      <p:grpSp>
        <p:nvGrpSpPr>
          <p:cNvPr id="1322" name="成组"/>
          <p:cNvGrpSpPr/>
          <p:nvPr/>
        </p:nvGrpSpPr>
        <p:grpSpPr>
          <a:xfrm>
            <a:off x="6286500" y="3105149"/>
            <a:ext cx="1809750" cy="552451"/>
            <a:chOff x="0" y="0"/>
            <a:chExt cx="1809750" cy="552450"/>
          </a:xfrm>
        </p:grpSpPr>
        <p:sp>
          <p:nvSpPr>
            <p:cNvPr id="1320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21" name="根据 StepResult、失败历史和 Lite state 调整候选顺序"/>
            <p:cNvSpPr txBox="1"/>
            <p:nvPr/>
          </p:nvSpPr>
          <p:spPr>
            <a:xfrm>
              <a:off x="0" y="-1"/>
              <a:ext cx="180975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根据 StepResult、失败历史和 Lite state 调整候选顺序</a:t>
              </a:r>
            </a:p>
          </p:txBody>
        </p:sp>
      </p:grpSp>
      <p:sp>
        <p:nvSpPr>
          <p:cNvPr id="1323" name="矩形"/>
          <p:cNvSpPr/>
          <p:nvPr/>
        </p:nvSpPr>
        <p:spPr>
          <a:xfrm>
            <a:off x="8420100" y="2876550"/>
            <a:ext cx="323850" cy="28575"/>
          </a:xfrm>
          <a:prstGeom prst="rect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4" name="圆形"/>
          <p:cNvSpPr/>
          <p:nvPr/>
        </p:nvSpPr>
        <p:spPr>
          <a:xfrm>
            <a:off x="8705850" y="2819400"/>
            <a:ext cx="114300" cy="114300"/>
          </a:xfrm>
          <a:prstGeom prst="ellipse">
            <a:avLst/>
          </a:prstGeom>
          <a:solidFill>
            <a:srgbClr val="B6D7F0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5" name="矩形"/>
          <p:cNvSpPr/>
          <p:nvPr/>
        </p:nvSpPr>
        <p:spPr>
          <a:xfrm>
            <a:off x="8801100" y="1790700"/>
            <a:ext cx="2247900" cy="22098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6" name="矩形"/>
          <p:cNvSpPr/>
          <p:nvPr/>
        </p:nvSpPr>
        <p:spPr>
          <a:xfrm>
            <a:off x="8801100" y="1790700"/>
            <a:ext cx="2247900" cy="571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29" name="成组"/>
          <p:cNvGrpSpPr/>
          <p:nvPr/>
        </p:nvGrpSpPr>
        <p:grpSpPr>
          <a:xfrm>
            <a:off x="8991600" y="2057399"/>
            <a:ext cx="514350" cy="285751"/>
            <a:chOff x="0" y="0"/>
            <a:chExt cx="514350" cy="285750"/>
          </a:xfrm>
        </p:grpSpPr>
        <p:sp>
          <p:nvSpPr>
            <p:cNvPr id="1327" name="矩形"/>
            <p:cNvSpPr/>
            <p:nvPr/>
          </p:nvSpPr>
          <p:spPr>
            <a:xfrm>
              <a:off x="0" y="0"/>
              <a:ext cx="5143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28" name="04"/>
            <p:cNvSpPr txBox="1"/>
            <p:nvPr/>
          </p:nvSpPr>
          <p:spPr>
            <a:xfrm>
              <a:off x="0" y="-1"/>
              <a:ext cx="5143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04</a:t>
              </a:r>
            </a:p>
          </p:txBody>
        </p:sp>
      </p:grpSp>
      <p:grpSp>
        <p:nvGrpSpPr>
          <p:cNvPr id="1332" name="成组"/>
          <p:cNvGrpSpPr/>
          <p:nvPr/>
        </p:nvGrpSpPr>
        <p:grpSpPr>
          <a:xfrm>
            <a:off x="8991600" y="2533649"/>
            <a:ext cx="1809750" cy="285751"/>
            <a:chOff x="0" y="0"/>
            <a:chExt cx="1809750" cy="285750"/>
          </a:xfrm>
        </p:grpSpPr>
        <p:sp>
          <p:nvSpPr>
            <p:cNvPr id="1330" name="矩形"/>
            <p:cNvSpPr/>
            <p:nvPr/>
          </p:nvSpPr>
          <p:spPr>
            <a:xfrm>
              <a:off x="0" y="0"/>
              <a:ext cx="1809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1" name="恢复动作选择"/>
            <p:cNvSpPr txBox="1"/>
            <p:nvPr/>
          </p:nvSpPr>
          <p:spPr>
            <a:xfrm>
              <a:off x="0" y="-1"/>
              <a:ext cx="1809750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恢复动作选择</a:t>
              </a:r>
            </a:p>
          </p:txBody>
        </p:sp>
      </p:grpSp>
      <p:grpSp>
        <p:nvGrpSpPr>
          <p:cNvPr id="1335" name="成组"/>
          <p:cNvGrpSpPr/>
          <p:nvPr/>
        </p:nvGrpSpPr>
        <p:grpSpPr>
          <a:xfrm>
            <a:off x="8991600" y="3105149"/>
            <a:ext cx="1809750" cy="552451"/>
            <a:chOff x="0" y="0"/>
            <a:chExt cx="1809750" cy="552450"/>
          </a:xfrm>
        </p:grpSpPr>
        <p:sp>
          <p:nvSpPr>
            <p:cNvPr id="1333" name="矩形"/>
            <p:cNvSpPr/>
            <p:nvPr/>
          </p:nvSpPr>
          <p:spPr>
            <a:xfrm>
              <a:off x="0" y="0"/>
              <a:ext cx="1809750" cy="552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4" name="输出 continue / patch_local / suffix_replan / stop"/>
            <p:cNvSpPr txBox="1"/>
            <p:nvPr/>
          </p:nvSpPr>
          <p:spPr>
            <a:xfrm>
              <a:off x="0" y="-1"/>
              <a:ext cx="1809750" cy="368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输出 continue / patch_local / suffix_replan / stop</a:t>
              </a:r>
            </a:p>
          </p:txBody>
        </p:sp>
      </p:grpSp>
      <p:grpSp>
        <p:nvGrpSpPr>
          <p:cNvPr id="1338" name="成组"/>
          <p:cNvGrpSpPr/>
          <p:nvPr/>
        </p:nvGrpSpPr>
        <p:grpSpPr>
          <a:xfrm>
            <a:off x="819150" y="4457700"/>
            <a:ext cx="4095750" cy="266700"/>
            <a:chOff x="0" y="0"/>
            <a:chExt cx="4095750" cy="266700"/>
          </a:xfrm>
        </p:grpSpPr>
        <p:sp>
          <p:nvSpPr>
            <p:cNvPr id="1336" name="矩形"/>
            <p:cNvSpPr/>
            <p:nvPr/>
          </p:nvSpPr>
          <p:spPr>
            <a:xfrm>
              <a:off x="0" y="0"/>
              <a:ext cx="40957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37" name="与普通 planner 的关键差异"/>
            <p:cNvSpPr txBox="1"/>
            <p:nvPr/>
          </p:nvSpPr>
          <p:spPr>
            <a:xfrm>
              <a:off x="0" y="0"/>
              <a:ext cx="409575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与普通 planner 的关键差异</a:t>
              </a:r>
            </a:p>
          </p:txBody>
        </p:sp>
      </p:grpSp>
      <p:sp>
        <p:nvSpPr>
          <p:cNvPr id="1339" name="矩形"/>
          <p:cNvSpPr/>
          <p:nvPr/>
        </p:nvSpPr>
        <p:spPr>
          <a:xfrm>
            <a:off x="819150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0" name="矩形"/>
          <p:cNvSpPr/>
          <p:nvPr/>
        </p:nvSpPr>
        <p:spPr>
          <a:xfrm>
            <a:off x="819150" y="4819650"/>
            <a:ext cx="47625" cy="7810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43" name="成组"/>
          <p:cNvGrpSpPr/>
          <p:nvPr/>
        </p:nvGrpSpPr>
        <p:grpSpPr>
          <a:xfrm>
            <a:off x="990600" y="4952999"/>
            <a:ext cx="2752725" cy="228601"/>
            <a:chOff x="0" y="0"/>
            <a:chExt cx="2752725" cy="228600"/>
          </a:xfrm>
        </p:grpSpPr>
        <p:sp>
          <p:nvSpPr>
            <p:cNvPr id="1341" name="矩形"/>
            <p:cNvSpPr/>
            <p:nvPr/>
          </p:nvSpPr>
          <p:spPr>
            <a:xfrm>
              <a:off x="0" y="-1"/>
              <a:ext cx="2752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42" name="先过滤再排序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先过滤再排序</a:t>
              </a:r>
            </a:p>
          </p:txBody>
        </p:sp>
      </p:grpSp>
      <p:grpSp>
        <p:nvGrpSpPr>
          <p:cNvPr id="1346" name="成组"/>
          <p:cNvGrpSpPr/>
          <p:nvPr/>
        </p:nvGrpSpPr>
        <p:grpSpPr>
          <a:xfrm>
            <a:off x="990600" y="5238749"/>
            <a:ext cx="2752725" cy="330201"/>
            <a:chOff x="0" y="0"/>
            <a:chExt cx="2752725" cy="330200"/>
          </a:xfrm>
        </p:grpSpPr>
        <p:sp>
          <p:nvSpPr>
            <p:cNvPr id="1344" name="矩形"/>
            <p:cNvSpPr/>
            <p:nvPr/>
          </p:nvSpPr>
          <p:spPr>
            <a:xfrm>
              <a:off x="0" y="-1"/>
              <a:ext cx="275272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45" name="缺工具、schema 错误、I/O 不闭合和安全违规候选不进入执行"/>
            <p:cNvSpPr txBox="1"/>
            <p:nvPr/>
          </p:nvSpPr>
          <p:spPr>
            <a:xfrm>
              <a:off x="0" y="0"/>
              <a:ext cx="2752725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缺工具、schema 错误、I/O 不闭合和安全违规候选不进入执行</a:t>
              </a:r>
            </a:p>
          </p:txBody>
        </p:sp>
      </p:grpSp>
      <p:sp>
        <p:nvSpPr>
          <p:cNvPr id="1347" name="矩形"/>
          <p:cNvSpPr/>
          <p:nvPr/>
        </p:nvSpPr>
        <p:spPr>
          <a:xfrm>
            <a:off x="4295775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8" name="矩形"/>
          <p:cNvSpPr/>
          <p:nvPr/>
        </p:nvSpPr>
        <p:spPr>
          <a:xfrm>
            <a:off x="4295775" y="4819650"/>
            <a:ext cx="47625" cy="7810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51" name="成组"/>
          <p:cNvGrpSpPr/>
          <p:nvPr/>
        </p:nvGrpSpPr>
        <p:grpSpPr>
          <a:xfrm>
            <a:off x="4467225" y="4952999"/>
            <a:ext cx="2752725" cy="228601"/>
            <a:chOff x="0" y="0"/>
            <a:chExt cx="2752725" cy="228600"/>
          </a:xfrm>
        </p:grpSpPr>
        <p:sp>
          <p:nvSpPr>
            <p:cNvPr id="1349" name="矩形"/>
            <p:cNvSpPr/>
            <p:nvPr/>
          </p:nvSpPr>
          <p:spPr>
            <a:xfrm>
              <a:off x="0" y="-1"/>
              <a:ext cx="2752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0" name="只重排合法候选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只重排合法候选</a:t>
              </a:r>
            </a:p>
          </p:txBody>
        </p:sp>
      </p:grpSp>
      <p:grpSp>
        <p:nvGrpSpPr>
          <p:cNvPr id="1354" name="成组"/>
          <p:cNvGrpSpPr/>
          <p:nvPr/>
        </p:nvGrpSpPr>
        <p:grpSpPr>
          <a:xfrm>
            <a:off x="4467225" y="5238749"/>
            <a:ext cx="2752725" cy="266701"/>
            <a:chOff x="0" y="0"/>
            <a:chExt cx="2752725" cy="266700"/>
          </a:xfrm>
        </p:grpSpPr>
        <p:sp>
          <p:nvSpPr>
            <p:cNvPr id="1352" name="矩形"/>
            <p:cNvSpPr/>
            <p:nvPr/>
          </p:nvSpPr>
          <p:spPr>
            <a:xfrm>
              <a:off x="0" y="0"/>
              <a:ext cx="2752725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3" name="运行时信息用于调整候选优先级，不覆盖硬约束"/>
            <p:cNvSpPr txBox="1"/>
            <p:nvPr/>
          </p:nvSpPr>
          <p:spPr>
            <a:xfrm>
              <a:off x="0" y="-1"/>
              <a:ext cx="2752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运行时信息用于调整候选优先级，不覆盖硬约束</a:t>
              </a:r>
            </a:p>
          </p:txBody>
        </p:sp>
      </p:grpSp>
      <p:sp>
        <p:nvSpPr>
          <p:cNvPr id="1355" name="矩形"/>
          <p:cNvSpPr/>
          <p:nvPr/>
        </p:nvSpPr>
        <p:spPr>
          <a:xfrm>
            <a:off x="7772400" y="4819650"/>
            <a:ext cx="3095625" cy="7810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6" name="矩形"/>
          <p:cNvSpPr/>
          <p:nvPr/>
        </p:nvSpPr>
        <p:spPr>
          <a:xfrm>
            <a:off x="7772400" y="4819650"/>
            <a:ext cx="47625" cy="7810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59" name="成组"/>
          <p:cNvGrpSpPr/>
          <p:nvPr/>
        </p:nvGrpSpPr>
        <p:grpSpPr>
          <a:xfrm>
            <a:off x="7943850" y="4952999"/>
            <a:ext cx="2752725" cy="228601"/>
            <a:chOff x="0" y="0"/>
            <a:chExt cx="2752725" cy="228600"/>
          </a:xfrm>
        </p:grpSpPr>
        <p:sp>
          <p:nvSpPr>
            <p:cNvPr id="1357" name="矩形"/>
            <p:cNvSpPr/>
            <p:nvPr/>
          </p:nvSpPr>
          <p:spPr>
            <a:xfrm>
              <a:off x="0" y="-1"/>
              <a:ext cx="2752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58" name="动作进入审计流程"/>
            <p:cNvSpPr txBox="1"/>
            <p:nvPr/>
          </p:nvSpPr>
          <p:spPr>
            <a:xfrm>
              <a:off x="0" y="0"/>
              <a:ext cx="2752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动作进入审计流程</a:t>
              </a:r>
            </a:p>
          </p:txBody>
        </p:sp>
      </p:grpSp>
      <p:grpSp>
        <p:nvGrpSpPr>
          <p:cNvPr id="1362" name="成组"/>
          <p:cNvGrpSpPr/>
          <p:nvPr/>
        </p:nvGrpSpPr>
        <p:grpSpPr>
          <a:xfrm>
            <a:off x="7943850" y="5238749"/>
            <a:ext cx="2752725" cy="330201"/>
            <a:chOff x="0" y="0"/>
            <a:chExt cx="2752725" cy="330200"/>
          </a:xfrm>
        </p:grpSpPr>
        <p:sp>
          <p:nvSpPr>
            <p:cNvPr id="1360" name="矩形"/>
            <p:cNvSpPr/>
            <p:nvPr/>
          </p:nvSpPr>
          <p:spPr>
            <a:xfrm>
              <a:off x="0" y="-1"/>
              <a:ext cx="2752725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61" name="四类动作通过 FSM/HITL 形成 PendingAction、Decision、EventLog"/>
            <p:cNvSpPr txBox="1"/>
            <p:nvPr/>
          </p:nvSpPr>
          <p:spPr>
            <a:xfrm>
              <a:off x="0" y="0"/>
              <a:ext cx="2752725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四类动作通过 FSM/HITL 形成 PendingAction、Decision、EventLog</a:t>
              </a:r>
            </a:p>
          </p:txBody>
        </p:sp>
      </p:grpSp>
      <p:grpSp>
        <p:nvGrpSpPr>
          <p:cNvPr id="1365" name="成组"/>
          <p:cNvGrpSpPr/>
          <p:nvPr/>
        </p:nvGrpSpPr>
        <p:grpSpPr>
          <a:xfrm>
            <a:off x="857250" y="5857875"/>
            <a:ext cx="10096500" cy="266700"/>
            <a:chOff x="0" y="0"/>
            <a:chExt cx="10096500" cy="266700"/>
          </a:xfrm>
        </p:grpSpPr>
        <p:sp>
          <p:nvSpPr>
            <p:cNvPr id="1363" name="矩形"/>
            <p:cNvSpPr/>
            <p:nvPr/>
          </p:nvSpPr>
          <p:spPr>
            <a:xfrm>
              <a:off x="0" y="0"/>
              <a:ext cx="10096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64" name="核心边界：硬约束先过滤，运行时只重排合法候选。"/>
            <p:cNvSpPr txBox="1"/>
            <p:nvPr/>
          </p:nvSpPr>
          <p:spPr>
            <a:xfrm>
              <a:off x="0" y="0"/>
              <a:ext cx="100965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核心边界：硬约束先过滤，运行时只重排合法候选。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36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71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36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70" name="CEBRA-WP 的效果如何体现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的效果如何体现</a:t>
              </a:r>
            </a:p>
          </p:txBody>
        </p:sp>
      </p:grpSp>
      <p:grpSp>
        <p:nvGrpSpPr>
          <p:cNvPr id="1374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37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373" name="RUNTIME STAT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RUNTIME STATE</a:t>
              </a:r>
            </a:p>
          </p:txBody>
        </p:sp>
      </p:grpSp>
      <p:pic>
        <p:nvPicPr>
          <p:cNvPr id="137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37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44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48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44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47" name="11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451" name="成组"/>
          <p:cNvGrpSpPr/>
          <p:nvPr/>
        </p:nvGrpSpPr>
        <p:grpSpPr>
          <a:xfrm>
            <a:off x="666750" y="1066799"/>
            <a:ext cx="9810750" cy="285751"/>
            <a:chOff x="0" y="0"/>
            <a:chExt cx="9810750" cy="285750"/>
          </a:xfrm>
        </p:grpSpPr>
        <p:sp>
          <p:nvSpPr>
            <p:cNvPr id="1449" name="矩形"/>
            <p:cNvSpPr/>
            <p:nvPr/>
          </p:nvSpPr>
          <p:spPr>
            <a:xfrm>
              <a:off x="0" y="0"/>
              <a:ext cx="9810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0" name="把轻量状态和 84-run 结果连起来，回答算法机制是否可观测、是否减少无效高代价调用。"/>
            <p:cNvSpPr txBox="1"/>
            <p:nvPr/>
          </p:nvSpPr>
          <p:spPr>
            <a:xfrm>
              <a:off x="0" y="-1"/>
              <a:ext cx="98107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把轻量状态和 84-run 结果连起来，回答算法机制是否可观测、是否减少无效高代价调用。</a:t>
              </a:r>
            </a:p>
          </p:txBody>
        </p:sp>
      </p:grpSp>
      <p:sp>
        <p:nvSpPr>
          <p:cNvPr id="1452" name="矩形"/>
          <p:cNvSpPr/>
          <p:nvPr/>
        </p:nvSpPr>
        <p:spPr>
          <a:xfrm>
            <a:off x="666750" y="1524000"/>
            <a:ext cx="2047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5" name="成组"/>
          <p:cNvGrpSpPr/>
          <p:nvPr/>
        </p:nvGrpSpPr>
        <p:grpSpPr>
          <a:xfrm>
            <a:off x="800100" y="1657349"/>
            <a:ext cx="1781175" cy="355601"/>
            <a:chOff x="0" y="0"/>
            <a:chExt cx="1781175" cy="355600"/>
          </a:xfrm>
        </p:grpSpPr>
        <p:sp>
          <p:nvSpPr>
            <p:cNvPr id="1453" name="矩形"/>
            <p:cNvSpPr/>
            <p:nvPr/>
          </p:nvSpPr>
          <p:spPr>
            <a:xfrm>
              <a:off x="0" y="-1"/>
              <a:ext cx="1781175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4" name="21/21"/>
            <p:cNvSpPr txBox="1"/>
            <p:nvPr/>
          </p:nvSpPr>
          <p:spPr>
            <a:xfrm>
              <a:off x="0" y="0"/>
              <a:ext cx="1781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21/21</a:t>
              </a:r>
            </a:p>
          </p:txBody>
        </p:sp>
      </p:grpSp>
      <p:grpSp>
        <p:nvGrpSpPr>
          <p:cNvPr id="1458" name="成组"/>
          <p:cNvGrpSpPr/>
          <p:nvPr/>
        </p:nvGrpSpPr>
        <p:grpSpPr>
          <a:xfrm>
            <a:off x="781050" y="2047874"/>
            <a:ext cx="1819275" cy="228601"/>
            <a:chOff x="0" y="0"/>
            <a:chExt cx="1819275" cy="228600"/>
          </a:xfrm>
        </p:grpSpPr>
        <p:sp>
          <p:nvSpPr>
            <p:cNvPr id="1456" name="矩形"/>
            <p:cNvSpPr/>
            <p:nvPr/>
          </p:nvSpPr>
          <p:spPr>
            <a:xfrm>
              <a:off x="0" y="0"/>
              <a:ext cx="1819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57" name="lite 组 RuntimeState"/>
            <p:cNvSpPr txBox="1"/>
            <p:nvPr/>
          </p:nvSpPr>
          <p:spPr>
            <a:xfrm>
              <a:off x="0" y="-1"/>
              <a:ext cx="18192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 组 RuntimeState</a:t>
              </a:r>
            </a:p>
          </p:txBody>
        </p:sp>
      </p:grpSp>
      <p:sp>
        <p:nvSpPr>
          <p:cNvPr id="1459" name="矩形"/>
          <p:cNvSpPr/>
          <p:nvPr/>
        </p:nvSpPr>
        <p:spPr>
          <a:xfrm>
            <a:off x="2952750" y="1524000"/>
            <a:ext cx="21907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2" name="成组"/>
          <p:cNvGrpSpPr/>
          <p:nvPr/>
        </p:nvGrpSpPr>
        <p:grpSpPr>
          <a:xfrm>
            <a:off x="3086100" y="1657349"/>
            <a:ext cx="1924050" cy="355601"/>
            <a:chOff x="0" y="0"/>
            <a:chExt cx="1924050" cy="355600"/>
          </a:xfrm>
        </p:grpSpPr>
        <p:sp>
          <p:nvSpPr>
            <p:cNvPr id="1460" name="矩形"/>
            <p:cNvSpPr/>
            <p:nvPr/>
          </p:nvSpPr>
          <p:spPr>
            <a:xfrm>
              <a:off x="0" y="-1"/>
              <a:ext cx="19240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1" name="20"/>
            <p:cNvSpPr txBox="1"/>
            <p:nvPr/>
          </p:nvSpPr>
          <p:spPr>
            <a:xfrm>
              <a:off x="0" y="0"/>
              <a:ext cx="19240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65" name="成组"/>
          <p:cNvGrpSpPr/>
          <p:nvPr/>
        </p:nvGrpSpPr>
        <p:grpSpPr>
          <a:xfrm>
            <a:off x="3067050" y="2047874"/>
            <a:ext cx="1962150" cy="228601"/>
            <a:chOff x="0" y="0"/>
            <a:chExt cx="1962150" cy="228600"/>
          </a:xfrm>
        </p:grpSpPr>
        <p:sp>
          <p:nvSpPr>
            <p:cNvPr id="1463" name="矩形"/>
            <p:cNvSpPr/>
            <p:nvPr/>
          </p:nvSpPr>
          <p:spPr>
            <a:xfrm>
              <a:off x="0" y="0"/>
              <a:ext cx="19621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4" name="dynamic/lite 高代价调用"/>
            <p:cNvSpPr txBox="1"/>
            <p:nvPr/>
          </p:nvSpPr>
          <p:spPr>
            <a:xfrm>
              <a:off x="0" y="-1"/>
              <a:ext cx="19621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高代价调用</a:t>
              </a:r>
            </a:p>
          </p:txBody>
        </p:sp>
      </p:grpSp>
      <p:sp>
        <p:nvSpPr>
          <p:cNvPr id="1466" name="矩形"/>
          <p:cNvSpPr/>
          <p:nvPr/>
        </p:nvSpPr>
        <p:spPr>
          <a:xfrm>
            <a:off x="5381625" y="1524000"/>
            <a:ext cx="18097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9" name="成组"/>
          <p:cNvGrpSpPr/>
          <p:nvPr/>
        </p:nvGrpSpPr>
        <p:grpSpPr>
          <a:xfrm>
            <a:off x="5514975" y="1657349"/>
            <a:ext cx="1543050" cy="355601"/>
            <a:chOff x="0" y="0"/>
            <a:chExt cx="1543050" cy="355600"/>
          </a:xfrm>
        </p:grpSpPr>
        <p:sp>
          <p:nvSpPr>
            <p:cNvPr id="1467" name="矩形"/>
            <p:cNvSpPr/>
            <p:nvPr/>
          </p:nvSpPr>
          <p:spPr>
            <a:xfrm>
              <a:off x="0" y="-1"/>
              <a:ext cx="15430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68" name="28"/>
            <p:cNvSpPr txBox="1"/>
            <p:nvPr/>
          </p:nvSpPr>
          <p:spPr>
            <a:xfrm>
              <a:off x="0" y="0"/>
              <a:ext cx="15430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1472" name="成组"/>
          <p:cNvGrpSpPr/>
          <p:nvPr/>
        </p:nvGrpSpPr>
        <p:grpSpPr>
          <a:xfrm>
            <a:off x="5495925" y="2047874"/>
            <a:ext cx="1581150" cy="228601"/>
            <a:chOff x="0" y="0"/>
            <a:chExt cx="1581150" cy="228600"/>
          </a:xfrm>
        </p:grpSpPr>
        <p:sp>
          <p:nvSpPr>
            <p:cNvPr id="1470" name="矩形"/>
            <p:cNvSpPr/>
            <p:nvPr/>
          </p:nvSpPr>
          <p:spPr>
            <a:xfrm>
              <a:off x="0" y="0"/>
              <a:ext cx="15811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1" name="fixed 高代价调用"/>
            <p:cNvSpPr txBox="1"/>
            <p:nvPr/>
          </p:nvSpPr>
          <p:spPr>
            <a:xfrm>
              <a:off x="0" y="-1"/>
              <a:ext cx="15811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 高代价调用</a:t>
              </a:r>
            </a:p>
          </p:txBody>
        </p:sp>
      </p:grpSp>
      <p:grpSp>
        <p:nvGrpSpPr>
          <p:cNvPr id="1475" name="成组"/>
          <p:cNvGrpSpPr/>
          <p:nvPr/>
        </p:nvGrpSpPr>
        <p:grpSpPr>
          <a:xfrm>
            <a:off x="7477125" y="1504949"/>
            <a:ext cx="2667000" cy="279401"/>
            <a:chOff x="0" y="0"/>
            <a:chExt cx="2667000" cy="279400"/>
          </a:xfrm>
        </p:grpSpPr>
        <p:sp>
          <p:nvSpPr>
            <p:cNvPr id="1473" name="矩形"/>
            <p:cNvSpPr/>
            <p:nvPr/>
          </p:nvSpPr>
          <p:spPr>
            <a:xfrm>
              <a:off x="0" y="-1"/>
              <a:ext cx="2667000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4" name="高代价调用次数"/>
            <p:cNvSpPr txBox="1"/>
            <p:nvPr/>
          </p:nvSpPr>
          <p:spPr>
            <a:xfrm>
              <a:off x="0" y="0"/>
              <a:ext cx="2667000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高代价调用次数</a:t>
              </a:r>
            </a:p>
          </p:txBody>
        </p:sp>
      </p:grpSp>
      <p:sp>
        <p:nvSpPr>
          <p:cNvPr id="1476" name="矩形"/>
          <p:cNvSpPr/>
          <p:nvPr/>
        </p:nvSpPr>
        <p:spPr>
          <a:xfrm>
            <a:off x="7477125" y="2085975"/>
            <a:ext cx="936625" cy="12001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79" name="成组"/>
          <p:cNvGrpSpPr/>
          <p:nvPr/>
        </p:nvGrpSpPr>
        <p:grpSpPr>
          <a:xfrm>
            <a:off x="7439025" y="1857374"/>
            <a:ext cx="1012825" cy="190501"/>
            <a:chOff x="0" y="0"/>
            <a:chExt cx="1012825" cy="190500"/>
          </a:xfrm>
        </p:grpSpPr>
        <p:sp>
          <p:nvSpPr>
            <p:cNvPr id="1477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78" name="28"/>
            <p:cNvSpPr txBox="1"/>
            <p:nvPr/>
          </p:nvSpPr>
          <p:spPr>
            <a:xfrm>
              <a:off x="0" y="-1"/>
              <a:ext cx="101282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1482" name="成组"/>
          <p:cNvGrpSpPr/>
          <p:nvPr/>
        </p:nvGrpSpPr>
        <p:grpSpPr>
          <a:xfrm>
            <a:off x="7400925" y="3362324"/>
            <a:ext cx="1089025" cy="323851"/>
            <a:chOff x="0" y="0"/>
            <a:chExt cx="1089025" cy="323850"/>
          </a:xfrm>
        </p:grpSpPr>
        <p:sp>
          <p:nvSpPr>
            <p:cNvPr id="1480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1" name="fixed"/>
            <p:cNvSpPr txBox="1"/>
            <p:nvPr/>
          </p:nvSpPr>
          <p:spPr>
            <a:xfrm>
              <a:off x="0" y="-1"/>
              <a:ext cx="1089025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</a:t>
              </a:r>
            </a:p>
          </p:txBody>
        </p:sp>
      </p:grpSp>
      <p:sp>
        <p:nvSpPr>
          <p:cNvPr id="1483" name="矩形"/>
          <p:cNvSpPr/>
          <p:nvPr/>
        </p:nvSpPr>
        <p:spPr>
          <a:xfrm>
            <a:off x="8604250" y="2428875"/>
            <a:ext cx="936625" cy="8572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86" name="成组"/>
          <p:cNvGrpSpPr/>
          <p:nvPr/>
        </p:nvGrpSpPr>
        <p:grpSpPr>
          <a:xfrm>
            <a:off x="8566150" y="2200274"/>
            <a:ext cx="1012825" cy="190501"/>
            <a:chOff x="0" y="0"/>
            <a:chExt cx="1012825" cy="190500"/>
          </a:xfrm>
        </p:grpSpPr>
        <p:sp>
          <p:nvSpPr>
            <p:cNvPr id="1484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5" name="20"/>
            <p:cNvSpPr txBox="1"/>
            <p:nvPr/>
          </p:nvSpPr>
          <p:spPr>
            <a:xfrm>
              <a:off x="0" y="-1"/>
              <a:ext cx="101282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89" name="成组"/>
          <p:cNvGrpSpPr/>
          <p:nvPr/>
        </p:nvGrpSpPr>
        <p:grpSpPr>
          <a:xfrm>
            <a:off x="8528050" y="3362324"/>
            <a:ext cx="1089025" cy="323851"/>
            <a:chOff x="0" y="0"/>
            <a:chExt cx="1089025" cy="323850"/>
          </a:xfrm>
        </p:grpSpPr>
        <p:sp>
          <p:nvSpPr>
            <p:cNvPr id="1487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88" name="dynamic"/>
            <p:cNvSpPr txBox="1"/>
            <p:nvPr/>
          </p:nvSpPr>
          <p:spPr>
            <a:xfrm>
              <a:off x="0" y="-1"/>
              <a:ext cx="1089025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</a:t>
              </a:r>
            </a:p>
          </p:txBody>
        </p:sp>
      </p:grpSp>
      <p:sp>
        <p:nvSpPr>
          <p:cNvPr id="1490" name="矩形"/>
          <p:cNvSpPr/>
          <p:nvPr/>
        </p:nvSpPr>
        <p:spPr>
          <a:xfrm>
            <a:off x="9731375" y="2428875"/>
            <a:ext cx="936625" cy="8572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3" name="成组"/>
          <p:cNvGrpSpPr/>
          <p:nvPr/>
        </p:nvGrpSpPr>
        <p:grpSpPr>
          <a:xfrm>
            <a:off x="9693275" y="2200274"/>
            <a:ext cx="1012825" cy="190501"/>
            <a:chOff x="0" y="0"/>
            <a:chExt cx="1012825" cy="190500"/>
          </a:xfrm>
        </p:grpSpPr>
        <p:sp>
          <p:nvSpPr>
            <p:cNvPr id="1491" name="矩形"/>
            <p:cNvSpPr/>
            <p:nvPr/>
          </p:nvSpPr>
          <p:spPr>
            <a:xfrm>
              <a:off x="0" y="0"/>
              <a:ext cx="1012825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92" name="20"/>
            <p:cNvSpPr txBox="1"/>
            <p:nvPr/>
          </p:nvSpPr>
          <p:spPr>
            <a:xfrm>
              <a:off x="0" y="-1"/>
              <a:ext cx="101282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1496" name="成组"/>
          <p:cNvGrpSpPr/>
          <p:nvPr/>
        </p:nvGrpSpPr>
        <p:grpSpPr>
          <a:xfrm>
            <a:off x="9655175" y="3362324"/>
            <a:ext cx="1089025" cy="323851"/>
            <a:chOff x="0" y="0"/>
            <a:chExt cx="1089025" cy="323850"/>
          </a:xfrm>
        </p:grpSpPr>
        <p:sp>
          <p:nvSpPr>
            <p:cNvPr id="1494" name="矩形"/>
            <p:cNvSpPr/>
            <p:nvPr/>
          </p:nvSpPr>
          <p:spPr>
            <a:xfrm>
              <a:off x="0" y="0"/>
              <a:ext cx="108902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495" name="lite"/>
            <p:cNvSpPr txBox="1"/>
            <p:nvPr/>
          </p:nvSpPr>
          <p:spPr>
            <a:xfrm>
              <a:off x="0" y="-1"/>
              <a:ext cx="1089025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</a:t>
              </a:r>
            </a:p>
          </p:txBody>
        </p:sp>
      </p:grpSp>
      <p:sp>
        <p:nvSpPr>
          <p:cNvPr id="1497" name="矩形"/>
          <p:cNvSpPr/>
          <p:nvPr/>
        </p:nvSpPr>
        <p:spPr>
          <a:xfrm>
            <a:off x="838200" y="3857625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8" name="矩形"/>
          <p:cNvSpPr/>
          <p:nvPr/>
        </p:nvSpPr>
        <p:spPr>
          <a:xfrm>
            <a:off x="838200" y="3857625"/>
            <a:ext cx="47625" cy="4953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1" name="成组"/>
          <p:cNvGrpSpPr/>
          <p:nvPr/>
        </p:nvGrpSpPr>
        <p:grpSpPr>
          <a:xfrm>
            <a:off x="1009650" y="3952874"/>
            <a:ext cx="9610725" cy="215901"/>
            <a:chOff x="0" y="0"/>
            <a:chExt cx="9610725" cy="215900"/>
          </a:xfrm>
        </p:grpSpPr>
        <p:sp>
          <p:nvSpPr>
            <p:cNvPr id="1499" name="矩形"/>
            <p:cNvSpPr/>
            <p:nvPr/>
          </p:nvSpPr>
          <p:spPr>
            <a:xfrm>
              <a:off x="0" y="-1"/>
              <a:ext cx="9610725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0" name="状态可观测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状态可观测</a:t>
              </a:r>
            </a:p>
          </p:txBody>
        </p:sp>
      </p:grpSp>
      <p:grpSp>
        <p:nvGrpSpPr>
          <p:cNvPr id="1504" name="成组"/>
          <p:cNvGrpSpPr/>
          <p:nvPr/>
        </p:nvGrpSpPr>
        <p:grpSpPr>
          <a:xfrm>
            <a:off x="1009650" y="4171949"/>
            <a:ext cx="9610725" cy="171451"/>
            <a:chOff x="0" y="0"/>
            <a:chExt cx="9610725" cy="171450"/>
          </a:xfrm>
        </p:grpSpPr>
        <p:sp>
          <p:nvSpPr>
            <p:cNvPr id="1502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3" name="lite_belief_state 组 21/21 runs 产生 RuntimeState，说明恢复依据能落到日志和快照中。"/>
            <p:cNvSpPr txBox="1"/>
            <p:nvPr/>
          </p:nvSpPr>
          <p:spPr>
            <a:xfrm>
              <a:off x="0" y="-1"/>
              <a:ext cx="9610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 组 21/21 runs 产生 RuntimeState，说明恢复依据能落到日志和快照中。</a:t>
              </a:r>
            </a:p>
          </p:txBody>
        </p:sp>
      </p:grpSp>
      <p:sp>
        <p:nvSpPr>
          <p:cNvPr id="1505" name="矩形"/>
          <p:cNvSpPr/>
          <p:nvPr/>
        </p:nvSpPr>
        <p:spPr>
          <a:xfrm>
            <a:off x="838200" y="4495800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6" name="矩形"/>
          <p:cNvSpPr/>
          <p:nvPr/>
        </p:nvSpPr>
        <p:spPr>
          <a:xfrm>
            <a:off x="838200" y="4495800"/>
            <a:ext cx="47625" cy="4953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9" name="成组"/>
          <p:cNvGrpSpPr/>
          <p:nvPr/>
        </p:nvGrpSpPr>
        <p:grpSpPr>
          <a:xfrm>
            <a:off x="1009650" y="4591049"/>
            <a:ext cx="9610725" cy="215901"/>
            <a:chOff x="0" y="0"/>
            <a:chExt cx="9610725" cy="215900"/>
          </a:xfrm>
        </p:grpSpPr>
        <p:sp>
          <p:nvSpPr>
            <p:cNvPr id="1507" name="矩形"/>
            <p:cNvSpPr/>
            <p:nvPr/>
          </p:nvSpPr>
          <p:spPr>
            <a:xfrm>
              <a:off x="0" y="-1"/>
              <a:ext cx="9610725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08" name="调用更克制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调用更克制</a:t>
              </a:r>
            </a:p>
          </p:txBody>
        </p:sp>
      </p:grpSp>
      <p:grpSp>
        <p:nvGrpSpPr>
          <p:cNvPr id="1512" name="成组"/>
          <p:cNvGrpSpPr/>
          <p:nvPr/>
        </p:nvGrpSpPr>
        <p:grpSpPr>
          <a:xfrm>
            <a:off x="1009650" y="4810124"/>
            <a:ext cx="9610725" cy="171451"/>
            <a:chOff x="0" y="0"/>
            <a:chExt cx="9610725" cy="171450"/>
          </a:xfrm>
        </p:grpSpPr>
        <p:sp>
          <p:nvSpPr>
            <p:cNvPr id="1510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1" name="dynamic/lite 高代价调用为 20 次，fixed 为 28 次，动态机制减少无效高代价调用。"/>
            <p:cNvSpPr txBox="1"/>
            <p:nvPr/>
          </p:nvSpPr>
          <p:spPr>
            <a:xfrm>
              <a:off x="0" y="-1"/>
              <a:ext cx="9610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高代价调用为 20 次，fixed 为 28 次，动态机制减少无效高代价调用。</a:t>
              </a:r>
            </a:p>
          </p:txBody>
        </p:sp>
      </p:grpSp>
      <p:sp>
        <p:nvSpPr>
          <p:cNvPr id="1513" name="矩形"/>
          <p:cNvSpPr/>
          <p:nvPr/>
        </p:nvSpPr>
        <p:spPr>
          <a:xfrm>
            <a:off x="838200" y="5133975"/>
            <a:ext cx="9953625" cy="4953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4" name="矩形"/>
          <p:cNvSpPr/>
          <p:nvPr/>
        </p:nvSpPr>
        <p:spPr>
          <a:xfrm>
            <a:off x="838200" y="5133975"/>
            <a:ext cx="47625" cy="4953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17" name="成组"/>
          <p:cNvGrpSpPr/>
          <p:nvPr/>
        </p:nvGrpSpPr>
        <p:grpSpPr>
          <a:xfrm>
            <a:off x="1009650" y="5229224"/>
            <a:ext cx="9610725" cy="215901"/>
            <a:chOff x="0" y="0"/>
            <a:chExt cx="9610725" cy="215900"/>
          </a:xfrm>
        </p:grpSpPr>
        <p:sp>
          <p:nvSpPr>
            <p:cNvPr id="1515" name="矩形"/>
            <p:cNvSpPr/>
            <p:nvPr/>
          </p:nvSpPr>
          <p:spPr>
            <a:xfrm>
              <a:off x="0" y="-1"/>
              <a:ext cx="9610725" cy="1905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6" name="结论边界清楚"/>
            <p:cNvSpPr txBox="1"/>
            <p:nvPr/>
          </p:nvSpPr>
          <p:spPr>
            <a:xfrm>
              <a:off x="0" y="0"/>
              <a:ext cx="96107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结论边界清楚</a:t>
              </a:r>
            </a:p>
          </p:txBody>
        </p:sp>
      </p:grpSp>
      <p:grpSp>
        <p:nvGrpSpPr>
          <p:cNvPr id="1520" name="成组"/>
          <p:cNvGrpSpPr/>
          <p:nvPr/>
        </p:nvGrpSpPr>
        <p:grpSpPr>
          <a:xfrm>
            <a:off x="1009650" y="5448299"/>
            <a:ext cx="9610725" cy="171451"/>
            <a:chOff x="0" y="0"/>
            <a:chExt cx="9610725" cy="171450"/>
          </a:xfrm>
        </p:grpSpPr>
        <p:sp>
          <p:nvSpPr>
            <p:cNvPr id="1518" name="矩形"/>
            <p:cNvSpPr/>
            <p:nvPr/>
          </p:nvSpPr>
          <p:spPr>
            <a:xfrm>
              <a:off x="0" y="0"/>
              <a:ext cx="961072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19" name="成功率没有形成明显优势，因此主要结论限定在机制可观测、恢复解释和成本控制。"/>
            <p:cNvSpPr txBox="1"/>
            <p:nvPr/>
          </p:nvSpPr>
          <p:spPr>
            <a:xfrm>
              <a:off x="0" y="-1"/>
              <a:ext cx="9610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成功率没有形成明显优势，因此主要结论限定在机制可观测、恢复解释和成本控制。</a:t>
              </a:r>
            </a:p>
          </p:txBody>
        </p:sp>
      </p:grpSp>
      <p:grpSp>
        <p:nvGrpSpPr>
          <p:cNvPr id="1523" name="成组"/>
          <p:cNvGrpSpPr/>
          <p:nvPr/>
        </p:nvGrpSpPr>
        <p:grpSpPr>
          <a:xfrm>
            <a:off x="904875" y="5857875"/>
            <a:ext cx="9906000" cy="266700"/>
            <a:chOff x="0" y="0"/>
            <a:chExt cx="9906000" cy="266700"/>
          </a:xfrm>
        </p:grpSpPr>
        <p:sp>
          <p:nvSpPr>
            <p:cNvPr id="1521" name="矩形"/>
            <p:cNvSpPr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22" name="完整实验矩阵与 84-run 汇总见第 15 页。"/>
            <p:cNvSpPr txBox="1"/>
            <p:nvPr/>
          </p:nvSpPr>
          <p:spPr>
            <a:xfrm>
              <a:off x="0" y="0"/>
              <a:ext cx="9906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完整实验矩阵与 84-run 汇总见第 15 页。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52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529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52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28" name="从设计到代码的模块落点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从设计到代码的模块落点</a:t>
              </a:r>
            </a:p>
          </p:txBody>
        </p:sp>
      </p:grpSp>
      <p:grpSp>
        <p:nvGrpSpPr>
          <p:cNvPr id="1532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53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531" name="IMPLEMENTATION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IMPLEMENTATION</a:t>
              </a:r>
            </a:p>
          </p:txBody>
        </p:sp>
      </p:grpSp>
      <p:pic>
        <p:nvPicPr>
          <p:cNvPr id="153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53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9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0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6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60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05" name="12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12</a:t>
              </a:r>
            </a:p>
          </p:txBody>
        </p:sp>
      </p:grpSp>
      <p:sp>
        <p:nvSpPr>
          <p:cNvPr id="1607" name="矩形"/>
          <p:cNvSpPr/>
          <p:nvPr/>
        </p:nvSpPr>
        <p:spPr>
          <a:xfrm>
            <a:off x="609600" y="11620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08" name="矩形"/>
          <p:cNvSpPr/>
          <p:nvPr/>
        </p:nvSpPr>
        <p:spPr>
          <a:xfrm>
            <a:off x="609600" y="1162050"/>
            <a:ext cx="47625" cy="7429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1" name="成组"/>
          <p:cNvGrpSpPr/>
          <p:nvPr/>
        </p:nvGrpSpPr>
        <p:grpSpPr>
          <a:xfrm>
            <a:off x="781050" y="1257299"/>
            <a:ext cx="2895600" cy="219076"/>
            <a:chOff x="0" y="0"/>
            <a:chExt cx="2895600" cy="219075"/>
          </a:xfrm>
        </p:grpSpPr>
        <p:sp>
          <p:nvSpPr>
            <p:cNvPr id="1609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0" name="src/api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src/api/</a:t>
              </a:r>
            </a:p>
          </p:txBody>
        </p:sp>
      </p:grpSp>
      <p:grpSp>
        <p:nvGrpSpPr>
          <p:cNvPr id="1614" name="成组"/>
          <p:cNvGrpSpPr/>
          <p:nvPr/>
        </p:nvGrpSpPr>
        <p:grpSpPr>
          <a:xfrm>
            <a:off x="781050" y="1504949"/>
            <a:ext cx="2895600" cy="323851"/>
            <a:chOff x="0" y="0"/>
            <a:chExt cx="2895600" cy="323850"/>
          </a:xfrm>
        </p:grpSpPr>
        <p:sp>
          <p:nvSpPr>
            <p:cNvPr id="1612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3" name="任务、HITL、事件、报告接口"/>
            <p:cNvSpPr txBox="1"/>
            <p:nvPr/>
          </p:nvSpPr>
          <p:spPr>
            <a:xfrm>
              <a:off x="0" y="-1"/>
              <a:ext cx="2895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任务、HITL、事件、报告接口</a:t>
              </a:r>
            </a:p>
          </p:txBody>
        </p:sp>
      </p:grpSp>
      <p:sp>
        <p:nvSpPr>
          <p:cNvPr id="1615" name="矩形"/>
          <p:cNvSpPr/>
          <p:nvPr/>
        </p:nvSpPr>
        <p:spPr>
          <a:xfrm>
            <a:off x="609600" y="213360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6" name="矩形"/>
          <p:cNvSpPr/>
          <p:nvPr/>
        </p:nvSpPr>
        <p:spPr>
          <a:xfrm>
            <a:off x="609600" y="2133600"/>
            <a:ext cx="47625" cy="7429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9" name="成组"/>
          <p:cNvGrpSpPr/>
          <p:nvPr/>
        </p:nvGrpSpPr>
        <p:grpSpPr>
          <a:xfrm>
            <a:off x="781050" y="2228849"/>
            <a:ext cx="2895600" cy="219076"/>
            <a:chOff x="0" y="0"/>
            <a:chExt cx="2895600" cy="219075"/>
          </a:xfrm>
        </p:grpSpPr>
        <p:sp>
          <p:nvSpPr>
            <p:cNvPr id="1617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18" name="src/models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src/models/</a:t>
              </a:r>
            </a:p>
          </p:txBody>
        </p:sp>
      </p:grpSp>
      <p:grpSp>
        <p:nvGrpSpPr>
          <p:cNvPr id="1622" name="成组"/>
          <p:cNvGrpSpPr/>
          <p:nvPr/>
        </p:nvGrpSpPr>
        <p:grpSpPr>
          <a:xfrm>
            <a:off x="781050" y="2476499"/>
            <a:ext cx="2895600" cy="323851"/>
            <a:chOff x="0" y="0"/>
            <a:chExt cx="2895600" cy="323850"/>
          </a:xfrm>
        </p:grpSpPr>
        <p:sp>
          <p:nvSpPr>
            <p:cNvPr id="1620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1" name="Pydantic 契约与状态枚举"/>
            <p:cNvSpPr txBox="1"/>
            <p:nvPr/>
          </p:nvSpPr>
          <p:spPr>
            <a:xfrm>
              <a:off x="0" y="-1"/>
              <a:ext cx="2895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Pydantic 契约与状态枚举</a:t>
              </a:r>
            </a:p>
          </p:txBody>
        </p:sp>
      </p:grpSp>
      <p:sp>
        <p:nvSpPr>
          <p:cNvPr id="1623" name="矩形"/>
          <p:cNvSpPr/>
          <p:nvPr/>
        </p:nvSpPr>
        <p:spPr>
          <a:xfrm>
            <a:off x="609600" y="31051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24" name="矩形"/>
          <p:cNvSpPr/>
          <p:nvPr/>
        </p:nvSpPr>
        <p:spPr>
          <a:xfrm>
            <a:off x="609600" y="3105150"/>
            <a:ext cx="47625" cy="7429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7" name="成组"/>
          <p:cNvGrpSpPr/>
          <p:nvPr/>
        </p:nvGrpSpPr>
        <p:grpSpPr>
          <a:xfrm>
            <a:off x="781050" y="3200399"/>
            <a:ext cx="2895600" cy="219076"/>
            <a:chOff x="0" y="0"/>
            <a:chExt cx="2895600" cy="219075"/>
          </a:xfrm>
        </p:grpSpPr>
        <p:sp>
          <p:nvSpPr>
            <p:cNvPr id="1625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6" name="src/agents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src/agents/</a:t>
              </a:r>
            </a:p>
          </p:txBody>
        </p:sp>
      </p:grpSp>
      <p:grpSp>
        <p:nvGrpSpPr>
          <p:cNvPr id="1630" name="成组"/>
          <p:cNvGrpSpPr/>
          <p:nvPr/>
        </p:nvGrpSpPr>
        <p:grpSpPr>
          <a:xfrm>
            <a:off x="781050" y="3448049"/>
            <a:ext cx="2895600" cy="323851"/>
            <a:chOff x="0" y="0"/>
            <a:chExt cx="2895600" cy="323850"/>
          </a:xfrm>
        </p:grpSpPr>
        <p:sp>
          <p:nvSpPr>
            <p:cNvPr id="1628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29" name="Planner / Executor / Safety / Summarizer"/>
            <p:cNvSpPr txBox="1"/>
            <p:nvPr/>
          </p:nvSpPr>
          <p:spPr>
            <a:xfrm>
              <a:off x="0" y="-1"/>
              <a:ext cx="28956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Planner / Executor / Safety / Summarizer</a:t>
              </a:r>
            </a:p>
          </p:txBody>
        </p:sp>
      </p:grpSp>
      <p:sp>
        <p:nvSpPr>
          <p:cNvPr id="1631" name="矩形"/>
          <p:cNvSpPr/>
          <p:nvPr/>
        </p:nvSpPr>
        <p:spPr>
          <a:xfrm>
            <a:off x="4324350" y="11620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32" name="矩形"/>
          <p:cNvSpPr/>
          <p:nvPr/>
        </p:nvSpPr>
        <p:spPr>
          <a:xfrm>
            <a:off x="4324350" y="1162050"/>
            <a:ext cx="47625" cy="7429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5" name="成组"/>
          <p:cNvGrpSpPr/>
          <p:nvPr/>
        </p:nvGrpSpPr>
        <p:grpSpPr>
          <a:xfrm>
            <a:off x="4495800" y="1257299"/>
            <a:ext cx="2895600" cy="219076"/>
            <a:chOff x="0" y="0"/>
            <a:chExt cx="2895600" cy="219075"/>
          </a:xfrm>
        </p:grpSpPr>
        <p:sp>
          <p:nvSpPr>
            <p:cNvPr id="1633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34" name="src/workflow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src/workflow/</a:t>
              </a:r>
            </a:p>
          </p:txBody>
        </p:sp>
      </p:grpSp>
      <p:grpSp>
        <p:nvGrpSpPr>
          <p:cNvPr id="1638" name="成组"/>
          <p:cNvGrpSpPr/>
          <p:nvPr/>
        </p:nvGrpSpPr>
        <p:grpSpPr>
          <a:xfrm>
            <a:off x="4495800" y="1504949"/>
            <a:ext cx="2895600" cy="323851"/>
            <a:chOff x="0" y="0"/>
            <a:chExt cx="2895600" cy="323850"/>
          </a:xfrm>
        </p:grpSpPr>
        <p:sp>
          <p:nvSpPr>
            <p:cNvPr id="1636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37" name="FSM、PlanRunner、StepRunner、RuntimeEvaluator"/>
            <p:cNvSpPr txBox="1"/>
            <p:nvPr/>
          </p:nvSpPr>
          <p:spPr>
            <a:xfrm>
              <a:off x="0" y="-1"/>
              <a:ext cx="2895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FSM、PlanRunner、StepRunner、RuntimeEvaluator</a:t>
              </a:r>
            </a:p>
          </p:txBody>
        </p:sp>
      </p:grpSp>
      <p:sp>
        <p:nvSpPr>
          <p:cNvPr id="1639" name="矩形"/>
          <p:cNvSpPr/>
          <p:nvPr/>
        </p:nvSpPr>
        <p:spPr>
          <a:xfrm>
            <a:off x="4324350" y="213360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0" name="矩形"/>
          <p:cNvSpPr/>
          <p:nvPr/>
        </p:nvSpPr>
        <p:spPr>
          <a:xfrm>
            <a:off x="4324350" y="2133600"/>
            <a:ext cx="47625" cy="74295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3" name="成组"/>
          <p:cNvGrpSpPr/>
          <p:nvPr/>
        </p:nvGrpSpPr>
        <p:grpSpPr>
          <a:xfrm>
            <a:off x="4495800" y="2228849"/>
            <a:ext cx="2895600" cy="219076"/>
            <a:chOff x="0" y="0"/>
            <a:chExt cx="2895600" cy="219075"/>
          </a:xfrm>
        </p:grpSpPr>
        <p:sp>
          <p:nvSpPr>
            <p:cNvPr id="1641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42" name="src/adapters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src/adapters/</a:t>
              </a:r>
            </a:p>
          </p:txBody>
        </p:sp>
      </p:grpSp>
      <p:grpSp>
        <p:nvGrpSpPr>
          <p:cNvPr id="1646" name="成组"/>
          <p:cNvGrpSpPr/>
          <p:nvPr/>
        </p:nvGrpSpPr>
        <p:grpSpPr>
          <a:xfrm>
            <a:off x="4495800" y="2476499"/>
            <a:ext cx="2895600" cy="323851"/>
            <a:chOff x="0" y="0"/>
            <a:chExt cx="2895600" cy="323850"/>
          </a:xfrm>
        </p:grpSpPr>
        <p:sp>
          <p:nvSpPr>
            <p:cNvPr id="1644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45" name="ToolAdapter 与具体工具封装"/>
            <p:cNvSpPr txBox="1"/>
            <p:nvPr/>
          </p:nvSpPr>
          <p:spPr>
            <a:xfrm>
              <a:off x="0" y="-1"/>
              <a:ext cx="2895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 与具体工具封装</a:t>
              </a:r>
            </a:p>
          </p:txBody>
        </p:sp>
      </p:grpSp>
      <p:sp>
        <p:nvSpPr>
          <p:cNvPr id="1647" name="矩形"/>
          <p:cNvSpPr/>
          <p:nvPr/>
        </p:nvSpPr>
        <p:spPr>
          <a:xfrm>
            <a:off x="4324350" y="3105150"/>
            <a:ext cx="3238500" cy="7429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8" name="矩形"/>
          <p:cNvSpPr/>
          <p:nvPr/>
        </p:nvSpPr>
        <p:spPr>
          <a:xfrm>
            <a:off x="4324350" y="3105150"/>
            <a:ext cx="47625" cy="7429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51" name="成组"/>
          <p:cNvGrpSpPr/>
          <p:nvPr/>
        </p:nvGrpSpPr>
        <p:grpSpPr>
          <a:xfrm>
            <a:off x="4495800" y="3200399"/>
            <a:ext cx="2895600" cy="219076"/>
            <a:chOff x="0" y="0"/>
            <a:chExt cx="2895600" cy="219075"/>
          </a:xfrm>
        </p:grpSpPr>
        <p:sp>
          <p:nvSpPr>
            <p:cNvPr id="1649" name="矩形"/>
            <p:cNvSpPr/>
            <p:nvPr/>
          </p:nvSpPr>
          <p:spPr>
            <a:xfrm>
              <a:off x="0" y="0"/>
              <a:ext cx="2895600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50" name="src/kg/ + src/storage/"/>
            <p:cNvSpPr txBox="1"/>
            <p:nvPr/>
          </p:nvSpPr>
          <p:spPr>
            <a:xfrm>
              <a:off x="0" y="-1"/>
              <a:ext cx="289560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4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src/kg/ + src/storage/</a:t>
              </a:r>
            </a:p>
          </p:txBody>
        </p:sp>
      </p:grpSp>
      <p:grpSp>
        <p:nvGrpSpPr>
          <p:cNvPr id="1654" name="成组"/>
          <p:cNvGrpSpPr/>
          <p:nvPr/>
        </p:nvGrpSpPr>
        <p:grpSpPr>
          <a:xfrm>
            <a:off x="4495800" y="3448049"/>
            <a:ext cx="2895600" cy="323851"/>
            <a:chOff x="0" y="0"/>
            <a:chExt cx="2895600" cy="323850"/>
          </a:xfrm>
        </p:grpSpPr>
        <p:sp>
          <p:nvSpPr>
            <p:cNvPr id="1652" name="矩形"/>
            <p:cNvSpPr/>
            <p:nvPr/>
          </p:nvSpPr>
          <p:spPr>
            <a:xfrm>
              <a:off x="0" y="0"/>
              <a:ext cx="28956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53" name="ProteinToolKG、EventLog、Snapshot"/>
            <p:cNvSpPr txBox="1"/>
            <p:nvPr/>
          </p:nvSpPr>
          <p:spPr>
            <a:xfrm>
              <a:off x="0" y="-1"/>
              <a:ext cx="2895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ProteinToolKG、EventLog、Snapshot</a:t>
              </a:r>
            </a:p>
          </p:txBody>
        </p:sp>
      </p:grpSp>
      <p:sp>
        <p:nvSpPr>
          <p:cNvPr id="1655" name="矩形"/>
          <p:cNvSpPr/>
          <p:nvPr/>
        </p:nvSpPr>
        <p:spPr>
          <a:xfrm>
            <a:off x="7905750" y="1123950"/>
            <a:ext cx="3238500" cy="1714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56" name="image43.png" descr="image43.png"/>
          <p:cNvPicPr>
            <a:picLocks noChangeAspect="1"/>
          </p:cNvPicPr>
          <p:nvPr/>
        </p:nvPicPr>
        <p:blipFill>
          <a:blip r:embed="rId5">
            <a:extLst/>
          </a:blip>
          <a:srcRect l="3954" t="0" r="3954" b="0"/>
          <a:stretch>
            <a:fillRect/>
          </a:stretch>
        </p:blipFill>
        <p:spPr>
          <a:xfrm>
            <a:off x="7905750" y="1123950"/>
            <a:ext cx="3238501" cy="1714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57" name="矩形"/>
          <p:cNvSpPr/>
          <p:nvPr/>
        </p:nvSpPr>
        <p:spPr>
          <a:xfrm>
            <a:off x="7905750" y="3105150"/>
            <a:ext cx="3238500" cy="1714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58" name="image44.png" descr="image44.png"/>
          <p:cNvPicPr>
            <a:picLocks noChangeAspect="1"/>
          </p:cNvPicPr>
          <p:nvPr/>
        </p:nvPicPr>
        <p:blipFill>
          <a:blip r:embed="rId6">
            <a:extLst/>
          </a:blip>
          <a:srcRect l="3537" t="0" r="3537" b="0"/>
          <a:stretch>
            <a:fillRect/>
          </a:stretch>
        </p:blipFill>
        <p:spPr>
          <a:xfrm>
            <a:off x="7905749" y="3105150"/>
            <a:ext cx="3238502" cy="1714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61" name="成组"/>
          <p:cNvGrpSpPr/>
          <p:nvPr/>
        </p:nvGrpSpPr>
        <p:grpSpPr>
          <a:xfrm>
            <a:off x="7886700" y="5048249"/>
            <a:ext cx="3286125" cy="457201"/>
            <a:chOff x="0" y="0"/>
            <a:chExt cx="3286125" cy="457200"/>
          </a:xfrm>
        </p:grpSpPr>
        <p:sp>
          <p:nvSpPr>
            <p:cNvPr id="1659" name="矩形"/>
            <p:cNvSpPr/>
            <p:nvPr/>
          </p:nvSpPr>
          <p:spPr>
            <a:xfrm>
              <a:off x="0" y="-1"/>
              <a:ext cx="3286125" cy="4000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0" name="前端只展示后端状态与决策入口，不自行推导 FSM。"/>
            <p:cNvSpPr txBox="1"/>
            <p:nvPr/>
          </p:nvSpPr>
          <p:spPr>
            <a:xfrm>
              <a:off x="0" y="0"/>
              <a:ext cx="3286125" cy="457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前端只展示后端状态与决策入口，不自行推导 FSM。</a:t>
              </a:r>
            </a:p>
          </p:txBody>
        </p:sp>
      </p:grpSp>
      <p:grpSp>
        <p:nvGrpSpPr>
          <p:cNvPr id="1664" name="成组"/>
          <p:cNvGrpSpPr/>
          <p:nvPr/>
        </p:nvGrpSpPr>
        <p:grpSpPr>
          <a:xfrm>
            <a:off x="904875" y="5810249"/>
            <a:ext cx="9620250" cy="285751"/>
            <a:chOff x="0" y="0"/>
            <a:chExt cx="9620250" cy="285750"/>
          </a:xfrm>
        </p:grpSpPr>
        <p:sp>
          <p:nvSpPr>
            <p:cNvPr id="1662" name="矩形"/>
            <p:cNvSpPr/>
            <p:nvPr/>
          </p:nvSpPr>
          <p:spPr>
            <a:xfrm>
              <a:off x="0" y="0"/>
              <a:ext cx="96202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3" name="实现重点：统一数据契约、显式状态机、适配器抽象、证据日志。"/>
            <p:cNvSpPr txBox="1"/>
            <p:nvPr/>
          </p:nvSpPr>
          <p:spPr>
            <a:xfrm>
              <a:off x="0" y="-1"/>
              <a:ext cx="962025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实现重点：统一数据契约、显式状态机、适配器抽象、证据日志。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667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70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668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69" name="可恢复执行如何落地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可恢复执行如何落地</a:t>
              </a:r>
            </a:p>
          </p:txBody>
        </p:sp>
      </p:grpSp>
      <p:grpSp>
        <p:nvGrpSpPr>
          <p:cNvPr id="1673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671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672" name="RUNTIME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RUNTIME</a:t>
              </a:r>
            </a:p>
          </p:txBody>
        </p:sp>
      </p:grpSp>
      <p:pic>
        <p:nvPicPr>
          <p:cNvPr id="1674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5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6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7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0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1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2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3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4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5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6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7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8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9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0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1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2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3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4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5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6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7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8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9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0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1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2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3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4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5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6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7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8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9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0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1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2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3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4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5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6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7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8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19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0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1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2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3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4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5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6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7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8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9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0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1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2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3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4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5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6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7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8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39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0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1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2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3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744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747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745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46" name="13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</a:t>
              </a:r>
            </a:p>
          </p:txBody>
        </p:sp>
      </p:grpSp>
      <p:sp>
        <p:nvSpPr>
          <p:cNvPr id="1748" name="矩形"/>
          <p:cNvSpPr/>
          <p:nvPr/>
        </p:nvSpPr>
        <p:spPr>
          <a:xfrm>
            <a:off x="514350" y="1066800"/>
            <a:ext cx="7239000" cy="4333875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749" name="image48.png" descr="image48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71833" y="1104900"/>
            <a:ext cx="5724034" cy="4257675"/>
          </a:xfrm>
          <a:prstGeom prst="rect">
            <a:avLst/>
          </a:prstGeom>
          <a:ln w="12700">
            <a:miter lim="400000"/>
          </a:ln>
        </p:spPr>
      </p:pic>
      <p:sp>
        <p:nvSpPr>
          <p:cNvPr id="1750" name="矩形"/>
          <p:cNvSpPr/>
          <p:nvPr/>
        </p:nvSpPr>
        <p:spPr>
          <a:xfrm>
            <a:off x="8096250" y="112395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1" name="矩形"/>
          <p:cNvSpPr/>
          <p:nvPr/>
        </p:nvSpPr>
        <p:spPr>
          <a:xfrm>
            <a:off x="8096250" y="1123950"/>
            <a:ext cx="47625" cy="9525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54" name="成组"/>
          <p:cNvGrpSpPr/>
          <p:nvPr/>
        </p:nvGrpSpPr>
        <p:grpSpPr>
          <a:xfrm>
            <a:off x="8267700" y="1257300"/>
            <a:ext cx="2990850" cy="228600"/>
            <a:chOff x="0" y="0"/>
            <a:chExt cx="2990850" cy="228600"/>
          </a:xfrm>
        </p:grpSpPr>
        <p:sp>
          <p:nvSpPr>
            <p:cNvPr id="1752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53" name="WorkflowContext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WorkflowContext</a:t>
              </a:r>
            </a:p>
          </p:txBody>
        </p:sp>
      </p:grpSp>
      <p:grpSp>
        <p:nvGrpSpPr>
          <p:cNvPr id="1757" name="成组"/>
          <p:cNvGrpSpPr/>
          <p:nvPr/>
        </p:nvGrpSpPr>
        <p:grpSpPr>
          <a:xfrm>
            <a:off x="8267700" y="1562099"/>
            <a:ext cx="2990850" cy="419101"/>
            <a:chOff x="0" y="0"/>
            <a:chExt cx="2990850" cy="419100"/>
          </a:xfrm>
        </p:grpSpPr>
        <p:sp>
          <p:nvSpPr>
            <p:cNvPr id="1755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56" name="任务、计划、步骤结果、安全事件、RuntimeState、PendingAction 的单一上下文"/>
            <p:cNvSpPr txBox="1"/>
            <p:nvPr/>
          </p:nvSpPr>
          <p:spPr>
            <a:xfrm>
              <a:off x="0" y="-1"/>
              <a:ext cx="29908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任务、计划、步骤结果、安全事件、RuntimeState、PendingAction 的单一上下文</a:t>
              </a:r>
            </a:p>
          </p:txBody>
        </p:sp>
      </p:grpSp>
      <p:sp>
        <p:nvSpPr>
          <p:cNvPr id="1758" name="矩形"/>
          <p:cNvSpPr/>
          <p:nvPr/>
        </p:nvSpPr>
        <p:spPr>
          <a:xfrm>
            <a:off x="8096250" y="236220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9" name="矩形"/>
          <p:cNvSpPr/>
          <p:nvPr/>
        </p:nvSpPr>
        <p:spPr>
          <a:xfrm>
            <a:off x="8096250" y="2362200"/>
            <a:ext cx="47625" cy="9525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62" name="成组"/>
          <p:cNvGrpSpPr/>
          <p:nvPr/>
        </p:nvGrpSpPr>
        <p:grpSpPr>
          <a:xfrm>
            <a:off x="8267700" y="2495550"/>
            <a:ext cx="2990850" cy="228600"/>
            <a:chOff x="0" y="0"/>
            <a:chExt cx="2990850" cy="228600"/>
          </a:xfrm>
        </p:grpSpPr>
        <p:sp>
          <p:nvSpPr>
            <p:cNvPr id="1760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1" name="StepRunner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StepRunner</a:t>
              </a:r>
            </a:p>
          </p:txBody>
        </p:sp>
      </p:grpSp>
      <p:grpSp>
        <p:nvGrpSpPr>
          <p:cNvPr id="1765" name="成组"/>
          <p:cNvGrpSpPr/>
          <p:nvPr/>
        </p:nvGrpSpPr>
        <p:grpSpPr>
          <a:xfrm>
            <a:off x="8267700" y="2800349"/>
            <a:ext cx="2990850" cy="419101"/>
            <a:chOff x="0" y="0"/>
            <a:chExt cx="2990850" cy="419100"/>
          </a:xfrm>
        </p:grpSpPr>
        <p:sp>
          <p:nvSpPr>
            <p:cNvPr id="1763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4" name="输入解析、ToolAdapter 调用、有界重试、输出校验、错误归一化"/>
            <p:cNvSpPr txBox="1"/>
            <p:nvPr/>
          </p:nvSpPr>
          <p:spPr>
            <a:xfrm>
              <a:off x="0" y="-1"/>
              <a:ext cx="29908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输入解析、ToolAdapter 调用、有界重试、输出校验、错误归一化</a:t>
              </a:r>
            </a:p>
          </p:txBody>
        </p:sp>
      </p:grpSp>
      <p:sp>
        <p:nvSpPr>
          <p:cNvPr id="1766" name="矩形"/>
          <p:cNvSpPr/>
          <p:nvPr/>
        </p:nvSpPr>
        <p:spPr>
          <a:xfrm>
            <a:off x="8096250" y="3600450"/>
            <a:ext cx="3333750" cy="952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7" name="矩形"/>
          <p:cNvSpPr/>
          <p:nvPr/>
        </p:nvSpPr>
        <p:spPr>
          <a:xfrm>
            <a:off x="8096250" y="3600450"/>
            <a:ext cx="47625" cy="95250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70" name="成组"/>
          <p:cNvGrpSpPr/>
          <p:nvPr/>
        </p:nvGrpSpPr>
        <p:grpSpPr>
          <a:xfrm>
            <a:off x="8267700" y="3733800"/>
            <a:ext cx="2990850" cy="228600"/>
            <a:chOff x="0" y="0"/>
            <a:chExt cx="2990850" cy="228600"/>
          </a:xfrm>
        </p:grpSpPr>
        <p:sp>
          <p:nvSpPr>
            <p:cNvPr id="1768" name="矩形"/>
            <p:cNvSpPr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69" name="ToolAdapter / KG"/>
            <p:cNvSpPr txBox="1"/>
            <p:nvPr/>
          </p:nvSpPr>
          <p:spPr>
            <a:xfrm>
              <a:off x="0" y="0"/>
              <a:ext cx="29908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ToolAdapter / KG</a:t>
              </a:r>
            </a:p>
          </p:txBody>
        </p:sp>
      </p:grpSp>
      <p:grpSp>
        <p:nvGrpSpPr>
          <p:cNvPr id="1773" name="成组"/>
          <p:cNvGrpSpPr/>
          <p:nvPr/>
        </p:nvGrpSpPr>
        <p:grpSpPr>
          <a:xfrm>
            <a:off x="8267700" y="4038599"/>
            <a:ext cx="2990850" cy="419101"/>
            <a:chOff x="0" y="0"/>
            <a:chExt cx="2990850" cy="419100"/>
          </a:xfrm>
        </p:grpSpPr>
        <p:sp>
          <p:nvSpPr>
            <p:cNvPr id="1771" name="矩形"/>
            <p:cNvSpPr/>
            <p:nvPr/>
          </p:nvSpPr>
          <p:spPr>
            <a:xfrm>
              <a:off x="0" y="0"/>
              <a:ext cx="29908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72" name="统一本地/远程工具调用；KG 保存能力、I/O、成本、安全等级"/>
            <p:cNvSpPr txBox="1"/>
            <p:nvPr/>
          </p:nvSpPr>
          <p:spPr>
            <a:xfrm>
              <a:off x="0" y="-1"/>
              <a:ext cx="29908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统一本地/远程工具调用；KG 保存能力、I/O、成本、安全等级</a:t>
              </a:r>
            </a:p>
          </p:txBody>
        </p:sp>
      </p:grpSp>
      <p:grpSp>
        <p:nvGrpSpPr>
          <p:cNvPr id="1776" name="成组"/>
          <p:cNvGrpSpPr/>
          <p:nvPr/>
        </p:nvGrpSpPr>
        <p:grpSpPr>
          <a:xfrm>
            <a:off x="781050" y="5810249"/>
            <a:ext cx="10096500" cy="285751"/>
            <a:chOff x="0" y="0"/>
            <a:chExt cx="10096500" cy="285750"/>
          </a:xfrm>
        </p:grpSpPr>
        <p:sp>
          <p:nvSpPr>
            <p:cNvPr id="1774" name="矩形"/>
            <p:cNvSpPr/>
            <p:nvPr/>
          </p:nvSpPr>
          <p:spPr>
            <a:xfrm>
              <a:off x="0" y="0"/>
              <a:ext cx="100965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75" name="关键取舍：底层工具异常统一进入恢复状态和审计事件，避免错误在流程中散落。"/>
            <p:cNvSpPr txBox="1"/>
            <p:nvPr/>
          </p:nvSpPr>
          <p:spPr>
            <a:xfrm>
              <a:off x="0" y="-1"/>
              <a:ext cx="100965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关键取舍：底层工具异常统一进入恢复状态和审计事件，避免错误在流程中散落。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779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782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780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81" name="13 个测试用例覆盖关键路径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 个测试用例覆盖关键路径</a:t>
              </a:r>
            </a:p>
          </p:txBody>
        </p:sp>
      </p:grpSp>
      <p:grpSp>
        <p:nvGrpSpPr>
          <p:cNvPr id="1785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783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784" name="VALIDATION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VALIDATION</a:t>
              </a:r>
            </a:p>
          </p:txBody>
        </p:sp>
      </p:grpSp>
      <p:pic>
        <p:nvPicPr>
          <p:cNvPr id="1786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787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88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89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0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1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2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3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4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5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6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7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8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99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0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1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2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3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4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5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6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7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8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09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0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1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2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3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4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5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6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7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8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9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0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1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2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3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4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5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6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7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8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29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0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1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2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3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4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5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6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7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8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39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0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1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2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3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4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5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6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7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8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49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0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1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2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3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4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55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856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59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1857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58" name="14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14</a:t>
              </a:r>
            </a:p>
          </p:txBody>
        </p:sp>
      </p:grpSp>
      <p:sp>
        <p:nvSpPr>
          <p:cNvPr id="1860" name="矩形"/>
          <p:cNvSpPr/>
          <p:nvPr/>
        </p:nvSpPr>
        <p:spPr>
          <a:xfrm>
            <a:off x="666750" y="12001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63" name="成组"/>
          <p:cNvGrpSpPr/>
          <p:nvPr/>
        </p:nvGrpSpPr>
        <p:grpSpPr>
          <a:xfrm>
            <a:off x="876300" y="1333500"/>
            <a:ext cx="2095500" cy="228600"/>
            <a:chOff x="0" y="0"/>
            <a:chExt cx="2095500" cy="228600"/>
          </a:xfrm>
        </p:grpSpPr>
        <p:sp>
          <p:nvSpPr>
            <p:cNvPr id="186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2" name="API / 任务录入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 / 任务录入</a:t>
              </a:r>
            </a:p>
          </p:txBody>
        </p:sp>
      </p:grpSp>
      <p:grpSp>
        <p:nvGrpSpPr>
          <p:cNvPr id="1866" name="成组"/>
          <p:cNvGrpSpPr/>
          <p:nvPr/>
        </p:nvGrpSpPr>
        <p:grpSpPr>
          <a:xfrm>
            <a:off x="3143250" y="1343024"/>
            <a:ext cx="1381125" cy="209551"/>
            <a:chOff x="0" y="0"/>
            <a:chExt cx="1381125" cy="209550"/>
          </a:xfrm>
        </p:grpSpPr>
        <p:sp>
          <p:nvSpPr>
            <p:cNvPr id="186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5" name="TC-S01~S03"/>
            <p:cNvSpPr txBox="1"/>
            <p:nvPr/>
          </p:nvSpPr>
          <p:spPr>
            <a:xfrm>
              <a:off x="0" y="-1"/>
              <a:ext cx="13811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TC-S01~S03</a:t>
              </a:r>
            </a:p>
          </p:txBody>
        </p:sp>
      </p:grpSp>
      <p:grpSp>
        <p:nvGrpSpPr>
          <p:cNvPr id="1869" name="成组"/>
          <p:cNvGrpSpPr/>
          <p:nvPr/>
        </p:nvGrpSpPr>
        <p:grpSpPr>
          <a:xfrm>
            <a:off x="4762500" y="1343024"/>
            <a:ext cx="1428750" cy="209551"/>
            <a:chOff x="0" y="0"/>
            <a:chExt cx="1428750" cy="209550"/>
          </a:xfrm>
        </p:grpSpPr>
        <p:sp>
          <p:nvSpPr>
            <p:cNvPr id="186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68" name="通过"/>
            <p:cNvSpPr txBox="1"/>
            <p:nvPr/>
          </p:nvSpPr>
          <p:spPr>
            <a:xfrm>
              <a:off x="0" y="-1"/>
              <a:ext cx="1428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870" name="矩形"/>
          <p:cNvSpPr/>
          <p:nvPr/>
        </p:nvSpPr>
        <p:spPr>
          <a:xfrm>
            <a:off x="666750" y="1943100"/>
            <a:ext cx="5762625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73" name="成组"/>
          <p:cNvGrpSpPr/>
          <p:nvPr/>
        </p:nvGrpSpPr>
        <p:grpSpPr>
          <a:xfrm>
            <a:off x="876300" y="2076450"/>
            <a:ext cx="2095500" cy="228600"/>
            <a:chOff x="0" y="0"/>
            <a:chExt cx="2095500" cy="228600"/>
          </a:xfrm>
        </p:grpSpPr>
        <p:sp>
          <p:nvSpPr>
            <p:cNvPr id="187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2" name="HITL / FSM / 快照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HITL / FSM / 快照</a:t>
              </a:r>
            </a:p>
          </p:txBody>
        </p:sp>
      </p:grpSp>
      <p:grpSp>
        <p:nvGrpSpPr>
          <p:cNvPr id="1876" name="成组"/>
          <p:cNvGrpSpPr/>
          <p:nvPr/>
        </p:nvGrpSpPr>
        <p:grpSpPr>
          <a:xfrm>
            <a:off x="3143250" y="2085974"/>
            <a:ext cx="1381125" cy="209551"/>
            <a:chOff x="0" y="0"/>
            <a:chExt cx="1381125" cy="209550"/>
          </a:xfrm>
        </p:grpSpPr>
        <p:sp>
          <p:nvSpPr>
            <p:cNvPr id="187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5" name="TC-S04~S06"/>
            <p:cNvSpPr txBox="1"/>
            <p:nvPr/>
          </p:nvSpPr>
          <p:spPr>
            <a:xfrm>
              <a:off x="0" y="-1"/>
              <a:ext cx="13811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TC-S04~S06</a:t>
              </a:r>
            </a:p>
          </p:txBody>
        </p:sp>
      </p:grpSp>
      <p:grpSp>
        <p:nvGrpSpPr>
          <p:cNvPr id="1879" name="成组"/>
          <p:cNvGrpSpPr/>
          <p:nvPr/>
        </p:nvGrpSpPr>
        <p:grpSpPr>
          <a:xfrm>
            <a:off x="4762500" y="2085974"/>
            <a:ext cx="1428750" cy="209551"/>
            <a:chOff x="0" y="0"/>
            <a:chExt cx="1428750" cy="209550"/>
          </a:xfrm>
        </p:grpSpPr>
        <p:sp>
          <p:nvSpPr>
            <p:cNvPr id="187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78" name="通过"/>
            <p:cNvSpPr txBox="1"/>
            <p:nvPr/>
          </p:nvSpPr>
          <p:spPr>
            <a:xfrm>
              <a:off x="0" y="-1"/>
              <a:ext cx="1428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880" name="矩形"/>
          <p:cNvSpPr/>
          <p:nvPr/>
        </p:nvSpPr>
        <p:spPr>
          <a:xfrm>
            <a:off x="666750" y="26860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83" name="成组"/>
          <p:cNvGrpSpPr/>
          <p:nvPr/>
        </p:nvGrpSpPr>
        <p:grpSpPr>
          <a:xfrm>
            <a:off x="876300" y="2819399"/>
            <a:ext cx="2095500" cy="228601"/>
            <a:chOff x="0" y="0"/>
            <a:chExt cx="2095500" cy="228600"/>
          </a:xfrm>
        </p:grpSpPr>
        <p:sp>
          <p:nvSpPr>
            <p:cNvPr id="188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2" name="Web / CLI"/>
            <p:cNvSpPr txBox="1"/>
            <p:nvPr/>
          </p:nvSpPr>
          <p:spPr>
            <a:xfrm>
              <a:off x="0" y="-1"/>
              <a:ext cx="20955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/ CLI</a:t>
              </a:r>
            </a:p>
          </p:txBody>
        </p:sp>
      </p:grpSp>
      <p:grpSp>
        <p:nvGrpSpPr>
          <p:cNvPr id="1886" name="成组"/>
          <p:cNvGrpSpPr/>
          <p:nvPr/>
        </p:nvGrpSpPr>
        <p:grpSpPr>
          <a:xfrm>
            <a:off x="3143250" y="2828924"/>
            <a:ext cx="1381125" cy="209551"/>
            <a:chOff x="0" y="0"/>
            <a:chExt cx="1381125" cy="209550"/>
          </a:xfrm>
        </p:grpSpPr>
        <p:sp>
          <p:nvSpPr>
            <p:cNvPr id="188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5" name="TC-S07~S08"/>
            <p:cNvSpPr txBox="1"/>
            <p:nvPr/>
          </p:nvSpPr>
          <p:spPr>
            <a:xfrm>
              <a:off x="0" y="-1"/>
              <a:ext cx="13811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TC-S07~S08</a:t>
              </a:r>
            </a:p>
          </p:txBody>
        </p:sp>
      </p:grpSp>
      <p:grpSp>
        <p:nvGrpSpPr>
          <p:cNvPr id="1889" name="成组"/>
          <p:cNvGrpSpPr/>
          <p:nvPr/>
        </p:nvGrpSpPr>
        <p:grpSpPr>
          <a:xfrm>
            <a:off x="4762500" y="2828924"/>
            <a:ext cx="1428750" cy="406401"/>
            <a:chOff x="0" y="0"/>
            <a:chExt cx="1428750" cy="406400"/>
          </a:xfrm>
        </p:grpSpPr>
        <p:sp>
          <p:nvSpPr>
            <p:cNvPr id="1887" name="矩形"/>
            <p:cNvSpPr/>
            <p:nvPr/>
          </p:nvSpPr>
          <p:spPr>
            <a:xfrm>
              <a:off x="0" y="-1"/>
              <a:ext cx="142875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88" name="Web 通过 / CLI 部分通过"/>
            <p:cNvSpPr txBox="1"/>
            <p:nvPr/>
          </p:nvSpPr>
          <p:spPr>
            <a:xfrm>
              <a:off x="0" y="0"/>
              <a:ext cx="14287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Web 通过 / CLI 部分通过</a:t>
              </a:r>
            </a:p>
          </p:txBody>
        </p:sp>
      </p:grpSp>
      <p:sp>
        <p:nvSpPr>
          <p:cNvPr id="1890" name="矩形"/>
          <p:cNvSpPr/>
          <p:nvPr/>
        </p:nvSpPr>
        <p:spPr>
          <a:xfrm>
            <a:off x="666750" y="3429000"/>
            <a:ext cx="5762625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93" name="成组"/>
          <p:cNvGrpSpPr/>
          <p:nvPr/>
        </p:nvGrpSpPr>
        <p:grpSpPr>
          <a:xfrm>
            <a:off x="876300" y="3562350"/>
            <a:ext cx="2095500" cy="228600"/>
            <a:chOff x="0" y="0"/>
            <a:chExt cx="2095500" cy="228600"/>
          </a:xfrm>
        </p:grpSpPr>
        <p:sp>
          <p:nvSpPr>
            <p:cNvPr id="189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2" name="端到端 / 工具链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端到端 / 工具链</a:t>
              </a:r>
            </a:p>
          </p:txBody>
        </p:sp>
      </p:grpSp>
      <p:grpSp>
        <p:nvGrpSpPr>
          <p:cNvPr id="1896" name="成组"/>
          <p:cNvGrpSpPr/>
          <p:nvPr/>
        </p:nvGrpSpPr>
        <p:grpSpPr>
          <a:xfrm>
            <a:off x="3143250" y="3571874"/>
            <a:ext cx="1381125" cy="209551"/>
            <a:chOff x="0" y="0"/>
            <a:chExt cx="1381125" cy="209550"/>
          </a:xfrm>
        </p:grpSpPr>
        <p:sp>
          <p:nvSpPr>
            <p:cNvPr id="189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5" name="TC-S09、S11"/>
            <p:cNvSpPr txBox="1"/>
            <p:nvPr/>
          </p:nvSpPr>
          <p:spPr>
            <a:xfrm>
              <a:off x="0" y="-1"/>
              <a:ext cx="1381125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TC-S09、S11</a:t>
              </a:r>
            </a:p>
          </p:txBody>
        </p:sp>
      </p:grpSp>
      <p:grpSp>
        <p:nvGrpSpPr>
          <p:cNvPr id="1899" name="成组"/>
          <p:cNvGrpSpPr/>
          <p:nvPr/>
        </p:nvGrpSpPr>
        <p:grpSpPr>
          <a:xfrm>
            <a:off x="4762500" y="3571874"/>
            <a:ext cx="1428750" cy="209551"/>
            <a:chOff x="0" y="0"/>
            <a:chExt cx="1428750" cy="209550"/>
          </a:xfrm>
        </p:grpSpPr>
        <p:sp>
          <p:nvSpPr>
            <p:cNvPr id="189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898" name="通过"/>
            <p:cNvSpPr txBox="1"/>
            <p:nvPr/>
          </p:nvSpPr>
          <p:spPr>
            <a:xfrm>
              <a:off x="0" y="-1"/>
              <a:ext cx="1428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00" name="矩形"/>
          <p:cNvSpPr/>
          <p:nvPr/>
        </p:nvSpPr>
        <p:spPr>
          <a:xfrm>
            <a:off x="666750" y="4171950"/>
            <a:ext cx="5762625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03" name="成组"/>
          <p:cNvGrpSpPr/>
          <p:nvPr/>
        </p:nvGrpSpPr>
        <p:grpSpPr>
          <a:xfrm>
            <a:off x="876300" y="4305300"/>
            <a:ext cx="2095500" cy="228600"/>
            <a:chOff x="0" y="0"/>
            <a:chExt cx="2095500" cy="228600"/>
          </a:xfrm>
        </p:grpSpPr>
        <p:sp>
          <p:nvSpPr>
            <p:cNvPr id="1901" name="矩形"/>
            <p:cNvSpPr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2" name="异常 / 安全 / 恢复"/>
            <p:cNvSpPr txBox="1"/>
            <p:nvPr/>
          </p:nvSpPr>
          <p:spPr>
            <a:xfrm>
              <a:off x="0" y="0"/>
              <a:ext cx="20955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异常 / 安全 / 恢复</a:t>
              </a:r>
            </a:p>
          </p:txBody>
        </p:sp>
      </p:grpSp>
      <p:grpSp>
        <p:nvGrpSpPr>
          <p:cNvPr id="1906" name="成组"/>
          <p:cNvGrpSpPr/>
          <p:nvPr/>
        </p:nvGrpSpPr>
        <p:grpSpPr>
          <a:xfrm>
            <a:off x="3143250" y="4314824"/>
            <a:ext cx="1381125" cy="209551"/>
            <a:chOff x="0" y="0"/>
            <a:chExt cx="1381125" cy="209550"/>
          </a:xfrm>
        </p:grpSpPr>
        <p:sp>
          <p:nvSpPr>
            <p:cNvPr id="1904" name="矩形"/>
            <p:cNvSpPr/>
            <p:nvPr/>
          </p:nvSpPr>
          <p:spPr>
            <a:xfrm>
              <a:off x="0" y="0"/>
              <a:ext cx="1381125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5" name="TC-S10、S12~S13"/>
            <p:cNvSpPr txBox="1"/>
            <p:nvPr/>
          </p:nvSpPr>
          <p:spPr>
            <a:xfrm>
              <a:off x="0" y="-1"/>
              <a:ext cx="1381125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TC-S10、S12~S13</a:t>
              </a:r>
            </a:p>
          </p:txBody>
        </p:sp>
      </p:grpSp>
      <p:grpSp>
        <p:nvGrpSpPr>
          <p:cNvPr id="1909" name="成组"/>
          <p:cNvGrpSpPr/>
          <p:nvPr/>
        </p:nvGrpSpPr>
        <p:grpSpPr>
          <a:xfrm>
            <a:off x="4762500" y="4314824"/>
            <a:ext cx="1428750" cy="209551"/>
            <a:chOff x="0" y="0"/>
            <a:chExt cx="1428750" cy="209550"/>
          </a:xfrm>
        </p:grpSpPr>
        <p:sp>
          <p:nvSpPr>
            <p:cNvPr id="1907" name="矩形"/>
            <p:cNvSpPr/>
            <p:nvPr/>
          </p:nvSpPr>
          <p:spPr>
            <a:xfrm>
              <a:off x="0" y="0"/>
              <a:ext cx="1428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08" name="通过"/>
            <p:cNvSpPr txBox="1"/>
            <p:nvPr/>
          </p:nvSpPr>
          <p:spPr>
            <a:xfrm>
              <a:off x="0" y="-1"/>
              <a:ext cx="1428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10" name="矩形"/>
          <p:cNvSpPr/>
          <p:nvPr/>
        </p:nvSpPr>
        <p:spPr>
          <a:xfrm>
            <a:off x="6953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13" name="成组"/>
          <p:cNvGrpSpPr/>
          <p:nvPr/>
        </p:nvGrpSpPr>
        <p:grpSpPr>
          <a:xfrm>
            <a:off x="7086600" y="1314449"/>
            <a:ext cx="1019175" cy="355601"/>
            <a:chOff x="0" y="0"/>
            <a:chExt cx="1019175" cy="355600"/>
          </a:xfrm>
        </p:grpSpPr>
        <p:sp>
          <p:nvSpPr>
            <p:cNvPr id="1911" name="矩形"/>
            <p:cNvSpPr/>
            <p:nvPr/>
          </p:nvSpPr>
          <p:spPr>
            <a:xfrm>
              <a:off x="0" y="-1"/>
              <a:ext cx="1019175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2" name="13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13</a:t>
              </a:r>
            </a:p>
          </p:txBody>
        </p:sp>
      </p:grpSp>
      <p:grpSp>
        <p:nvGrpSpPr>
          <p:cNvPr id="1916" name="成组"/>
          <p:cNvGrpSpPr/>
          <p:nvPr/>
        </p:nvGrpSpPr>
        <p:grpSpPr>
          <a:xfrm>
            <a:off x="7067550" y="1704974"/>
            <a:ext cx="1057275" cy="228601"/>
            <a:chOff x="0" y="0"/>
            <a:chExt cx="1057275" cy="228600"/>
          </a:xfrm>
        </p:grpSpPr>
        <p:sp>
          <p:nvSpPr>
            <p:cNvPr id="1914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5" name="测试用例"/>
            <p:cNvSpPr txBox="1"/>
            <p:nvPr/>
          </p:nvSpPr>
          <p:spPr>
            <a:xfrm>
              <a:off x="0" y="-1"/>
              <a:ext cx="10572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测试用例</a:t>
              </a:r>
            </a:p>
          </p:txBody>
        </p:sp>
      </p:grpSp>
      <p:sp>
        <p:nvSpPr>
          <p:cNvPr id="1917" name="矩形"/>
          <p:cNvSpPr/>
          <p:nvPr/>
        </p:nvSpPr>
        <p:spPr>
          <a:xfrm>
            <a:off x="8477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20" name="成组"/>
          <p:cNvGrpSpPr/>
          <p:nvPr/>
        </p:nvGrpSpPr>
        <p:grpSpPr>
          <a:xfrm>
            <a:off x="8610600" y="1314449"/>
            <a:ext cx="1019175" cy="355601"/>
            <a:chOff x="0" y="0"/>
            <a:chExt cx="1019175" cy="355600"/>
          </a:xfrm>
        </p:grpSpPr>
        <p:sp>
          <p:nvSpPr>
            <p:cNvPr id="1918" name="矩形"/>
            <p:cNvSpPr/>
            <p:nvPr/>
          </p:nvSpPr>
          <p:spPr>
            <a:xfrm>
              <a:off x="0" y="-1"/>
              <a:ext cx="1019175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19" name="12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12</a:t>
              </a:r>
            </a:p>
          </p:txBody>
        </p:sp>
      </p:grpSp>
      <p:grpSp>
        <p:nvGrpSpPr>
          <p:cNvPr id="1923" name="成组"/>
          <p:cNvGrpSpPr/>
          <p:nvPr/>
        </p:nvGrpSpPr>
        <p:grpSpPr>
          <a:xfrm>
            <a:off x="8591550" y="1704974"/>
            <a:ext cx="1057275" cy="228601"/>
            <a:chOff x="0" y="0"/>
            <a:chExt cx="1057275" cy="228600"/>
          </a:xfrm>
        </p:grpSpPr>
        <p:sp>
          <p:nvSpPr>
            <p:cNvPr id="1921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2" name="通过"/>
            <p:cNvSpPr txBox="1"/>
            <p:nvPr/>
          </p:nvSpPr>
          <p:spPr>
            <a:xfrm>
              <a:off x="0" y="-1"/>
              <a:ext cx="10572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通过</a:t>
              </a:r>
            </a:p>
          </p:txBody>
        </p:sp>
      </p:grpSp>
      <p:sp>
        <p:nvSpPr>
          <p:cNvPr id="1924" name="矩形"/>
          <p:cNvSpPr/>
          <p:nvPr/>
        </p:nvSpPr>
        <p:spPr>
          <a:xfrm>
            <a:off x="10001250" y="1181100"/>
            <a:ext cx="1285875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27" name="成组"/>
          <p:cNvGrpSpPr/>
          <p:nvPr/>
        </p:nvGrpSpPr>
        <p:grpSpPr>
          <a:xfrm>
            <a:off x="10134600" y="1314449"/>
            <a:ext cx="1019175" cy="355601"/>
            <a:chOff x="0" y="0"/>
            <a:chExt cx="1019175" cy="355600"/>
          </a:xfrm>
        </p:grpSpPr>
        <p:sp>
          <p:nvSpPr>
            <p:cNvPr id="1925" name="矩形"/>
            <p:cNvSpPr/>
            <p:nvPr/>
          </p:nvSpPr>
          <p:spPr>
            <a:xfrm>
              <a:off x="0" y="-1"/>
              <a:ext cx="1019175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6" name="1"/>
            <p:cNvSpPr txBox="1"/>
            <p:nvPr/>
          </p:nvSpPr>
          <p:spPr>
            <a:xfrm>
              <a:off x="0" y="0"/>
              <a:ext cx="1019175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930" name="成组"/>
          <p:cNvGrpSpPr/>
          <p:nvPr/>
        </p:nvGrpSpPr>
        <p:grpSpPr>
          <a:xfrm>
            <a:off x="10115550" y="1704974"/>
            <a:ext cx="1057275" cy="228601"/>
            <a:chOff x="0" y="0"/>
            <a:chExt cx="1057275" cy="228600"/>
          </a:xfrm>
        </p:grpSpPr>
        <p:sp>
          <p:nvSpPr>
            <p:cNvPr id="1928" name="矩形"/>
            <p:cNvSpPr/>
            <p:nvPr/>
          </p:nvSpPr>
          <p:spPr>
            <a:xfrm>
              <a:off x="0" y="0"/>
              <a:ext cx="1057275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29" name="CLI 部分通过"/>
            <p:cNvSpPr txBox="1"/>
            <p:nvPr/>
          </p:nvSpPr>
          <p:spPr>
            <a:xfrm>
              <a:off x="0" y="-1"/>
              <a:ext cx="105727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CLI 部分通过</a:t>
              </a:r>
            </a:p>
          </p:txBody>
        </p:sp>
      </p:grpSp>
      <p:sp>
        <p:nvSpPr>
          <p:cNvPr id="1931" name="矩形"/>
          <p:cNvSpPr/>
          <p:nvPr/>
        </p:nvSpPr>
        <p:spPr>
          <a:xfrm>
            <a:off x="6953250" y="2400300"/>
            <a:ext cx="4333875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932" name="image52.png" descr="image52.png"/>
          <p:cNvPicPr>
            <a:picLocks noChangeAspect="1"/>
          </p:cNvPicPr>
          <p:nvPr/>
        </p:nvPicPr>
        <p:blipFill>
          <a:blip r:embed="rId5">
            <a:extLst/>
          </a:blip>
          <a:srcRect l="10557" t="0" r="10557" b="0"/>
          <a:stretch>
            <a:fillRect/>
          </a:stretch>
        </p:blipFill>
        <p:spPr>
          <a:xfrm>
            <a:off x="6953249" y="2400300"/>
            <a:ext cx="4333877" cy="24765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5" name="成组"/>
          <p:cNvGrpSpPr/>
          <p:nvPr/>
        </p:nvGrpSpPr>
        <p:grpSpPr>
          <a:xfrm>
            <a:off x="895350" y="5810249"/>
            <a:ext cx="9906000" cy="285751"/>
            <a:chOff x="0" y="0"/>
            <a:chExt cx="9906000" cy="285750"/>
          </a:xfrm>
        </p:grpSpPr>
        <p:sp>
          <p:nvSpPr>
            <p:cNvPr id="1933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34" name="证据：8 个 API JSON、4 组 pytest 日志、18 张截图、EventLog / Snapshot 样本。"/>
            <p:cNvSpPr txBox="1"/>
            <p:nvPr/>
          </p:nvSpPr>
          <p:spPr>
            <a:xfrm>
              <a:off x="0" y="-1"/>
              <a:ext cx="9906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证据：8 个 API JSON、4 组 pytest 日志、18 张截图、EventLog / Snapshot 样本。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93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41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193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40" name="84-run 四组消融实验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84-run 四组消融实验</a:t>
              </a:r>
            </a:p>
          </p:txBody>
        </p:sp>
      </p:grpSp>
      <p:grpSp>
        <p:nvGrpSpPr>
          <p:cNvPr id="1944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194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1943" name="EXPERIMENT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EXPERIMENT</a:t>
              </a:r>
            </a:p>
          </p:txBody>
        </p:sp>
      </p:grpSp>
      <p:pic>
        <p:nvPicPr>
          <p:cNvPr id="194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4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8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9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01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18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01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17" name="15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15</a:t>
              </a:r>
            </a:p>
          </p:txBody>
        </p:sp>
      </p:grpSp>
      <p:sp>
        <p:nvSpPr>
          <p:cNvPr id="2019" name="矩形"/>
          <p:cNvSpPr/>
          <p:nvPr/>
        </p:nvSpPr>
        <p:spPr>
          <a:xfrm>
            <a:off x="552450" y="1143000"/>
            <a:ext cx="152400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2" name="成组"/>
          <p:cNvGrpSpPr/>
          <p:nvPr/>
        </p:nvGrpSpPr>
        <p:grpSpPr>
          <a:xfrm>
            <a:off x="685800" y="1276349"/>
            <a:ext cx="1257300" cy="355601"/>
            <a:chOff x="0" y="0"/>
            <a:chExt cx="1257300" cy="355600"/>
          </a:xfrm>
        </p:grpSpPr>
        <p:sp>
          <p:nvSpPr>
            <p:cNvPr id="2020" name="矩形"/>
            <p:cNvSpPr/>
            <p:nvPr/>
          </p:nvSpPr>
          <p:spPr>
            <a:xfrm>
              <a:off x="0" y="-1"/>
              <a:ext cx="125730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1" name="81/84"/>
            <p:cNvSpPr txBox="1"/>
            <p:nvPr/>
          </p:nvSpPr>
          <p:spPr>
            <a:xfrm>
              <a:off x="0" y="0"/>
              <a:ext cx="125730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81/84</a:t>
              </a:r>
            </a:p>
          </p:txBody>
        </p:sp>
      </p:grpSp>
      <p:grpSp>
        <p:nvGrpSpPr>
          <p:cNvPr id="2025" name="成组"/>
          <p:cNvGrpSpPr/>
          <p:nvPr/>
        </p:nvGrpSpPr>
        <p:grpSpPr>
          <a:xfrm>
            <a:off x="666750" y="1666874"/>
            <a:ext cx="1295400" cy="228601"/>
            <a:chOff x="0" y="0"/>
            <a:chExt cx="1295400" cy="228600"/>
          </a:xfrm>
        </p:grpSpPr>
        <p:sp>
          <p:nvSpPr>
            <p:cNvPr id="2023" name="矩形"/>
            <p:cNvSpPr/>
            <p:nvPr/>
          </p:nvSpPr>
          <p:spPr>
            <a:xfrm>
              <a:off x="0" y="0"/>
              <a:ext cx="12954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4" name="DONE 终态"/>
            <p:cNvSpPr txBox="1"/>
            <p:nvPr/>
          </p:nvSpPr>
          <p:spPr>
            <a:xfrm>
              <a:off x="0" y="-1"/>
              <a:ext cx="12954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DONE 终态</a:t>
              </a:r>
            </a:p>
          </p:txBody>
        </p:sp>
      </p:grpSp>
      <p:sp>
        <p:nvSpPr>
          <p:cNvPr id="2026" name="矩形"/>
          <p:cNvSpPr/>
          <p:nvPr/>
        </p:nvSpPr>
        <p:spPr>
          <a:xfrm>
            <a:off x="2305050" y="1143000"/>
            <a:ext cx="200025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9" name="成组"/>
          <p:cNvGrpSpPr/>
          <p:nvPr/>
        </p:nvGrpSpPr>
        <p:grpSpPr>
          <a:xfrm>
            <a:off x="2438400" y="1276349"/>
            <a:ext cx="1733550" cy="355601"/>
            <a:chOff x="0" y="0"/>
            <a:chExt cx="1733550" cy="355600"/>
          </a:xfrm>
        </p:grpSpPr>
        <p:sp>
          <p:nvSpPr>
            <p:cNvPr id="2027" name="矩形"/>
            <p:cNvSpPr/>
            <p:nvPr/>
          </p:nvSpPr>
          <p:spPr>
            <a:xfrm>
              <a:off x="0" y="-1"/>
              <a:ext cx="17335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28" name="21/21"/>
            <p:cNvSpPr txBox="1"/>
            <p:nvPr/>
          </p:nvSpPr>
          <p:spPr>
            <a:xfrm>
              <a:off x="0" y="0"/>
              <a:ext cx="1733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21/21</a:t>
              </a:r>
            </a:p>
          </p:txBody>
        </p:sp>
      </p:grpSp>
      <p:grpSp>
        <p:nvGrpSpPr>
          <p:cNvPr id="2032" name="成组"/>
          <p:cNvGrpSpPr/>
          <p:nvPr/>
        </p:nvGrpSpPr>
        <p:grpSpPr>
          <a:xfrm>
            <a:off x="2419350" y="1666874"/>
            <a:ext cx="1771650" cy="228601"/>
            <a:chOff x="0" y="0"/>
            <a:chExt cx="1771650" cy="228600"/>
          </a:xfrm>
        </p:grpSpPr>
        <p:sp>
          <p:nvSpPr>
            <p:cNvPr id="2030" name="矩形"/>
            <p:cNvSpPr/>
            <p:nvPr/>
          </p:nvSpPr>
          <p:spPr>
            <a:xfrm>
              <a:off x="0" y="0"/>
              <a:ext cx="17716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1" name="lite 产生 RuntimeState"/>
            <p:cNvSpPr txBox="1"/>
            <p:nvPr/>
          </p:nvSpPr>
          <p:spPr>
            <a:xfrm>
              <a:off x="0" y="-1"/>
              <a:ext cx="17716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 产生 RuntimeState</a:t>
              </a:r>
            </a:p>
          </p:txBody>
        </p:sp>
      </p:grpSp>
      <p:sp>
        <p:nvSpPr>
          <p:cNvPr id="2033" name="矩形"/>
          <p:cNvSpPr/>
          <p:nvPr/>
        </p:nvSpPr>
        <p:spPr>
          <a:xfrm>
            <a:off x="4533900" y="1143000"/>
            <a:ext cx="2667000" cy="87630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36" name="成组"/>
          <p:cNvGrpSpPr/>
          <p:nvPr/>
        </p:nvGrpSpPr>
        <p:grpSpPr>
          <a:xfrm>
            <a:off x="4667250" y="1276349"/>
            <a:ext cx="2400300" cy="355601"/>
            <a:chOff x="0" y="0"/>
            <a:chExt cx="2400300" cy="355600"/>
          </a:xfrm>
        </p:grpSpPr>
        <p:sp>
          <p:nvSpPr>
            <p:cNvPr id="2034" name="矩形"/>
            <p:cNvSpPr/>
            <p:nvPr/>
          </p:nvSpPr>
          <p:spPr>
            <a:xfrm>
              <a:off x="0" y="-1"/>
              <a:ext cx="240030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5" name="28.6%"/>
            <p:cNvSpPr txBox="1"/>
            <p:nvPr/>
          </p:nvSpPr>
          <p:spPr>
            <a:xfrm>
              <a:off x="0" y="0"/>
              <a:ext cx="240030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2300">
                  <a:solidFill>
                    <a:srgbClr val="D8A32D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28.6%</a:t>
              </a:r>
            </a:p>
          </p:txBody>
        </p:sp>
      </p:grpSp>
      <p:grpSp>
        <p:nvGrpSpPr>
          <p:cNvPr id="2039" name="成组"/>
          <p:cNvGrpSpPr/>
          <p:nvPr/>
        </p:nvGrpSpPr>
        <p:grpSpPr>
          <a:xfrm>
            <a:off x="4648200" y="1666874"/>
            <a:ext cx="2438400" cy="228601"/>
            <a:chOff x="0" y="0"/>
            <a:chExt cx="2438400" cy="228600"/>
          </a:xfrm>
        </p:grpSpPr>
        <p:sp>
          <p:nvSpPr>
            <p:cNvPr id="2037" name="矩形"/>
            <p:cNvSpPr/>
            <p:nvPr/>
          </p:nvSpPr>
          <p:spPr>
            <a:xfrm>
              <a:off x="0" y="0"/>
              <a:ext cx="24384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38" name="dynamic/lite 相比 fixed 节省高代价调用"/>
            <p:cNvSpPr txBox="1"/>
            <p:nvPr/>
          </p:nvSpPr>
          <p:spPr>
            <a:xfrm>
              <a:off x="0" y="-1"/>
              <a:ext cx="24384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dynamic/lite 相比 fixed 节省高代价调用</a:t>
              </a:r>
            </a:p>
          </p:txBody>
        </p:sp>
      </p:grpSp>
      <p:sp>
        <p:nvSpPr>
          <p:cNvPr id="2040" name="矩形"/>
          <p:cNvSpPr/>
          <p:nvPr/>
        </p:nvSpPr>
        <p:spPr>
          <a:xfrm>
            <a:off x="552450" y="2343150"/>
            <a:ext cx="5334000" cy="29146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041" name="image56.png" descr="image5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98369" y="2381250"/>
            <a:ext cx="4442163" cy="28384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44" name="成组"/>
          <p:cNvGrpSpPr/>
          <p:nvPr/>
        </p:nvGrpSpPr>
        <p:grpSpPr>
          <a:xfrm>
            <a:off x="6572250" y="2381249"/>
            <a:ext cx="2476500" cy="304801"/>
            <a:chOff x="0" y="0"/>
            <a:chExt cx="2476500" cy="304800"/>
          </a:xfrm>
        </p:grpSpPr>
        <p:sp>
          <p:nvSpPr>
            <p:cNvPr id="2042" name="矩形"/>
            <p:cNvSpPr/>
            <p:nvPr/>
          </p:nvSpPr>
          <p:spPr>
            <a:xfrm>
              <a:off x="0" y="-1"/>
              <a:ext cx="2476500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3" name="高代价调用总数"/>
            <p:cNvSpPr txBox="1"/>
            <p:nvPr/>
          </p:nvSpPr>
          <p:spPr>
            <a:xfrm>
              <a:off x="0" y="0"/>
              <a:ext cx="2476500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高代价调用总数</a:t>
              </a:r>
            </a:p>
          </p:txBody>
        </p:sp>
      </p:grpSp>
      <p:sp>
        <p:nvSpPr>
          <p:cNvPr id="2045" name="矩形"/>
          <p:cNvSpPr/>
          <p:nvPr/>
        </p:nvSpPr>
        <p:spPr>
          <a:xfrm>
            <a:off x="6572250" y="3424237"/>
            <a:ext cx="881063" cy="1100139"/>
          </a:xfrm>
          <a:prstGeom prst="rect">
            <a:avLst/>
          </a:prstGeom>
          <a:solidFill>
            <a:srgbClr val="7AA6D9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48" name="成组"/>
          <p:cNvGrpSpPr/>
          <p:nvPr/>
        </p:nvGrpSpPr>
        <p:grpSpPr>
          <a:xfrm>
            <a:off x="6534150" y="3195638"/>
            <a:ext cx="957264" cy="190502"/>
            <a:chOff x="0" y="0"/>
            <a:chExt cx="957262" cy="190501"/>
          </a:xfrm>
        </p:grpSpPr>
        <p:sp>
          <p:nvSpPr>
            <p:cNvPr id="2046" name="矩形"/>
            <p:cNvSpPr/>
            <p:nvPr/>
          </p:nvSpPr>
          <p:spPr>
            <a:xfrm>
              <a:off x="0" y="-1"/>
              <a:ext cx="957264" cy="1905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7AA6D9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47" name="21"/>
            <p:cNvSpPr txBox="1"/>
            <p:nvPr/>
          </p:nvSpPr>
          <p:spPr>
            <a:xfrm>
              <a:off x="0" y="0"/>
              <a:ext cx="95726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7AA6D9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</a:t>
              </a:r>
            </a:p>
          </p:txBody>
        </p:sp>
      </p:grpSp>
      <p:grpSp>
        <p:nvGrpSpPr>
          <p:cNvPr id="2051" name="成组"/>
          <p:cNvGrpSpPr/>
          <p:nvPr/>
        </p:nvGrpSpPr>
        <p:grpSpPr>
          <a:xfrm>
            <a:off x="6496050" y="4600574"/>
            <a:ext cx="1033464" cy="323851"/>
            <a:chOff x="0" y="0"/>
            <a:chExt cx="1033462" cy="323850"/>
          </a:xfrm>
        </p:grpSpPr>
        <p:sp>
          <p:nvSpPr>
            <p:cNvPr id="2049" name="矩形"/>
            <p:cNvSpPr/>
            <p:nvPr/>
          </p:nvSpPr>
          <p:spPr>
            <a:xfrm>
              <a:off x="0" y="0"/>
              <a:ext cx="1033464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0" name="static"/>
            <p:cNvSpPr txBox="1"/>
            <p:nvPr/>
          </p:nvSpPr>
          <p:spPr>
            <a:xfrm>
              <a:off x="0" y="-1"/>
              <a:ext cx="1033464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static</a:t>
              </a:r>
            </a:p>
          </p:txBody>
        </p:sp>
      </p:grpSp>
      <p:sp>
        <p:nvSpPr>
          <p:cNvPr id="2052" name="矩形"/>
          <p:cNvSpPr/>
          <p:nvPr/>
        </p:nvSpPr>
        <p:spPr>
          <a:xfrm>
            <a:off x="7643813" y="3057525"/>
            <a:ext cx="881064" cy="14668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55" name="成组"/>
          <p:cNvGrpSpPr/>
          <p:nvPr/>
        </p:nvGrpSpPr>
        <p:grpSpPr>
          <a:xfrm>
            <a:off x="7605713" y="2828924"/>
            <a:ext cx="957265" cy="190501"/>
            <a:chOff x="0" y="0"/>
            <a:chExt cx="957264" cy="190500"/>
          </a:xfrm>
        </p:grpSpPr>
        <p:sp>
          <p:nvSpPr>
            <p:cNvPr id="2053" name="矩形"/>
            <p:cNvSpPr/>
            <p:nvPr/>
          </p:nvSpPr>
          <p:spPr>
            <a:xfrm>
              <a:off x="-1" y="0"/>
              <a:ext cx="957266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4" name="28"/>
            <p:cNvSpPr txBox="1"/>
            <p:nvPr/>
          </p:nvSpPr>
          <p:spPr>
            <a:xfrm>
              <a:off x="-1" y="-1"/>
              <a:ext cx="95726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C84A4A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28</a:t>
              </a:r>
            </a:p>
          </p:txBody>
        </p:sp>
      </p:grpSp>
      <p:grpSp>
        <p:nvGrpSpPr>
          <p:cNvPr id="2058" name="成组"/>
          <p:cNvGrpSpPr/>
          <p:nvPr/>
        </p:nvGrpSpPr>
        <p:grpSpPr>
          <a:xfrm>
            <a:off x="7567613" y="4600574"/>
            <a:ext cx="1033465" cy="323851"/>
            <a:chOff x="0" y="0"/>
            <a:chExt cx="1033464" cy="323850"/>
          </a:xfrm>
        </p:grpSpPr>
        <p:sp>
          <p:nvSpPr>
            <p:cNvPr id="2056" name="矩形"/>
            <p:cNvSpPr/>
            <p:nvPr/>
          </p:nvSpPr>
          <p:spPr>
            <a:xfrm>
              <a:off x="-1" y="0"/>
              <a:ext cx="1033466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57" name="fixed"/>
            <p:cNvSpPr txBox="1"/>
            <p:nvPr/>
          </p:nvSpPr>
          <p:spPr>
            <a:xfrm>
              <a:off x="-1" y="-1"/>
              <a:ext cx="1033466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</a:t>
              </a:r>
            </a:p>
          </p:txBody>
        </p:sp>
      </p:grpSp>
      <p:sp>
        <p:nvSpPr>
          <p:cNvPr id="2059" name="矩形"/>
          <p:cNvSpPr/>
          <p:nvPr/>
        </p:nvSpPr>
        <p:spPr>
          <a:xfrm>
            <a:off x="8715375" y="3476625"/>
            <a:ext cx="881063" cy="10477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2" name="成组"/>
          <p:cNvGrpSpPr/>
          <p:nvPr/>
        </p:nvGrpSpPr>
        <p:grpSpPr>
          <a:xfrm>
            <a:off x="8677275" y="3248024"/>
            <a:ext cx="957264" cy="190501"/>
            <a:chOff x="0" y="0"/>
            <a:chExt cx="957262" cy="190500"/>
          </a:xfrm>
        </p:grpSpPr>
        <p:sp>
          <p:nvSpPr>
            <p:cNvPr id="2060" name="矩形"/>
            <p:cNvSpPr/>
            <p:nvPr/>
          </p:nvSpPr>
          <p:spPr>
            <a:xfrm>
              <a:off x="0" y="0"/>
              <a:ext cx="957264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1" name="20"/>
            <p:cNvSpPr txBox="1"/>
            <p:nvPr/>
          </p:nvSpPr>
          <p:spPr>
            <a:xfrm>
              <a:off x="0" y="-1"/>
              <a:ext cx="95726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2E9D65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2065" name="成组"/>
          <p:cNvGrpSpPr/>
          <p:nvPr/>
        </p:nvGrpSpPr>
        <p:grpSpPr>
          <a:xfrm>
            <a:off x="8639175" y="4600574"/>
            <a:ext cx="1033464" cy="323851"/>
            <a:chOff x="0" y="0"/>
            <a:chExt cx="1033462" cy="323850"/>
          </a:xfrm>
        </p:grpSpPr>
        <p:sp>
          <p:nvSpPr>
            <p:cNvPr id="2063" name="矩形"/>
            <p:cNvSpPr/>
            <p:nvPr/>
          </p:nvSpPr>
          <p:spPr>
            <a:xfrm>
              <a:off x="0" y="0"/>
              <a:ext cx="1033464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4" name="dynamic"/>
            <p:cNvSpPr txBox="1"/>
            <p:nvPr/>
          </p:nvSpPr>
          <p:spPr>
            <a:xfrm>
              <a:off x="0" y="-1"/>
              <a:ext cx="1033464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</a:t>
              </a:r>
            </a:p>
          </p:txBody>
        </p:sp>
      </p:grpSp>
      <p:sp>
        <p:nvSpPr>
          <p:cNvPr id="2066" name="矩形"/>
          <p:cNvSpPr/>
          <p:nvPr/>
        </p:nvSpPr>
        <p:spPr>
          <a:xfrm>
            <a:off x="9786938" y="3476625"/>
            <a:ext cx="881064" cy="1047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9" name="成组"/>
          <p:cNvGrpSpPr/>
          <p:nvPr/>
        </p:nvGrpSpPr>
        <p:grpSpPr>
          <a:xfrm>
            <a:off x="9748838" y="3248024"/>
            <a:ext cx="957265" cy="190501"/>
            <a:chOff x="0" y="0"/>
            <a:chExt cx="957264" cy="190500"/>
          </a:xfrm>
        </p:grpSpPr>
        <p:sp>
          <p:nvSpPr>
            <p:cNvPr id="2067" name="矩形"/>
            <p:cNvSpPr/>
            <p:nvPr/>
          </p:nvSpPr>
          <p:spPr>
            <a:xfrm>
              <a:off x="-1" y="0"/>
              <a:ext cx="957266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68" name="20"/>
            <p:cNvSpPr txBox="1"/>
            <p:nvPr/>
          </p:nvSpPr>
          <p:spPr>
            <a:xfrm>
              <a:off x="-1" y="-1"/>
              <a:ext cx="95726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0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grpSp>
        <p:nvGrpSpPr>
          <p:cNvPr id="2072" name="成组"/>
          <p:cNvGrpSpPr/>
          <p:nvPr/>
        </p:nvGrpSpPr>
        <p:grpSpPr>
          <a:xfrm>
            <a:off x="9710738" y="4600574"/>
            <a:ext cx="1033465" cy="323851"/>
            <a:chOff x="0" y="0"/>
            <a:chExt cx="1033464" cy="323850"/>
          </a:xfrm>
        </p:grpSpPr>
        <p:sp>
          <p:nvSpPr>
            <p:cNvPr id="2070" name="矩形"/>
            <p:cNvSpPr/>
            <p:nvPr/>
          </p:nvSpPr>
          <p:spPr>
            <a:xfrm>
              <a:off x="-1" y="0"/>
              <a:ext cx="1033466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1" name="lite"/>
            <p:cNvSpPr txBox="1"/>
            <p:nvPr/>
          </p:nvSpPr>
          <p:spPr>
            <a:xfrm>
              <a:off x="-1" y="-1"/>
              <a:ext cx="1033466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sz="8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</a:t>
              </a:r>
            </a:p>
          </p:txBody>
        </p:sp>
      </p:grpSp>
      <p:grpSp>
        <p:nvGrpSpPr>
          <p:cNvPr id="2075" name="成组"/>
          <p:cNvGrpSpPr/>
          <p:nvPr/>
        </p:nvGrpSpPr>
        <p:grpSpPr>
          <a:xfrm>
            <a:off x="6572250" y="4952999"/>
            <a:ext cx="1524000" cy="266701"/>
            <a:chOff x="0" y="0"/>
            <a:chExt cx="1524000" cy="266700"/>
          </a:xfrm>
        </p:grpSpPr>
        <p:sp>
          <p:nvSpPr>
            <p:cNvPr id="2073" name="矩形"/>
            <p:cNvSpPr/>
            <p:nvPr/>
          </p:nvSpPr>
          <p:spPr>
            <a:xfrm>
              <a:off x="0" y="-1"/>
              <a:ext cx="1524000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4" name="结果解读"/>
            <p:cNvSpPr txBox="1"/>
            <p:nvPr/>
          </p:nvSpPr>
          <p:spPr>
            <a:xfrm>
              <a:off x="0" y="0"/>
              <a:ext cx="1524000" cy="266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结果解读</a:t>
              </a:r>
            </a:p>
          </p:txBody>
        </p:sp>
      </p:grpSp>
      <p:sp>
        <p:nvSpPr>
          <p:cNvPr id="2076" name="圆形"/>
          <p:cNvSpPr/>
          <p:nvPr/>
        </p:nvSpPr>
        <p:spPr>
          <a:xfrm>
            <a:off x="6572250" y="53340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79" name="成组"/>
          <p:cNvGrpSpPr/>
          <p:nvPr/>
        </p:nvGrpSpPr>
        <p:grpSpPr>
          <a:xfrm>
            <a:off x="6743700" y="5276849"/>
            <a:ext cx="4400550" cy="285751"/>
            <a:chOff x="0" y="0"/>
            <a:chExt cx="4400550" cy="285750"/>
          </a:xfrm>
        </p:grpSpPr>
        <p:sp>
          <p:nvSpPr>
            <p:cNvPr id="2077" name="矩形"/>
            <p:cNvSpPr/>
            <p:nvPr/>
          </p:nvSpPr>
          <p:spPr>
            <a:xfrm>
              <a:off x="0" y="0"/>
              <a:ext cx="44005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78" name="static 成功率最高，成功率优势不作为主要结论。"/>
            <p:cNvSpPr txBox="1"/>
            <p:nvPr/>
          </p:nvSpPr>
          <p:spPr>
            <a:xfrm>
              <a:off x="0" y="-1"/>
              <a:ext cx="44005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static 成功率最高，成功率优势不作为主要结论。</a:t>
              </a:r>
            </a:p>
          </p:txBody>
        </p:sp>
      </p:grpSp>
      <p:sp>
        <p:nvSpPr>
          <p:cNvPr id="2080" name="圆形"/>
          <p:cNvSpPr/>
          <p:nvPr/>
        </p:nvSpPr>
        <p:spPr>
          <a:xfrm>
            <a:off x="6572250" y="56578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83" name="成组"/>
          <p:cNvGrpSpPr/>
          <p:nvPr/>
        </p:nvGrpSpPr>
        <p:grpSpPr>
          <a:xfrm>
            <a:off x="6743700" y="5600699"/>
            <a:ext cx="4400550" cy="285751"/>
            <a:chOff x="0" y="0"/>
            <a:chExt cx="4400550" cy="285750"/>
          </a:xfrm>
        </p:grpSpPr>
        <p:sp>
          <p:nvSpPr>
            <p:cNvPr id="2081" name="矩形"/>
            <p:cNvSpPr/>
            <p:nvPr/>
          </p:nvSpPr>
          <p:spPr>
            <a:xfrm>
              <a:off x="0" y="0"/>
              <a:ext cx="44005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82" name="CEBRA-WP 的证据是机制可观测、恢复解释和成本控制。"/>
            <p:cNvSpPr txBox="1"/>
            <p:nvPr/>
          </p:nvSpPr>
          <p:spPr>
            <a:xfrm>
              <a:off x="0" y="-1"/>
              <a:ext cx="44005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的证据是机制可观测、恢复解释和成本控制。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086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89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087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88" name="贡献、局限与展望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贡献、局限与展望</a:t>
              </a:r>
            </a:p>
          </p:txBody>
        </p:sp>
      </p:grpSp>
      <p:grpSp>
        <p:nvGrpSpPr>
          <p:cNvPr id="2092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090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091" name="CONCLUSION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CONCLUSION</a:t>
              </a:r>
            </a:p>
          </p:txBody>
        </p:sp>
      </p:grpSp>
      <p:pic>
        <p:nvPicPr>
          <p:cNvPr id="2093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094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5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6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7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8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9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0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1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2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3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4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5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6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7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8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9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0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1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2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3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4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5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6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7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8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9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0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1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2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3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4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5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6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7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8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29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0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1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2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3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4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5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6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7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8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39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0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1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2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3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4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5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6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7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8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49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0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1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2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3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4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5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6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7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8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9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0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1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2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163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66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164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65" name="16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16</a:t>
              </a:r>
            </a:p>
          </p:txBody>
        </p:sp>
      </p:grpSp>
      <p:sp>
        <p:nvSpPr>
          <p:cNvPr id="2167" name="矩形"/>
          <p:cNvSpPr/>
          <p:nvPr/>
        </p:nvSpPr>
        <p:spPr>
          <a:xfrm>
            <a:off x="666750" y="125730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8" name="矩形"/>
          <p:cNvSpPr/>
          <p:nvPr/>
        </p:nvSpPr>
        <p:spPr>
          <a:xfrm>
            <a:off x="666750" y="1257300"/>
            <a:ext cx="47625" cy="6286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71" name="成组"/>
          <p:cNvGrpSpPr/>
          <p:nvPr/>
        </p:nvGrpSpPr>
        <p:grpSpPr>
          <a:xfrm>
            <a:off x="838200" y="1352549"/>
            <a:ext cx="5038725" cy="228601"/>
            <a:chOff x="0" y="0"/>
            <a:chExt cx="5038725" cy="228600"/>
          </a:xfrm>
        </p:grpSpPr>
        <p:sp>
          <p:nvSpPr>
            <p:cNvPr id="2169" name="矩形"/>
            <p:cNvSpPr/>
            <p:nvPr/>
          </p:nvSpPr>
          <p:spPr>
            <a:xfrm>
              <a:off x="0" y="-1"/>
              <a:ext cx="5038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0" name="可恢复可审计原型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可恢复可审计原型</a:t>
              </a:r>
            </a:p>
          </p:txBody>
        </p:sp>
      </p:grpSp>
      <p:grpSp>
        <p:nvGrpSpPr>
          <p:cNvPr id="2174" name="成组"/>
          <p:cNvGrpSpPr/>
          <p:nvPr/>
        </p:nvGrpSpPr>
        <p:grpSpPr>
          <a:xfrm>
            <a:off x="838200" y="1590674"/>
            <a:ext cx="5038725" cy="219076"/>
            <a:chOff x="0" y="0"/>
            <a:chExt cx="5038725" cy="219075"/>
          </a:xfrm>
        </p:grpSpPr>
        <p:sp>
          <p:nvSpPr>
            <p:cNvPr id="2172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3" name="打通任务接入、候选计划、工具执行、人工决策和报告输出"/>
            <p:cNvSpPr txBox="1"/>
            <p:nvPr/>
          </p:nvSpPr>
          <p:spPr>
            <a:xfrm>
              <a:off x="0" y="-1"/>
              <a:ext cx="5038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打通任务接入、候选计划、工具执行、人工决策和报告输出</a:t>
              </a:r>
            </a:p>
          </p:txBody>
        </p:sp>
      </p:grpSp>
      <p:sp>
        <p:nvSpPr>
          <p:cNvPr id="2175" name="矩形"/>
          <p:cNvSpPr/>
          <p:nvPr/>
        </p:nvSpPr>
        <p:spPr>
          <a:xfrm>
            <a:off x="666750" y="207645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6" name="矩形"/>
          <p:cNvSpPr/>
          <p:nvPr/>
        </p:nvSpPr>
        <p:spPr>
          <a:xfrm>
            <a:off x="666750" y="2076450"/>
            <a:ext cx="47625" cy="6286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79" name="成组"/>
          <p:cNvGrpSpPr/>
          <p:nvPr/>
        </p:nvGrpSpPr>
        <p:grpSpPr>
          <a:xfrm>
            <a:off x="838200" y="2171699"/>
            <a:ext cx="5038725" cy="228601"/>
            <a:chOff x="0" y="0"/>
            <a:chExt cx="5038725" cy="228600"/>
          </a:xfrm>
        </p:grpSpPr>
        <p:sp>
          <p:nvSpPr>
            <p:cNvPr id="2177" name="矩形"/>
            <p:cNvSpPr/>
            <p:nvPr/>
          </p:nvSpPr>
          <p:spPr>
            <a:xfrm>
              <a:off x="0" y="-1"/>
              <a:ext cx="5038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78" name="CEBRA-WP 机制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CEBRA-WP 机制</a:t>
              </a:r>
            </a:p>
          </p:txBody>
        </p:sp>
      </p:grpSp>
      <p:grpSp>
        <p:nvGrpSpPr>
          <p:cNvPr id="2182" name="成组"/>
          <p:cNvGrpSpPr/>
          <p:nvPr/>
        </p:nvGrpSpPr>
        <p:grpSpPr>
          <a:xfrm>
            <a:off x="838200" y="2409824"/>
            <a:ext cx="5038725" cy="219076"/>
            <a:chOff x="0" y="0"/>
            <a:chExt cx="5038725" cy="219075"/>
          </a:xfrm>
        </p:grpSpPr>
        <p:sp>
          <p:nvSpPr>
            <p:cNvPr id="2180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1" name="将约束、证据、轻量状态和恢复动作纳入同一规划闭环"/>
            <p:cNvSpPr txBox="1"/>
            <p:nvPr/>
          </p:nvSpPr>
          <p:spPr>
            <a:xfrm>
              <a:off x="0" y="-1"/>
              <a:ext cx="5038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将约束、证据、轻量状态和恢复动作纳入同一规划闭环</a:t>
              </a:r>
            </a:p>
          </p:txBody>
        </p:sp>
      </p:grpSp>
      <p:sp>
        <p:nvSpPr>
          <p:cNvPr id="2183" name="矩形"/>
          <p:cNvSpPr/>
          <p:nvPr/>
        </p:nvSpPr>
        <p:spPr>
          <a:xfrm>
            <a:off x="666750" y="289560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4" name="矩形"/>
          <p:cNvSpPr/>
          <p:nvPr/>
        </p:nvSpPr>
        <p:spPr>
          <a:xfrm>
            <a:off x="666750" y="2895600"/>
            <a:ext cx="47625" cy="6286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87" name="成组"/>
          <p:cNvGrpSpPr/>
          <p:nvPr/>
        </p:nvGrpSpPr>
        <p:grpSpPr>
          <a:xfrm>
            <a:off x="838200" y="2990849"/>
            <a:ext cx="5038725" cy="228601"/>
            <a:chOff x="0" y="0"/>
            <a:chExt cx="5038725" cy="228600"/>
          </a:xfrm>
        </p:grpSpPr>
        <p:sp>
          <p:nvSpPr>
            <p:cNvPr id="2185" name="矩形"/>
            <p:cNvSpPr/>
            <p:nvPr/>
          </p:nvSpPr>
          <p:spPr>
            <a:xfrm>
              <a:off x="0" y="-1"/>
              <a:ext cx="5038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6" name="FSM/HITL 约束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FSM/HITL 约束</a:t>
              </a:r>
            </a:p>
          </p:txBody>
        </p:sp>
      </p:grpSp>
      <p:grpSp>
        <p:nvGrpSpPr>
          <p:cNvPr id="2190" name="成组"/>
          <p:cNvGrpSpPr/>
          <p:nvPr/>
        </p:nvGrpSpPr>
        <p:grpSpPr>
          <a:xfrm>
            <a:off x="838200" y="3228974"/>
            <a:ext cx="5038725" cy="219076"/>
            <a:chOff x="0" y="0"/>
            <a:chExt cx="5038725" cy="219075"/>
          </a:xfrm>
        </p:grpSpPr>
        <p:sp>
          <p:nvSpPr>
            <p:cNvPr id="2188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89" name="用等待态、Decision、Snapshot 和 EventLog 约束 Agent 行为"/>
            <p:cNvSpPr txBox="1"/>
            <p:nvPr/>
          </p:nvSpPr>
          <p:spPr>
            <a:xfrm>
              <a:off x="0" y="-1"/>
              <a:ext cx="5038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用等待态、Decision、Snapshot 和 EventLog 约束 Agent 行为</a:t>
              </a:r>
            </a:p>
          </p:txBody>
        </p:sp>
      </p:grpSp>
      <p:sp>
        <p:nvSpPr>
          <p:cNvPr id="2191" name="矩形"/>
          <p:cNvSpPr/>
          <p:nvPr/>
        </p:nvSpPr>
        <p:spPr>
          <a:xfrm>
            <a:off x="666750" y="3714750"/>
            <a:ext cx="5381625" cy="6286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92" name="矩形"/>
          <p:cNvSpPr/>
          <p:nvPr/>
        </p:nvSpPr>
        <p:spPr>
          <a:xfrm>
            <a:off x="666750" y="3714750"/>
            <a:ext cx="47625" cy="6286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95" name="成组"/>
          <p:cNvGrpSpPr/>
          <p:nvPr/>
        </p:nvGrpSpPr>
        <p:grpSpPr>
          <a:xfrm>
            <a:off x="838200" y="3809999"/>
            <a:ext cx="5038725" cy="228601"/>
            <a:chOff x="0" y="0"/>
            <a:chExt cx="5038725" cy="228600"/>
          </a:xfrm>
        </p:grpSpPr>
        <p:sp>
          <p:nvSpPr>
            <p:cNvPr id="2193" name="矩形"/>
            <p:cNvSpPr/>
            <p:nvPr/>
          </p:nvSpPr>
          <p:spPr>
            <a:xfrm>
              <a:off x="0" y="-1"/>
              <a:ext cx="50387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94" name="证据链验证"/>
            <p:cNvSpPr txBox="1"/>
            <p:nvPr/>
          </p:nvSpPr>
          <p:spPr>
            <a:xfrm>
              <a:off x="0" y="0"/>
              <a:ext cx="5038725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证据链验证</a:t>
              </a:r>
            </a:p>
          </p:txBody>
        </p:sp>
      </p:grpSp>
      <p:grpSp>
        <p:nvGrpSpPr>
          <p:cNvPr id="2198" name="成组"/>
          <p:cNvGrpSpPr/>
          <p:nvPr/>
        </p:nvGrpSpPr>
        <p:grpSpPr>
          <a:xfrm>
            <a:off x="838200" y="4048124"/>
            <a:ext cx="5038725" cy="219076"/>
            <a:chOff x="0" y="0"/>
            <a:chExt cx="5038725" cy="219075"/>
          </a:xfrm>
        </p:grpSpPr>
        <p:sp>
          <p:nvSpPr>
            <p:cNvPr id="2196" name="矩形"/>
            <p:cNvSpPr/>
            <p:nvPr/>
          </p:nvSpPr>
          <p:spPr>
            <a:xfrm>
              <a:off x="0" y="0"/>
              <a:ext cx="5038725" cy="2190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197" name="系统测试与 84-run 消融支撑主要结论"/>
            <p:cNvSpPr txBox="1"/>
            <p:nvPr/>
          </p:nvSpPr>
          <p:spPr>
            <a:xfrm>
              <a:off x="0" y="-1"/>
              <a:ext cx="5038725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系统测试与 84-run 消融支撑主要结论</a:t>
              </a:r>
            </a:p>
          </p:txBody>
        </p:sp>
      </p:grpSp>
      <p:grpSp>
        <p:nvGrpSpPr>
          <p:cNvPr id="2201" name="成组"/>
          <p:cNvGrpSpPr/>
          <p:nvPr/>
        </p:nvGrpSpPr>
        <p:grpSpPr>
          <a:xfrm>
            <a:off x="6858000" y="1257299"/>
            <a:ext cx="1143000" cy="317501"/>
            <a:chOff x="0" y="0"/>
            <a:chExt cx="1143000" cy="317500"/>
          </a:xfrm>
        </p:grpSpPr>
        <p:sp>
          <p:nvSpPr>
            <p:cNvPr id="2199" name="矩形"/>
            <p:cNvSpPr/>
            <p:nvPr/>
          </p:nvSpPr>
          <p:spPr>
            <a:xfrm>
              <a:off x="0" y="-1"/>
              <a:ext cx="1143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0" name="局限"/>
            <p:cNvSpPr txBox="1"/>
            <p:nvPr/>
          </p:nvSpPr>
          <p:spPr>
            <a:xfrm>
              <a:off x="0" y="0"/>
              <a:ext cx="1143000" cy="3175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局限</a:t>
              </a:r>
            </a:p>
          </p:txBody>
        </p:sp>
      </p:grpSp>
      <p:sp>
        <p:nvSpPr>
          <p:cNvPr id="2202" name="圆形"/>
          <p:cNvSpPr/>
          <p:nvPr/>
        </p:nvSpPr>
        <p:spPr>
          <a:xfrm>
            <a:off x="6896100" y="18669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05" name="成组"/>
          <p:cNvGrpSpPr/>
          <p:nvPr/>
        </p:nvGrpSpPr>
        <p:grpSpPr>
          <a:xfrm>
            <a:off x="7067550" y="1809749"/>
            <a:ext cx="3924300" cy="361951"/>
            <a:chOff x="0" y="0"/>
            <a:chExt cx="3924300" cy="361950"/>
          </a:xfrm>
        </p:grpSpPr>
        <p:sp>
          <p:nvSpPr>
            <p:cNvPr id="2203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4" name="实验矩阵有限，每组 21 runs 主要支撑机制分析。"/>
            <p:cNvSpPr txBox="1"/>
            <p:nvPr/>
          </p:nvSpPr>
          <p:spPr>
            <a:xfrm>
              <a:off x="0" y="-1"/>
              <a:ext cx="3924300" cy="228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实验矩阵有限，每组 21 runs 主要支撑机制分析。</a:t>
              </a:r>
            </a:p>
          </p:txBody>
        </p:sp>
      </p:grpSp>
      <p:sp>
        <p:nvSpPr>
          <p:cNvPr id="2206" name="圆形"/>
          <p:cNvSpPr/>
          <p:nvPr/>
        </p:nvSpPr>
        <p:spPr>
          <a:xfrm>
            <a:off x="6896100" y="257175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09" name="成组"/>
          <p:cNvGrpSpPr/>
          <p:nvPr/>
        </p:nvGrpSpPr>
        <p:grpSpPr>
          <a:xfrm>
            <a:off x="7067550" y="2514599"/>
            <a:ext cx="3924300" cy="361951"/>
            <a:chOff x="0" y="0"/>
            <a:chExt cx="3924300" cy="361950"/>
          </a:xfrm>
        </p:grpSpPr>
        <p:sp>
          <p:nvSpPr>
            <p:cNvPr id="2207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08" name="真实后缀重规划在批量实验中触发不足。"/>
            <p:cNvSpPr txBox="1"/>
            <p:nvPr/>
          </p:nvSpPr>
          <p:spPr>
            <a:xfrm>
              <a:off x="0" y="-1"/>
              <a:ext cx="3924300" cy="228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真实后缀重规划在批量实验中触发不足。</a:t>
              </a:r>
            </a:p>
          </p:txBody>
        </p:sp>
      </p:grpSp>
      <p:sp>
        <p:nvSpPr>
          <p:cNvPr id="2210" name="圆形"/>
          <p:cNvSpPr/>
          <p:nvPr/>
        </p:nvSpPr>
        <p:spPr>
          <a:xfrm>
            <a:off x="6896100" y="3276600"/>
            <a:ext cx="76200" cy="76200"/>
          </a:xfrm>
          <a:prstGeom prst="ellipse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13" name="成组"/>
          <p:cNvGrpSpPr/>
          <p:nvPr/>
        </p:nvGrpSpPr>
        <p:grpSpPr>
          <a:xfrm>
            <a:off x="7067550" y="3219449"/>
            <a:ext cx="3924300" cy="361951"/>
            <a:chOff x="0" y="0"/>
            <a:chExt cx="3924300" cy="361950"/>
          </a:xfrm>
        </p:grpSpPr>
        <p:sp>
          <p:nvSpPr>
            <p:cNvPr id="2211" name="矩形"/>
            <p:cNvSpPr/>
            <p:nvPr/>
          </p:nvSpPr>
          <p:spPr>
            <a:xfrm>
              <a:off x="0" y="0"/>
              <a:ext cx="3924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2" name="仍需完善持久化、KG 动态更新和远程服务探活。"/>
            <p:cNvSpPr txBox="1"/>
            <p:nvPr/>
          </p:nvSpPr>
          <p:spPr>
            <a:xfrm>
              <a:off x="0" y="-1"/>
              <a:ext cx="3924300" cy="228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仍需完善持久化、KG 动态更新和远程服务探活。</a:t>
              </a:r>
            </a:p>
          </p:txBody>
        </p:sp>
      </p:grpSp>
      <p:sp>
        <p:nvSpPr>
          <p:cNvPr id="2214" name="矩形"/>
          <p:cNvSpPr/>
          <p:nvPr/>
        </p:nvSpPr>
        <p:spPr>
          <a:xfrm>
            <a:off x="6715125" y="4419600"/>
            <a:ext cx="4476750" cy="1143000"/>
          </a:xfrm>
          <a:prstGeom prst="rect">
            <a:avLst/>
          </a:prstGeom>
          <a:solidFill>
            <a:srgbClr val="F6FAFF"/>
          </a:solidFill>
          <a:ln>
            <a:solidFill>
              <a:srgbClr val="C9E1F8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17" name="成组"/>
          <p:cNvGrpSpPr/>
          <p:nvPr/>
        </p:nvGrpSpPr>
        <p:grpSpPr>
          <a:xfrm>
            <a:off x="6953250" y="4591050"/>
            <a:ext cx="1143000" cy="228600"/>
            <a:chOff x="0" y="0"/>
            <a:chExt cx="1143000" cy="228600"/>
          </a:xfrm>
        </p:grpSpPr>
        <p:sp>
          <p:nvSpPr>
            <p:cNvPr id="2215" name="矩形"/>
            <p:cNvSpPr/>
            <p:nvPr/>
          </p:nvSpPr>
          <p:spPr>
            <a:xfrm>
              <a:off x="0" y="0"/>
              <a:ext cx="114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6" name="结论边界"/>
            <p:cNvSpPr txBox="1"/>
            <p:nvPr/>
          </p:nvSpPr>
          <p:spPr>
            <a:xfrm>
              <a:off x="0" y="0"/>
              <a:ext cx="11430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结论边界</a:t>
              </a:r>
            </a:p>
          </p:txBody>
        </p:sp>
      </p:grpSp>
      <p:grpSp>
        <p:nvGrpSpPr>
          <p:cNvPr id="2220" name="成组"/>
          <p:cNvGrpSpPr/>
          <p:nvPr/>
        </p:nvGrpSpPr>
        <p:grpSpPr>
          <a:xfrm>
            <a:off x="6953250" y="4857749"/>
            <a:ext cx="3857625" cy="533401"/>
            <a:chOff x="0" y="0"/>
            <a:chExt cx="3857625" cy="533400"/>
          </a:xfrm>
        </p:grpSpPr>
        <p:sp>
          <p:nvSpPr>
            <p:cNvPr id="2218" name="矩形"/>
            <p:cNvSpPr/>
            <p:nvPr/>
          </p:nvSpPr>
          <p:spPr>
            <a:xfrm>
              <a:off x="0" y="0"/>
              <a:ext cx="3857625" cy="533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19" name="结论限定在工作流层：系统验证了规划、执行、恢复和审计机制；生物学有效性留待后续实验。"/>
            <p:cNvSpPr txBox="1"/>
            <p:nvPr/>
          </p:nvSpPr>
          <p:spPr>
            <a:xfrm>
              <a:off x="0" y="-1"/>
              <a:ext cx="385762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结论限定在工作流层：系统验证了规划、执行、恢复和审计机制；生物学有效性留待后续实验。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2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23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26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224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25" name="备份：失败样本概览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备份：失败样本概览</a:t>
              </a:r>
            </a:p>
          </p:txBody>
        </p:sp>
      </p:grpSp>
      <p:grpSp>
        <p:nvGrpSpPr>
          <p:cNvPr id="2229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227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228" name="BACKUP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230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231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2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3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4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5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6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7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8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9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0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1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2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3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4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5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6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7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8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9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0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1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2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3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4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5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6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7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8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9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0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1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2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3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4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5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6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7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8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9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0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1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2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3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4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5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6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7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8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9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0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1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2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3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4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5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6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7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8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9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0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1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2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3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4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5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6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7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8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9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00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03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301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02" name="17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17</a:t>
              </a:r>
            </a:p>
          </p:txBody>
        </p:sp>
      </p:grpSp>
      <p:grpSp>
        <p:nvGrpSpPr>
          <p:cNvPr id="2306" name="成组"/>
          <p:cNvGrpSpPr/>
          <p:nvPr/>
        </p:nvGrpSpPr>
        <p:grpSpPr>
          <a:xfrm>
            <a:off x="819150" y="1066799"/>
            <a:ext cx="9906000" cy="285751"/>
            <a:chOff x="0" y="0"/>
            <a:chExt cx="9906000" cy="285750"/>
          </a:xfrm>
        </p:grpSpPr>
        <p:sp>
          <p:nvSpPr>
            <p:cNvPr id="2304" name="矩形"/>
            <p:cNvSpPr/>
            <p:nvPr/>
          </p:nvSpPr>
          <p:spPr>
            <a:xfrm>
              <a:off x="0" y="0"/>
              <a:ext cx="9906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05" name="失败样本用于说明机制边界和日志可追溯性。"/>
            <p:cNvSpPr txBox="1"/>
            <p:nvPr/>
          </p:nvSpPr>
          <p:spPr>
            <a:xfrm>
              <a:off x="0" y="-1"/>
              <a:ext cx="9906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失败样本用于说明机制边界和日志可追溯性。</a:t>
              </a:r>
            </a:p>
          </p:txBody>
        </p:sp>
      </p:grpSp>
      <p:sp>
        <p:nvSpPr>
          <p:cNvPr id="2307" name="矩形"/>
          <p:cNvSpPr/>
          <p:nvPr/>
        </p:nvSpPr>
        <p:spPr>
          <a:xfrm>
            <a:off x="742950" y="169545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8" name="矩形"/>
          <p:cNvSpPr/>
          <p:nvPr/>
        </p:nvSpPr>
        <p:spPr>
          <a:xfrm>
            <a:off x="742950" y="1695450"/>
            <a:ext cx="47625" cy="247650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11" name="成组"/>
          <p:cNvGrpSpPr/>
          <p:nvPr/>
        </p:nvGrpSpPr>
        <p:grpSpPr>
          <a:xfrm>
            <a:off x="914400" y="1828800"/>
            <a:ext cx="2800350" cy="228600"/>
            <a:chOff x="0" y="0"/>
            <a:chExt cx="2800350" cy="228600"/>
          </a:xfrm>
        </p:grpSpPr>
        <p:sp>
          <p:nvSpPr>
            <p:cNvPr id="2309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0" name="fixed_threshold_g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fixed_threshold_gate</a:t>
              </a:r>
            </a:p>
          </p:txBody>
        </p:sp>
      </p:grpSp>
      <p:grpSp>
        <p:nvGrpSpPr>
          <p:cNvPr id="2314" name="成组"/>
          <p:cNvGrpSpPr/>
          <p:nvPr/>
        </p:nvGrpSpPr>
        <p:grpSpPr>
          <a:xfrm>
            <a:off x="914400" y="2133599"/>
            <a:ext cx="2800350" cy="1943101"/>
            <a:chOff x="0" y="0"/>
            <a:chExt cx="2800350" cy="1943100"/>
          </a:xfrm>
        </p:grpSpPr>
        <p:sp>
          <p:nvSpPr>
            <p:cNvPr id="2312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3" name="auto decision loop exhausted…"/>
            <p:cNvSpPr txBox="1"/>
            <p:nvPr/>
          </p:nvSpPr>
          <p:spPr>
            <a:xfrm>
              <a:off x="0" y="-1"/>
              <a:ext cx="2800350" cy="393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auto decision loop exhausted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固定门控触发 patch 后仍可能循环耗尽</a:t>
              </a:r>
            </a:p>
          </p:txBody>
        </p:sp>
      </p:grpSp>
      <p:sp>
        <p:nvSpPr>
          <p:cNvPr id="2315" name="矩形"/>
          <p:cNvSpPr/>
          <p:nvPr/>
        </p:nvSpPr>
        <p:spPr>
          <a:xfrm>
            <a:off x="4410075" y="1695450"/>
            <a:ext cx="3143250" cy="2476500"/>
          </a:xfrm>
          <a:prstGeom prst="rect">
            <a:avLst/>
          </a:prstGeom>
          <a:solidFill>
            <a:srgbClr val="F6FA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6" name="矩形"/>
          <p:cNvSpPr/>
          <p:nvPr/>
        </p:nvSpPr>
        <p:spPr>
          <a:xfrm>
            <a:off x="4410075" y="1695450"/>
            <a:ext cx="47625" cy="247650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19" name="成组"/>
          <p:cNvGrpSpPr/>
          <p:nvPr/>
        </p:nvGrpSpPr>
        <p:grpSpPr>
          <a:xfrm>
            <a:off x="4581525" y="1828800"/>
            <a:ext cx="2800350" cy="228600"/>
            <a:chOff x="0" y="0"/>
            <a:chExt cx="2800350" cy="228600"/>
          </a:xfrm>
        </p:grpSpPr>
        <p:sp>
          <p:nvSpPr>
            <p:cNvPr id="2317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18" name="lite_belief_st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</a:t>
              </a:r>
            </a:p>
          </p:txBody>
        </p:sp>
      </p:grpSp>
      <p:grpSp>
        <p:nvGrpSpPr>
          <p:cNvPr id="2322" name="成组"/>
          <p:cNvGrpSpPr/>
          <p:nvPr/>
        </p:nvGrpSpPr>
        <p:grpSpPr>
          <a:xfrm>
            <a:off x="4581525" y="2133599"/>
            <a:ext cx="2800350" cy="1943101"/>
            <a:chOff x="0" y="0"/>
            <a:chExt cx="2800350" cy="1943100"/>
          </a:xfrm>
        </p:grpSpPr>
        <p:sp>
          <p:nvSpPr>
            <p:cNvPr id="2320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1" name="RuntimeState 可观测…"/>
            <p:cNvSpPr txBox="1"/>
            <p:nvPr/>
          </p:nvSpPr>
          <p:spPr>
            <a:xfrm>
              <a:off x="0" y="-1"/>
              <a:ext cx="2800350" cy="647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RuntimeState 可观测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但单靠状态记录未必打破 WAITING_PATCH 循环</a:t>
              </a:r>
            </a:p>
          </p:txBody>
        </p:sp>
      </p:grpSp>
      <p:sp>
        <p:nvSpPr>
          <p:cNvPr id="2323" name="矩形"/>
          <p:cNvSpPr/>
          <p:nvPr/>
        </p:nvSpPr>
        <p:spPr>
          <a:xfrm>
            <a:off x="8077200" y="169545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24" name="矩形"/>
          <p:cNvSpPr/>
          <p:nvPr/>
        </p:nvSpPr>
        <p:spPr>
          <a:xfrm>
            <a:off x="8077200" y="1695450"/>
            <a:ext cx="47625" cy="247650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27" name="成组"/>
          <p:cNvGrpSpPr/>
          <p:nvPr/>
        </p:nvGrpSpPr>
        <p:grpSpPr>
          <a:xfrm>
            <a:off x="8248650" y="1828800"/>
            <a:ext cx="2800350" cy="228600"/>
            <a:chOff x="0" y="0"/>
            <a:chExt cx="2800350" cy="228600"/>
          </a:xfrm>
        </p:grpSpPr>
        <p:sp>
          <p:nvSpPr>
            <p:cNvPr id="2325" name="矩形"/>
            <p:cNvSpPr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6" name="dynamic_no_belief_state"/>
            <p:cNvSpPr txBox="1"/>
            <p:nvPr/>
          </p:nvSpPr>
          <p:spPr>
            <a:xfrm>
              <a:off x="0" y="0"/>
              <a:ext cx="28003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dynamic_no_belief_state</a:t>
              </a:r>
            </a:p>
          </p:txBody>
        </p:sp>
      </p:grpSp>
      <p:grpSp>
        <p:nvGrpSpPr>
          <p:cNvPr id="2330" name="成组"/>
          <p:cNvGrpSpPr/>
          <p:nvPr/>
        </p:nvGrpSpPr>
        <p:grpSpPr>
          <a:xfrm>
            <a:off x="8248650" y="2133599"/>
            <a:ext cx="2800350" cy="1943101"/>
            <a:chOff x="0" y="0"/>
            <a:chExt cx="2800350" cy="1943100"/>
          </a:xfrm>
        </p:grpSpPr>
        <p:sp>
          <p:nvSpPr>
            <p:cNvPr id="2328" name="矩形"/>
            <p:cNvSpPr/>
            <p:nvPr/>
          </p:nvSpPr>
          <p:spPr>
            <a:xfrm>
              <a:off x="0" y="0"/>
              <a:ext cx="2800350" cy="1943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29" name="CANDIDATE_IO_CLOSURE_BROKEN…"/>
            <p:cNvSpPr txBox="1"/>
            <p:nvPr/>
          </p:nvSpPr>
          <p:spPr>
            <a:xfrm>
              <a:off x="0" y="-1"/>
              <a:ext cx="2800350" cy="393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CANDIDATE_IO_CLOSURE_BROKEN</a:t>
              </a:r>
            </a:p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  <a:r>
                <a:t>执行前阻断 I/O 不闭合候选</a:t>
              </a:r>
            </a:p>
          </p:txBody>
        </p:sp>
      </p:grpSp>
      <p:sp>
        <p:nvSpPr>
          <p:cNvPr id="2331" name="矩形"/>
          <p:cNvSpPr/>
          <p:nvPr/>
        </p:nvSpPr>
        <p:spPr>
          <a:xfrm>
            <a:off x="95250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32" name="矩形"/>
          <p:cNvSpPr/>
          <p:nvPr/>
        </p:nvSpPr>
        <p:spPr>
          <a:xfrm>
            <a:off x="952500" y="4686300"/>
            <a:ext cx="47625" cy="6667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35" name="成组"/>
          <p:cNvGrpSpPr/>
          <p:nvPr/>
        </p:nvGrpSpPr>
        <p:grpSpPr>
          <a:xfrm>
            <a:off x="1123950" y="4781549"/>
            <a:ext cx="2514600" cy="228601"/>
            <a:chOff x="0" y="0"/>
            <a:chExt cx="2514600" cy="228600"/>
          </a:xfrm>
        </p:grpSpPr>
        <p:sp>
          <p:nvSpPr>
            <p:cNvPr id="2333" name="矩形"/>
            <p:cNvSpPr/>
            <p:nvPr/>
          </p:nvSpPr>
          <p:spPr>
            <a:xfrm>
              <a:off x="0" y="-1"/>
              <a:ext cx="25146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34" name="可恢复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可恢复</a:t>
              </a:r>
            </a:p>
          </p:txBody>
        </p:sp>
      </p:grpSp>
      <p:grpSp>
        <p:nvGrpSpPr>
          <p:cNvPr id="2338" name="成组"/>
          <p:cNvGrpSpPr/>
          <p:nvPr/>
        </p:nvGrpSpPr>
        <p:grpSpPr>
          <a:xfrm>
            <a:off x="1123950" y="5019674"/>
            <a:ext cx="2514600" cy="257176"/>
            <a:chOff x="0" y="0"/>
            <a:chExt cx="2514600" cy="257175"/>
          </a:xfrm>
        </p:grpSpPr>
        <p:sp>
          <p:nvSpPr>
            <p:cNvPr id="2336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37" name="失败后仍能产生 patch / replan / stop 候选"/>
            <p:cNvSpPr txBox="1"/>
            <p:nvPr/>
          </p:nvSpPr>
          <p:spPr>
            <a:xfrm>
              <a:off x="0" y="-1"/>
              <a:ext cx="2514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失败后仍能产生 patch / replan / stop 候选</a:t>
              </a:r>
            </a:p>
          </p:txBody>
        </p:sp>
      </p:grpSp>
      <p:sp>
        <p:nvSpPr>
          <p:cNvPr id="2339" name="矩形"/>
          <p:cNvSpPr/>
          <p:nvPr/>
        </p:nvSpPr>
        <p:spPr>
          <a:xfrm>
            <a:off x="428625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0" name="矩形"/>
          <p:cNvSpPr/>
          <p:nvPr/>
        </p:nvSpPr>
        <p:spPr>
          <a:xfrm>
            <a:off x="4286250" y="4686300"/>
            <a:ext cx="47625" cy="6667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43" name="成组"/>
          <p:cNvGrpSpPr/>
          <p:nvPr/>
        </p:nvGrpSpPr>
        <p:grpSpPr>
          <a:xfrm>
            <a:off x="4457700" y="4781549"/>
            <a:ext cx="2514600" cy="228601"/>
            <a:chOff x="0" y="0"/>
            <a:chExt cx="2514600" cy="228600"/>
          </a:xfrm>
        </p:grpSpPr>
        <p:sp>
          <p:nvSpPr>
            <p:cNvPr id="2341" name="矩形"/>
            <p:cNvSpPr/>
            <p:nvPr/>
          </p:nvSpPr>
          <p:spPr>
            <a:xfrm>
              <a:off x="0" y="-1"/>
              <a:ext cx="25146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42" name="可审计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可审计</a:t>
              </a:r>
            </a:p>
          </p:txBody>
        </p:sp>
      </p:grpSp>
      <p:grpSp>
        <p:nvGrpSpPr>
          <p:cNvPr id="2346" name="成组"/>
          <p:cNvGrpSpPr/>
          <p:nvPr/>
        </p:nvGrpSpPr>
        <p:grpSpPr>
          <a:xfrm>
            <a:off x="4457700" y="5019674"/>
            <a:ext cx="2514600" cy="257176"/>
            <a:chOff x="0" y="0"/>
            <a:chExt cx="2514600" cy="257175"/>
          </a:xfrm>
        </p:grpSpPr>
        <p:sp>
          <p:nvSpPr>
            <p:cNvPr id="2344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45" name="EventLog 与 Snapshot 记录失败原因和决策链"/>
            <p:cNvSpPr txBox="1"/>
            <p:nvPr/>
          </p:nvSpPr>
          <p:spPr>
            <a:xfrm>
              <a:off x="0" y="-1"/>
              <a:ext cx="2514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EventLog 与 Snapshot 记录失败原因和决策链</a:t>
              </a:r>
            </a:p>
          </p:txBody>
        </p:sp>
      </p:grpSp>
      <p:sp>
        <p:nvSpPr>
          <p:cNvPr id="2347" name="矩形"/>
          <p:cNvSpPr/>
          <p:nvPr/>
        </p:nvSpPr>
        <p:spPr>
          <a:xfrm>
            <a:off x="7620000" y="4686300"/>
            <a:ext cx="2857500" cy="6667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48" name="矩形"/>
          <p:cNvSpPr/>
          <p:nvPr/>
        </p:nvSpPr>
        <p:spPr>
          <a:xfrm>
            <a:off x="7620000" y="4686300"/>
            <a:ext cx="47625" cy="6667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51" name="成组"/>
          <p:cNvGrpSpPr/>
          <p:nvPr/>
        </p:nvGrpSpPr>
        <p:grpSpPr>
          <a:xfrm>
            <a:off x="7791450" y="4781549"/>
            <a:ext cx="2514600" cy="228601"/>
            <a:chOff x="0" y="0"/>
            <a:chExt cx="2514600" cy="228600"/>
          </a:xfrm>
        </p:grpSpPr>
        <p:sp>
          <p:nvSpPr>
            <p:cNvPr id="2349" name="矩形"/>
            <p:cNvSpPr/>
            <p:nvPr/>
          </p:nvSpPr>
          <p:spPr>
            <a:xfrm>
              <a:off x="0" y="-1"/>
              <a:ext cx="25146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0" name="有边界"/>
            <p:cNvSpPr txBox="1"/>
            <p:nvPr/>
          </p:nvSpPr>
          <p:spPr>
            <a:xfrm>
              <a:off x="0" y="0"/>
              <a:ext cx="251460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有边界</a:t>
              </a:r>
            </a:p>
          </p:txBody>
        </p:sp>
      </p:grpSp>
      <p:grpSp>
        <p:nvGrpSpPr>
          <p:cNvPr id="2354" name="成组"/>
          <p:cNvGrpSpPr/>
          <p:nvPr/>
        </p:nvGrpSpPr>
        <p:grpSpPr>
          <a:xfrm>
            <a:off x="7791450" y="5019674"/>
            <a:ext cx="2514600" cy="257176"/>
            <a:chOff x="0" y="0"/>
            <a:chExt cx="2514600" cy="257175"/>
          </a:xfrm>
        </p:grpSpPr>
        <p:sp>
          <p:nvSpPr>
            <p:cNvPr id="2352" name="矩形"/>
            <p:cNvSpPr/>
            <p:nvPr/>
          </p:nvSpPr>
          <p:spPr>
            <a:xfrm>
              <a:off x="0" y="0"/>
              <a:ext cx="2514600" cy="2571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3" name="硬约束违规不交给重排阶段兜底"/>
            <p:cNvSpPr txBox="1"/>
            <p:nvPr/>
          </p:nvSpPr>
          <p:spPr>
            <a:xfrm>
              <a:off x="0" y="-1"/>
              <a:ext cx="25146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硬约束违规不交给重排阶段兜底</a:t>
              </a:r>
            </a:p>
          </p:txBody>
        </p:sp>
      </p:grpSp>
      <p:grpSp>
        <p:nvGrpSpPr>
          <p:cNvPr id="2357" name="成组"/>
          <p:cNvGrpSpPr/>
          <p:nvPr/>
        </p:nvGrpSpPr>
        <p:grpSpPr>
          <a:xfrm>
            <a:off x="1047750" y="5753099"/>
            <a:ext cx="9525000" cy="285751"/>
            <a:chOff x="0" y="0"/>
            <a:chExt cx="9525000" cy="285750"/>
          </a:xfrm>
        </p:grpSpPr>
        <p:sp>
          <p:nvSpPr>
            <p:cNvPr id="2355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56" name="详细时间线见下一页，可用于回答“失败样本说明什么”。"/>
            <p:cNvSpPr txBox="1"/>
            <p:nvPr/>
          </p:nvSpPr>
          <p:spPr>
            <a:xfrm>
              <a:off x="0" y="-1"/>
              <a:ext cx="9525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详细时间线见下一页，可用于回答“失败样本说明什么”。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3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363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361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62" name="备份：失败样本如何解释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备份：失败样本如何解释</a:t>
              </a:r>
            </a:p>
          </p:txBody>
        </p:sp>
      </p:grpSp>
      <p:grpSp>
        <p:nvGrpSpPr>
          <p:cNvPr id="2366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364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365" name="BACKUP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367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368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69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0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1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2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3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4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5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6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7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8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9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0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1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2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3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4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5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6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7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8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9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0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1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2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3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4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5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6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7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8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9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0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1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2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3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4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5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6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7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8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9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0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1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2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3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4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5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6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7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8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19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0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1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2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3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4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5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6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7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8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9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0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1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2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3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4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5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6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37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40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438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39" name="18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18</a:t>
              </a:r>
            </a:p>
          </p:txBody>
        </p:sp>
      </p:grpSp>
      <p:sp>
        <p:nvSpPr>
          <p:cNvPr id="2441" name="矩形"/>
          <p:cNvSpPr/>
          <p:nvPr/>
        </p:nvSpPr>
        <p:spPr>
          <a:xfrm>
            <a:off x="571500" y="1162050"/>
            <a:ext cx="6191250" cy="4095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42" name="image66.png" descr="image66.p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319970"/>
            <a:ext cx="6115050" cy="3779909"/>
          </a:xfrm>
          <a:prstGeom prst="rect">
            <a:avLst/>
          </a:prstGeom>
          <a:ln w="12700">
            <a:miter lim="400000"/>
          </a:ln>
        </p:spPr>
      </p:pic>
      <p:sp>
        <p:nvSpPr>
          <p:cNvPr id="2443" name="矩形"/>
          <p:cNvSpPr/>
          <p:nvPr/>
        </p:nvSpPr>
        <p:spPr>
          <a:xfrm>
            <a:off x="7096125" y="12858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4" name="矩形"/>
          <p:cNvSpPr/>
          <p:nvPr/>
        </p:nvSpPr>
        <p:spPr>
          <a:xfrm>
            <a:off x="7096125" y="1285875"/>
            <a:ext cx="47625" cy="9334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47" name="成组"/>
          <p:cNvGrpSpPr/>
          <p:nvPr/>
        </p:nvGrpSpPr>
        <p:grpSpPr>
          <a:xfrm>
            <a:off x="7267575" y="1419224"/>
            <a:ext cx="3657600" cy="209551"/>
            <a:chOff x="0" y="0"/>
            <a:chExt cx="3657600" cy="209550"/>
          </a:xfrm>
        </p:grpSpPr>
        <p:sp>
          <p:nvSpPr>
            <p:cNvPr id="2445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46" name="fixed_threshold_gate"/>
            <p:cNvSpPr txBox="1"/>
            <p:nvPr/>
          </p:nvSpPr>
          <p:spPr>
            <a:xfrm>
              <a:off x="0" y="-1"/>
              <a:ext cx="36576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fixed_threshold_gate</a:t>
              </a:r>
            </a:p>
          </p:txBody>
        </p:sp>
      </p:grpSp>
      <p:grpSp>
        <p:nvGrpSpPr>
          <p:cNvPr id="2450" name="成组"/>
          <p:cNvGrpSpPr/>
          <p:nvPr/>
        </p:nvGrpSpPr>
        <p:grpSpPr>
          <a:xfrm>
            <a:off x="7267575" y="1704974"/>
            <a:ext cx="3657600" cy="419101"/>
            <a:chOff x="0" y="0"/>
            <a:chExt cx="3657600" cy="419100"/>
          </a:xfrm>
        </p:grpSpPr>
        <p:sp>
          <p:nvSpPr>
            <p:cNvPr id="2448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49" name="t2_ubiquitin r02：auto decision loop exhausted，固定门控可触发 patch，但存在循环耗尽风险。"/>
            <p:cNvSpPr txBox="1"/>
            <p:nvPr/>
          </p:nvSpPr>
          <p:spPr>
            <a:xfrm>
              <a:off x="0" y="-1"/>
              <a:ext cx="36576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t2_ubiquitin r02：auto decision loop exhausted，固定门控可触发 patch，但存在循环耗尽风险。</a:t>
              </a:r>
            </a:p>
          </p:txBody>
        </p:sp>
      </p:grpSp>
      <p:sp>
        <p:nvSpPr>
          <p:cNvPr id="2451" name="矩形"/>
          <p:cNvSpPr/>
          <p:nvPr/>
        </p:nvSpPr>
        <p:spPr>
          <a:xfrm>
            <a:off x="7096125" y="25431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2" name="矩形"/>
          <p:cNvSpPr/>
          <p:nvPr/>
        </p:nvSpPr>
        <p:spPr>
          <a:xfrm>
            <a:off x="7096125" y="2543175"/>
            <a:ext cx="47625" cy="9334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55" name="成组"/>
          <p:cNvGrpSpPr/>
          <p:nvPr/>
        </p:nvGrpSpPr>
        <p:grpSpPr>
          <a:xfrm>
            <a:off x="7267575" y="2676524"/>
            <a:ext cx="3657600" cy="209551"/>
            <a:chOff x="0" y="0"/>
            <a:chExt cx="3657600" cy="209550"/>
          </a:xfrm>
        </p:grpSpPr>
        <p:sp>
          <p:nvSpPr>
            <p:cNvPr id="2453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54" name="lite_belief_state"/>
            <p:cNvSpPr txBox="1"/>
            <p:nvPr/>
          </p:nvSpPr>
          <p:spPr>
            <a:xfrm>
              <a:off x="0" y="-1"/>
              <a:ext cx="36576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lite_belief_state</a:t>
              </a:r>
            </a:p>
          </p:txBody>
        </p:sp>
      </p:grpSp>
      <p:grpSp>
        <p:nvGrpSpPr>
          <p:cNvPr id="2458" name="成组"/>
          <p:cNvGrpSpPr/>
          <p:nvPr/>
        </p:nvGrpSpPr>
        <p:grpSpPr>
          <a:xfrm>
            <a:off x="7267575" y="2962274"/>
            <a:ext cx="3657600" cy="419101"/>
            <a:chOff x="0" y="0"/>
            <a:chExt cx="3657600" cy="419100"/>
          </a:xfrm>
        </p:grpSpPr>
        <p:sp>
          <p:nvSpPr>
            <p:cNvPr id="2456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57" name="t2_ubiquitin r01：RuntimeState 可观测，但仍未打破 WAITING_PATCH 循环。"/>
            <p:cNvSpPr txBox="1"/>
            <p:nvPr/>
          </p:nvSpPr>
          <p:spPr>
            <a:xfrm>
              <a:off x="0" y="-1"/>
              <a:ext cx="36576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t2_ubiquitin r01：RuntimeState 可观测，但仍未打破 WAITING_PATCH 循环。</a:t>
              </a:r>
            </a:p>
          </p:txBody>
        </p:sp>
      </p:grpSp>
      <p:sp>
        <p:nvSpPr>
          <p:cNvPr id="2459" name="矩形"/>
          <p:cNvSpPr/>
          <p:nvPr/>
        </p:nvSpPr>
        <p:spPr>
          <a:xfrm>
            <a:off x="7096125" y="3800475"/>
            <a:ext cx="4000500" cy="9334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60" name="矩形"/>
          <p:cNvSpPr/>
          <p:nvPr/>
        </p:nvSpPr>
        <p:spPr>
          <a:xfrm>
            <a:off x="7096125" y="3800475"/>
            <a:ext cx="47625" cy="933450"/>
          </a:xfrm>
          <a:prstGeom prst="rect">
            <a:avLst/>
          </a:prstGeom>
          <a:solidFill>
            <a:srgbClr val="C84A4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63" name="成组"/>
          <p:cNvGrpSpPr/>
          <p:nvPr/>
        </p:nvGrpSpPr>
        <p:grpSpPr>
          <a:xfrm>
            <a:off x="7267575" y="3933824"/>
            <a:ext cx="3657600" cy="209551"/>
            <a:chOff x="0" y="0"/>
            <a:chExt cx="3657600" cy="209550"/>
          </a:xfrm>
        </p:grpSpPr>
        <p:sp>
          <p:nvSpPr>
            <p:cNvPr id="2461" name="矩形"/>
            <p:cNvSpPr/>
            <p:nvPr/>
          </p:nvSpPr>
          <p:spPr>
            <a:xfrm>
              <a:off x="0" y="0"/>
              <a:ext cx="36576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2" name="dynamic_no_belief_state"/>
            <p:cNvSpPr txBox="1"/>
            <p:nvPr/>
          </p:nvSpPr>
          <p:spPr>
            <a:xfrm>
              <a:off x="0" y="-1"/>
              <a:ext cx="36576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dynamic_no_belief_state</a:t>
              </a:r>
            </a:p>
          </p:txBody>
        </p:sp>
      </p:grpSp>
      <p:grpSp>
        <p:nvGrpSpPr>
          <p:cNvPr id="2466" name="成组"/>
          <p:cNvGrpSpPr/>
          <p:nvPr/>
        </p:nvGrpSpPr>
        <p:grpSpPr>
          <a:xfrm>
            <a:off x="7267575" y="4219574"/>
            <a:ext cx="3657600" cy="419101"/>
            <a:chOff x="0" y="0"/>
            <a:chExt cx="3657600" cy="419100"/>
          </a:xfrm>
        </p:grpSpPr>
        <p:sp>
          <p:nvSpPr>
            <p:cNvPr id="2464" name="矩形"/>
            <p:cNvSpPr/>
            <p:nvPr/>
          </p:nvSpPr>
          <p:spPr>
            <a:xfrm>
              <a:off x="0" y="0"/>
              <a:ext cx="36576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5" name="t3_gb1 r01：CANDIDATE_IO_CLOSURE_BROKEN，执行前阻断不可执行候选。"/>
            <p:cNvSpPr txBox="1"/>
            <p:nvPr/>
          </p:nvSpPr>
          <p:spPr>
            <a:xfrm>
              <a:off x="0" y="-1"/>
              <a:ext cx="36576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t3_gb1 r01：CANDIDATE_IO_CLOSURE_BROKEN，执行前阻断不可执行候选。</a:t>
              </a:r>
            </a:p>
          </p:txBody>
        </p:sp>
      </p:grpSp>
      <p:grpSp>
        <p:nvGrpSpPr>
          <p:cNvPr id="2469" name="成组"/>
          <p:cNvGrpSpPr/>
          <p:nvPr/>
        </p:nvGrpSpPr>
        <p:grpSpPr>
          <a:xfrm>
            <a:off x="952500" y="5753099"/>
            <a:ext cx="9810750" cy="285751"/>
            <a:chOff x="0" y="0"/>
            <a:chExt cx="9810750" cy="285750"/>
          </a:xfrm>
        </p:grpSpPr>
        <p:sp>
          <p:nvSpPr>
            <p:cNvPr id="2467" name="矩形"/>
            <p:cNvSpPr/>
            <p:nvPr/>
          </p:nvSpPr>
          <p:spPr>
            <a:xfrm>
              <a:off x="0" y="0"/>
              <a:ext cx="981075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68" name="3 个 FAILED run 都保留了 event log 与 snapshot，可作为机制边界样本。"/>
            <p:cNvSpPr txBox="1"/>
            <p:nvPr/>
          </p:nvSpPr>
          <p:spPr>
            <a:xfrm>
              <a:off x="0" y="-1"/>
              <a:ext cx="981075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3 个 FAILED run 都保留了 event log 与 snapshot，可作为机制边界样本。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47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75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47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74" name="备份：测试证据索引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备份：测试证据索引</a:t>
              </a:r>
            </a:p>
          </p:txBody>
        </p:sp>
      </p:grpSp>
      <p:grpSp>
        <p:nvGrpSpPr>
          <p:cNvPr id="2478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47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477" name="BACKUP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47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48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54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552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55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1" name="19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19</a:t>
              </a:r>
            </a:p>
          </p:txBody>
        </p:sp>
      </p:grpSp>
      <p:sp>
        <p:nvSpPr>
          <p:cNvPr id="2553" name="矩形"/>
          <p:cNvSpPr/>
          <p:nvPr/>
        </p:nvSpPr>
        <p:spPr>
          <a:xfrm>
            <a:off x="762000" y="13144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56" name="成组"/>
          <p:cNvGrpSpPr/>
          <p:nvPr/>
        </p:nvGrpSpPr>
        <p:grpSpPr>
          <a:xfrm>
            <a:off x="1028700" y="1466849"/>
            <a:ext cx="1047750" cy="209551"/>
            <a:chOff x="0" y="0"/>
            <a:chExt cx="1047750" cy="209550"/>
          </a:xfrm>
        </p:grpSpPr>
        <p:sp>
          <p:nvSpPr>
            <p:cNvPr id="255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5" name="EVD-API"/>
            <p:cNvSpPr txBox="1"/>
            <p:nvPr/>
          </p:nvSpPr>
          <p:spPr>
            <a:xfrm>
              <a:off x="0" y="-1"/>
              <a:ext cx="1047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EVD-API</a:t>
              </a:r>
            </a:p>
          </p:txBody>
        </p:sp>
      </p:grpSp>
      <p:grpSp>
        <p:nvGrpSpPr>
          <p:cNvPr id="2559" name="成组"/>
          <p:cNvGrpSpPr/>
          <p:nvPr/>
        </p:nvGrpSpPr>
        <p:grpSpPr>
          <a:xfrm>
            <a:off x="2381250" y="1466849"/>
            <a:ext cx="809625" cy="215901"/>
            <a:chOff x="0" y="0"/>
            <a:chExt cx="809625" cy="215900"/>
          </a:xfrm>
        </p:grpSpPr>
        <p:sp>
          <p:nvSpPr>
            <p:cNvPr id="2557" name="矩形"/>
            <p:cNvSpPr/>
            <p:nvPr/>
          </p:nvSpPr>
          <p:spPr>
            <a:xfrm>
              <a:off x="0" y="-1"/>
              <a:ext cx="8096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58" name="8 项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 项</a:t>
              </a:r>
            </a:p>
          </p:txBody>
        </p:sp>
      </p:grpSp>
      <p:grpSp>
        <p:nvGrpSpPr>
          <p:cNvPr id="2562" name="成组"/>
          <p:cNvGrpSpPr/>
          <p:nvPr/>
        </p:nvGrpSpPr>
        <p:grpSpPr>
          <a:xfrm>
            <a:off x="3524250" y="1466849"/>
            <a:ext cx="6858000" cy="215901"/>
            <a:chOff x="0" y="0"/>
            <a:chExt cx="6858000" cy="215900"/>
          </a:xfrm>
        </p:grpSpPr>
        <p:sp>
          <p:nvSpPr>
            <p:cNvPr id="2560" name="矩形"/>
            <p:cNvSpPr/>
            <p:nvPr/>
          </p:nvSpPr>
          <p:spPr>
            <a:xfrm>
              <a:off x="0" y="-1"/>
              <a:ext cx="68580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1" name="健康检查、能力 readiness、任务详情、事件、报告、pending action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健康检查、能力 readiness、任务详情、事件、报告、pending action</a:t>
              </a:r>
            </a:p>
          </p:txBody>
        </p:sp>
      </p:grpSp>
      <p:sp>
        <p:nvSpPr>
          <p:cNvPr id="2563" name="矩形"/>
          <p:cNvSpPr/>
          <p:nvPr/>
        </p:nvSpPr>
        <p:spPr>
          <a:xfrm>
            <a:off x="762000" y="2057400"/>
            <a:ext cx="10191750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66" name="成组"/>
          <p:cNvGrpSpPr/>
          <p:nvPr/>
        </p:nvGrpSpPr>
        <p:grpSpPr>
          <a:xfrm>
            <a:off x="1028700" y="2209799"/>
            <a:ext cx="1047750" cy="209551"/>
            <a:chOff x="0" y="0"/>
            <a:chExt cx="1047750" cy="209550"/>
          </a:xfrm>
        </p:grpSpPr>
        <p:sp>
          <p:nvSpPr>
            <p:cNvPr id="256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5" name="EVD-TEST"/>
            <p:cNvSpPr txBox="1"/>
            <p:nvPr/>
          </p:nvSpPr>
          <p:spPr>
            <a:xfrm>
              <a:off x="0" y="-1"/>
              <a:ext cx="1047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EVD-TEST</a:t>
              </a:r>
            </a:p>
          </p:txBody>
        </p:sp>
      </p:grpSp>
      <p:grpSp>
        <p:nvGrpSpPr>
          <p:cNvPr id="2569" name="成组"/>
          <p:cNvGrpSpPr/>
          <p:nvPr/>
        </p:nvGrpSpPr>
        <p:grpSpPr>
          <a:xfrm>
            <a:off x="2381250" y="2209799"/>
            <a:ext cx="809625" cy="215901"/>
            <a:chOff x="0" y="0"/>
            <a:chExt cx="809625" cy="215900"/>
          </a:xfrm>
        </p:grpSpPr>
        <p:sp>
          <p:nvSpPr>
            <p:cNvPr id="2567" name="矩形"/>
            <p:cNvSpPr/>
            <p:nvPr/>
          </p:nvSpPr>
          <p:spPr>
            <a:xfrm>
              <a:off x="0" y="-1"/>
              <a:ext cx="8096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68" name="4 组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 组</a:t>
              </a:r>
            </a:p>
          </p:txBody>
        </p:sp>
      </p:grpSp>
      <p:grpSp>
        <p:nvGrpSpPr>
          <p:cNvPr id="2572" name="成组"/>
          <p:cNvGrpSpPr/>
          <p:nvPr/>
        </p:nvGrpSpPr>
        <p:grpSpPr>
          <a:xfrm>
            <a:off x="3524250" y="2209799"/>
            <a:ext cx="6858000" cy="215901"/>
            <a:chOff x="0" y="0"/>
            <a:chExt cx="6858000" cy="215900"/>
          </a:xfrm>
        </p:grpSpPr>
        <p:sp>
          <p:nvSpPr>
            <p:cNvPr id="2570" name="矩形"/>
            <p:cNvSpPr/>
            <p:nvPr/>
          </p:nvSpPr>
          <p:spPr>
            <a:xfrm>
              <a:off x="0" y="-1"/>
              <a:ext cx="68580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1" name="API/Web、FSM/HITL/快照、安全恢复工具、CLI 自动化日志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API/Web、FSM/HITL/快照、安全恢复工具、CLI 自动化日志</a:t>
              </a:r>
            </a:p>
          </p:txBody>
        </p:sp>
      </p:grpSp>
      <p:sp>
        <p:nvSpPr>
          <p:cNvPr id="2573" name="矩形"/>
          <p:cNvSpPr/>
          <p:nvPr/>
        </p:nvSpPr>
        <p:spPr>
          <a:xfrm>
            <a:off x="762000" y="28003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76" name="成组"/>
          <p:cNvGrpSpPr/>
          <p:nvPr/>
        </p:nvGrpSpPr>
        <p:grpSpPr>
          <a:xfrm>
            <a:off x="1028700" y="2952749"/>
            <a:ext cx="1047750" cy="209551"/>
            <a:chOff x="0" y="0"/>
            <a:chExt cx="1047750" cy="209550"/>
          </a:xfrm>
        </p:grpSpPr>
        <p:sp>
          <p:nvSpPr>
            <p:cNvPr id="257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5" name="FIG-SV"/>
            <p:cNvSpPr txBox="1"/>
            <p:nvPr/>
          </p:nvSpPr>
          <p:spPr>
            <a:xfrm>
              <a:off x="0" y="-1"/>
              <a:ext cx="1047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FIG-SV</a:t>
              </a:r>
            </a:p>
          </p:txBody>
        </p:sp>
      </p:grpSp>
      <p:grpSp>
        <p:nvGrpSpPr>
          <p:cNvPr id="2579" name="成组"/>
          <p:cNvGrpSpPr/>
          <p:nvPr/>
        </p:nvGrpSpPr>
        <p:grpSpPr>
          <a:xfrm>
            <a:off x="2381250" y="2952749"/>
            <a:ext cx="809625" cy="215901"/>
            <a:chOff x="0" y="0"/>
            <a:chExt cx="809625" cy="215900"/>
          </a:xfrm>
        </p:grpSpPr>
        <p:sp>
          <p:nvSpPr>
            <p:cNvPr id="2577" name="矩形"/>
            <p:cNvSpPr/>
            <p:nvPr/>
          </p:nvSpPr>
          <p:spPr>
            <a:xfrm>
              <a:off x="0" y="-1"/>
              <a:ext cx="8096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78" name="18 张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18 张</a:t>
              </a:r>
            </a:p>
          </p:txBody>
        </p:sp>
      </p:grpSp>
      <p:grpSp>
        <p:nvGrpSpPr>
          <p:cNvPr id="2582" name="成组"/>
          <p:cNvGrpSpPr/>
          <p:nvPr/>
        </p:nvGrpSpPr>
        <p:grpSpPr>
          <a:xfrm>
            <a:off x="3524250" y="2952749"/>
            <a:ext cx="6858000" cy="215901"/>
            <a:chOff x="0" y="0"/>
            <a:chExt cx="6858000" cy="215900"/>
          </a:xfrm>
        </p:grpSpPr>
        <p:sp>
          <p:nvSpPr>
            <p:cNvPr id="2580" name="矩形"/>
            <p:cNvSpPr/>
            <p:nvPr/>
          </p:nvSpPr>
          <p:spPr>
            <a:xfrm>
              <a:off x="0" y="-1"/>
              <a:ext cx="68580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1" name="Dashboard、Task Builder、Task Detail、Timeline 页面截图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Dashboard、Task Builder、Task Detail、Timeline 页面截图</a:t>
              </a:r>
            </a:p>
          </p:txBody>
        </p:sp>
      </p:grpSp>
      <p:sp>
        <p:nvSpPr>
          <p:cNvPr id="2583" name="矩形"/>
          <p:cNvSpPr/>
          <p:nvPr/>
        </p:nvSpPr>
        <p:spPr>
          <a:xfrm>
            <a:off x="762000" y="3543300"/>
            <a:ext cx="10191750" cy="552450"/>
          </a:xfrm>
          <a:prstGeom prst="rect">
            <a:avLst/>
          </a:prstGeom>
          <a:solidFill>
            <a:srgbClr val="FFFFFF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86" name="成组"/>
          <p:cNvGrpSpPr/>
          <p:nvPr/>
        </p:nvGrpSpPr>
        <p:grpSpPr>
          <a:xfrm>
            <a:off x="1028700" y="3695699"/>
            <a:ext cx="1047750" cy="209551"/>
            <a:chOff x="0" y="0"/>
            <a:chExt cx="1047750" cy="209550"/>
          </a:xfrm>
        </p:grpSpPr>
        <p:sp>
          <p:nvSpPr>
            <p:cNvPr id="258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5" name="EVD-LOG"/>
            <p:cNvSpPr txBox="1"/>
            <p:nvPr/>
          </p:nvSpPr>
          <p:spPr>
            <a:xfrm>
              <a:off x="0" y="-1"/>
              <a:ext cx="1047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EVD-LOG</a:t>
              </a:r>
            </a:p>
          </p:txBody>
        </p:sp>
      </p:grpSp>
      <p:grpSp>
        <p:nvGrpSpPr>
          <p:cNvPr id="2589" name="成组"/>
          <p:cNvGrpSpPr/>
          <p:nvPr/>
        </p:nvGrpSpPr>
        <p:grpSpPr>
          <a:xfrm>
            <a:off x="2381250" y="3695699"/>
            <a:ext cx="809625" cy="215901"/>
            <a:chOff x="0" y="0"/>
            <a:chExt cx="809625" cy="215900"/>
          </a:xfrm>
        </p:grpSpPr>
        <p:sp>
          <p:nvSpPr>
            <p:cNvPr id="2587" name="矩形"/>
            <p:cNvSpPr/>
            <p:nvPr/>
          </p:nvSpPr>
          <p:spPr>
            <a:xfrm>
              <a:off x="0" y="-1"/>
              <a:ext cx="8096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88" name="8 组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8 组</a:t>
              </a:r>
            </a:p>
          </p:txBody>
        </p:sp>
      </p:grpSp>
      <p:grpSp>
        <p:nvGrpSpPr>
          <p:cNvPr id="2592" name="成组"/>
          <p:cNvGrpSpPr/>
          <p:nvPr/>
        </p:nvGrpSpPr>
        <p:grpSpPr>
          <a:xfrm>
            <a:off x="3524250" y="3695699"/>
            <a:ext cx="6858000" cy="215901"/>
            <a:chOff x="0" y="0"/>
            <a:chExt cx="6858000" cy="215900"/>
          </a:xfrm>
        </p:grpSpPr>
        <p:sp>
          <p:nvSpPr>
            <p:cNvPr id="2590" name="矩形"/>
            <p:cNvSpPr/>
            <p:nvPr/>
          </p:nvSpPr>
          <p:spPr>
            <a:xfrm>
              <a:off x="0" y="-1"/>
              <a:ext cx="68580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1" name="EventLog、Snapshot、Report、terminal_stop 与等待态恢复样本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EventLog、Snapshot、Report、terminal_stop 与等待态恢复样本</a:t>
              </a:r>
            </a:p>
          </p:txBody>
        </p:sp>
      </p:grpSp>
      <p:sp>
        <p:nvSpPr>
          <p:cNvPr id="2593" name="矩形"/>
          <p:cNvSpPr/>
          <p:nvPr/>
        </p:nvSpPr>
        <p:spPr>
          <a:xfrm>
            <a:off x="762000" y="4286250"/>
            <a:ext cx="10191750" cy="552450"/>
          </a:xfrm>
          <a:prstGeom prst="rect">
            <a:avLst/>
          </a:prstGeom>
          <a:solidFill>
            <a:srgbClr val="F4F8FC"/>
          </a:solidFill>
          <a:ln>
            <a:solidFill>
              <a:srgbClr val="DC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96" name="成组"/>
          <p:cNvGrpSpPr/>
          <p:nvPr/>
        </p:nvGrpSpPr>
        <p:grpSpPr>
          <a:xfrm>
            <a:off x="1028700" y="4438649"/>
            <a:ext cx="1047750" cy="209551"/>
            <a:chOff x="0" y="0"/>
            <a:chExt cx="1047750" cy="209550"/>
          </a:xfrm>
        </p:grpSpPr>
        <p:sp>
          <p:nvSpPr>
            <p:cNvPr id="2594" name="矩形"/>
            <p:cNvSpPr/>
            <p:nvPr/>
          </p:nvSpPr>
          <p:spPr>
            <a:xfrm>
              <a:off x="0" y="0"/>
              <a:ext cx="10477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5" name="EVD-EXP"/>
            <p:cNvSpPr txBox="1"/>
            <p:nvPr/>
          </p:nvSpPr>
          <p:spPr>
            <a:xfrm>
              <a:off x="0" y="-1"/>
              <a:ext cx="1047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EVD-EXP</a:t>
              </a:r>
            </a:p>
          </p:txBody>
        </p:sp>
      </p:grpSp>
      <p:grpSp>
        <p:nvGrpSpPr>
          <p:cNvPr id="2599" name="成组"/>
          <p:cNvGrpSpPr/>
          <p:nvPr/>
        </p:nvGrpSpPr>
        <p:grpSpPr>
          <a:xfrm>
            <a:off x="2381250" y="4438649"/>
            <a:ext cx="809625" cy="215901"/>
            <a:chOff x="0" y="0"/>
            <a:chExt cx="809625" cy="215900"/>
          </a:xfrm>
        </p:grpSpPr>
        <p:sp>
          <p:nvSpPr>
            <p:cNvPr id="2597" name="矩形"/>
            <p:cNvSpPr/>
            <p:nvPr/>
          </p:nvSpPr>
          <p:spPr>
            <a:xfrm>
              <a:off x="0" y="-1"/>
              <a:ext cx="809625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598" name="4 项"/>
            <p:cNvSpPr txBox="1"/>
            <p:nvPr/>
          </p:nvSpPr>
          <p:spPr>
            <a:xfrm>
              <a:off x="0" y="0"/>
              <a:ext cx="809625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4 项</a:t>
              </a:r>
            </a:p>
          </p:txBody>
        </p:sp>
      </p:grpSp>
      <p:grpSp>
        <p:nvGrpSpPr>
          <p:cNvPr id="2602" name="成组"/>
          <p:cNvGrpSpPr/>
          <p:nvPr/>
        </p:nvGrpSpPr>
        <p:grpSpPr>
          <a:xfrm>
            <a:off x="3524250" y="4438649"/>
            <a:ext cx="6858000" cy="215901"/>
            <a:chOff x="0" y="0"/>
            <a:chExt cx="6858000" cy="215900"/>
          </a:xfrm>
        </p:grpSpPr>
        <p:sp>
          <p:nvSpPr>
            <p:cNvPr id="2600" name="矩形"/>
            <p:cNvSpPr/>
            <p:nvPr/>
          </p:nvSpPr>
          <p:spPr>
            <a:xfrm>
              <a:off x="0" y="-1"/>
              <a:ext cx="6858000" cy="2095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01" name="smoke/clean run 与 84-run 实验矩阵聚合产物"/>
            <p:cNvSpPr txBox="1"/>
            <p:nvPr/>
          </p:nvSpPr>
          <p:spPr>
            <a:xfrm>
              <a:off x="0" y="0"/>
              <a:ext cx="6858000" cy="215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62033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smoke/clean run 与 84-run 实验矩阵聚合产物</a:t>
              </a:r>
            </a:p>
          </p:txBody>
        </p:sp>
      </p:grpSp>
      <p:grpSp>
        <p:nvGrpSpPr>
          <p:cNvPr id="2605" name="成组"/>
          <p:cNvGrpSpPr/>
          <p:nvPr/>
        </p:nvGrpSpPr>
        <p:grpSpPr>
          <a:xfrm>
            <a:off x="1047750" y="5572124"/>
            <a:ext cx="9525000" cy="285751"/>
            <a:chOff x="0" y="0"/>
            <a:chExt cx="9525000" cy="285750"/>
          </a:xfrm>
        </p:grpSpPr>
        <p:sp>
          <p:nvSpPr>
            <p:cNvPr id="2603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04" name="证据链覆盖测试充分性与可追溯性两个追问点。"/>
            <p:cNvSpPr txBox="1"/>
            <p:nvPr/>
          </p:nvSpPr>
          <p:spPr>
            <a:xfrm>
              <a:off x="0" y="-1"/>
              <a:ext cx="9525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证据链覆盖测试充分性与可追溯性两个追问点。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7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08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11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609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10" name="备份：系统界面与接口证据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备份：系统界面与接口证据</a:t>
              </a:r>
            </a:p>
          </p:txBody>
        </p:sp>
      </p:grpSp>
      <p:grpSp>
        <p:nvGrpSpPr>
          <p:cNvPr id="2614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612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13" name="BACKUP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615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616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7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8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9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0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1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2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3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4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5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6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7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8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29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0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1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2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3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4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5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6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7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8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9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0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1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2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3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4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5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6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7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8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9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0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1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2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3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4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5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6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7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8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9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0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1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2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3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4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5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6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7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8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9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0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1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2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3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4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5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6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7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8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9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0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1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2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3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4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85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88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686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87" name="20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20</a:t>
              </a:r>
            </a:p>
          </p:txBody>
        </p:sp>
      </p:grpSp>
      <p:sp>
        <p:nvSpPr>
          <p:cNvPr id="2689" name="矩形"/>
          <p:cNvSpPr/>
          <p:nvPr/>
        </p:nvSpPr>
        <p:spPr>
          <a:xfrm>
            <a:off x="59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90" name="image43.png" descr="image43.png"/>
          <p:cNvPicPr>
            <a:picLocks noChangeAspect="1"/>
          </p:cNvPicPr>
          <p:nvPr/>
        </p:nvPicPr>
        <p:blipFill>
          <a:blip r:embed="rId5">
            <a:extLst/>
          </a:blip>
          <a:srcRect l="3811" t="0" r="3810" b="0"/>
          <a:stretch>
            <a:fillRect/>
          </a:stretch>
        </p:blipFill>
        <p:spPr>
          <a:xfrm>
            <a:off x="590549" y="1181100"/>
            <a:ext cx="3429003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1" name="矩形"/>
          <p:cNvSpPr/>
          <p:nvPr/>
        </p:nvSpPr>
        <p:spPr>
          <a:xfrm>
            <a:off x="440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92" name="image74.png" descr="image74.png"/>
          <p:cNvPicPr>
            <a:picLocks noChangeAspect="1"/>
          </p:cNvPicPr>
          <p:nvPr/>
        </p:nvPicPr>
        <p:blipFill>
          <a:blip r:embed="rId6">
            <a:extLst/>
          </a:blip>
          <a:srcRect l="3471" t="0" r="3471" b="0"/>
          <a:stretch>
            <a:fillRect/>
          </a:stretch>
        </p:blipFill>
        <p:spPr>
          <a:xfrm>
            <a:off x="4400550" y="1181100"/>
            <a:ext cx="3429002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3" name="矩形"/>
          <p:cNvSpPr/>
          <p:nvPr/>
        </p:nvSpPr>
        <p:spPr>
          <a:xfrm>
            <a:off x="8210550" y="1181100"/>
            <a:ext cx="34290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94" name="image44.png" descr="image44.png"/>
          <p:cNvPicPr>
            <a:picLocks noChangeAspect="1"/>
          </p:cNvPicPr>
          <p:nvPr/>
        </p:nvPicPr>
        <p:blipFill>
          <a:blip r:embed="rId7">
            <a:extLst/>
          </a:blip>
          <a:srcRect l="3393" t="0" r="3393" b="0"/>
          <a:stretch>
            <a:fillRect/>
          </a:stretch>
        </p:blipFill>
        <p:spPr>
          <a:xfrm>
            <a:off x="8210549" y="1181100"/>
            <a:ext cx="3429003" cy="1809750"/>
          </a:xfrm>
          <a:prstGeom prst="rect">
            <a:avLst/>
          </a:prstGeom>
          <a:ln w="12700">
            <a:miter lim="400000"/>
          </a:ln>
        </p:spPr>
      </p:pic>
      <p:sp>
        <p:nvSpPr>
          <p:cNvPr id="2695" name="矩形"/>
          <p:cNvSpPr/>
          <p:nvPr/>
        </p:nvSpPr>
        <p:spPr>
          <a:xfrm>
            <a:off x="2857500" y="3429000"/>
            <a:ext cx="647700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DE8F4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696" name="image52.png" descr="image52.png"/>
          <p:cNvPicPr>
            <a:picLocks noChangeAspect="1"/>
          </p:cNvPicPr>
          <p:nvPr/>
        </p:nvPicPr>
        <p:blipFill>
          <a:blip r:embed="rId8">
            <a:extLst/>
          </a:blip>
          <a:srcRect l="0" t="15746" r="0" b="15746"/>
          <a:stretch>
            <a:fillRect/>
          </a:stretch>
        </p:blipFill>
        <p:spPr>
          <a:xfrm>
            <a:off x="2857500" y="3429000"/>
            <a:ext cx="6477000" cy="200025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699" name="成组"/>
          <p:cNvGrpSpPr/>
          <p:nvPr/>
        </p:nvGrpSpPr>
        <p:grpSpPr>
          <a:xfrm>
            <a:off x="1047750" y="5772149"/>
            <a:ext cx="9525000" cy="285751"/>
            <a:chOff x="0" y="0"/>
            <a:chExt cx="9525000" cy="285750"/>
          </a:xfrm>
        </p:grpSpPr>
        <p:sp>
          <p:nvSpPr>
            <p:cNvPr id="2697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698" name="Dashboard / Task Builder / Pending Review / Timeline 对应同一套后端任务、事件和决策对象。"/>
            <p:cNvSpPr txBox="1"/>
            <p:nvPr/>
          </p:nvSpPr>
          <p:spPr>
            <a:xfrm>
              <a:off x="0" y="-1"/>
              <a:ext cx="9525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Dashboard / Task Builder / Pending Review / Timeline 对应同一套后端任务、事件和决策对象。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1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702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9550" y="146513"/>
            <a:ext cx="590550" cy="42134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705" name="成组"/>
          <p:cNvGrpSpPr/>
          <p:nvPr/>
        </p:nvGrpSpPr>
        <p:grpSpPr>
          <a:xfrm>
            <a:off x="1000125" y="209549"/>
            <a:ext cx="7239000" cy="438151"/>
            <a:chOff x="0" y="0"/>
            <a:chExt cx="7239000" cy="438150"/>
          </a:xfrm>
        </p:grpSpPr>
        <p:sp>
          <p:nvSpPr>
            <p:cNvPr id="2703" name="矩形"/>
            <p:cNvSpPr/>
            <p:nvPr/>
          </p:nvSpPr>
          <p:spPr>
            <a:xfrm>
              <a:off x="0" y="0"/>
              <a:ext cx="72390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04" name="备份：后续工作"/>
            <p:cNvSpPr txBox="1"/>
            <p:nvPr/>
          </p:nvSpPr>
          <p:spPr>
            <a:xfrm>
              <a:off x="0" y="-1"/>
              <a:ext cx="72390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004EA2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备份：后续工作</a:t>
              </a:r>
            </a:p>
          </p:txBody>
        </p:sp>
      </p:grpSp>
      <p:grpSp>
        <p:nvGrpSpPr>
          <p:cNvPr id="2708" name="成组"/>
          <p:cNvGrpSpPr/>
          <p:nvPr/>
        </p:nvGrpSpPr>
        <p:grpSpPr>
          <a:xfrm>
            <a:off x="8667750" y="228599"/>
            <a:ext cx="1428750" cy="228601"/>
            <a:chOff x="0" y="0"/>
            <a:chExt cx="1428750" cy="228600"/>
          </a:xfrm>
        </p:grpSpPr>
        <p:sp>
          <p:nvSpPr>
            <p:cNvPr id="2706" name="矩形"/>
            <p:cNvSpPr/>
            <p:nvPr/>
          </p:nvSpPr>
          <p:spPr>
            <a:xfrm>
              <a:off x="0" y="0"/>
              <a:ext cx="14287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07" name="BACKUP"/>
            <p:cNvSpPr txBox="1"/>
            <p:nvPr/>
          </p:nvSpPr>
          <p:spPr>
            <a:xfrm>
              <a:off x="0" y="-1"/>
              <a:ext cx="142875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800">
                  <a:solidFill>
                    <a:srgbClr val="6E7D90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BACKUP</a:t>
              </a:r>
            </a:p>
          </p:txBody>
        </p:sp>
      </p:grpSp>
      <p:pic>
        <p:nvPicPr>
          <p:cNvPr id="2709" name="image5.png" descr="image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94365" y="133350"/>
            <a:ext cx="690219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2710" name="矩形"/>
          <p:cNvSpPr/>
          <p:nvPr/>
        </p:nvSpPr>
        <p:spPr>
          <a:xfrm>
            <a:off x="0" y="714375"/>
            <a:ext cx="12192000" cy="28575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1" name="矩形"/>
          <p:cNvSpPr/>
          <p:nvPr/>
        </p:nvSpPr>
        <p:spPr>
          <a:xfrm>
            <a:off x="0" y="771525"/>
            <a:ext cx="12192000" cy="19050"/>
          </a:xfrm>
          <a:prstGeom prst="rect">
            <a:avLst/>
          </a:prstGeom>
          <a:solidFill>
            <a:srgbClr val="8BC7F7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2" name="矩形"/>
          <p:cNvSpPr/>
          <p:nvPr/>
        </p:nvSpPr>
        <p:spPr>
          <a:xfrm>
            <a:off x="26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3" name="矩形"/>
          <p:cNvSpPr/>
          <p:nvPr/>
        </p:nvSpPr>
        <p:spPr>
          <a:xfrm>
            <a:off x="41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4" name="矩形"/>
          <p:cNvSpPr/>
          <p:nvPr/>
        </p:nvSpPr>
        <p:spPr>
          <a:xfrm>
            <a:off x="57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5" name="矩形"/>
          <p:cNvSpPr/>
          <p:nvPr/>
        </p:nvSpPr>
        <p:spPr>
          <a:xfrm>
            <a:off x="72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6" name="矩形"/>
          <p:cNvSpPr/>
          <p:nvPr/>
        </p:nvSpPr>
        <p:spPr>
          <a:xfrm>
            <a:off x="87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7" name="矩形"/>
          <p:cNvSpPr/>
          <p:nvPr/>
        </p:nvSpPr>
        <p:spPr>
          <a:xfrm>
            <a:off x="102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8" name="矩形"/>
          <p:cNvSpPr/>
          <p:nvPr/>
        </p:nvSpPr>
        <p:spPr>
          <a:xfrm>
            <a:off x="118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9" name="矩形"/>
          <p:cNvSpPr/>
          <p:nvPr/>
        </p:nvSpPr>
        <p:spPr>
          <a:xfrm>
            <a:off x="133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0" name="矩形"/>
          <p:cNvSpPr/>
          <p:nvPr/>
        </p:nvSpPr>
        <p:spPr>
          <a:xfrm>
            <a:off x="148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1" name="矩形"/>
          <p:cNvSpPr/>
          <p:nvPr/>
        </p:nvSpPr>
        <p:spPr>
          <a:xfrm>
            <a:off x="163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2" name="矩形"/>
          <p:cNvSpPr/>
          <p:nvPr/>
        </p:nvSpPr>
        <p:spPr>
          <a:xfrm>
            <a:off x="179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3" name="矩形"/>
          <p:cNvSpPr/>
          <p:nvPr/>
        </p:nvSpPr>
        <p:spPr>
          <a:xfrm>
            <a:off x="194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4" name="矩形"/>
          <p:cNvSpPr/>
          <p:nvPr/>
        </p:nvSpPr>
        <p:spPr>
          <a:xfrm>
            <a:off x="209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5" name="矩形"/>
          <p:cNvSpPr/>
          <p:nvPr/>
        </p:nvSpPr>
        <p:spPr>
          <a:xfrm>
            <a:off x="224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6" name="矩形"/>
          <p:cNvSpPr/>
          <p:nvPr/>
        </p:nvSpPr>
        <p:spPr>
          <a:xfrm>
            <a:off x="240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7" name="矩形"/>
          <p:cNvSpPr/>
          <p:nvPr/>
        </p:nvSpPr>
        <p:spPr>
          <a:xfrm>
            <a:off x="255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8" name="矩形"/>
          <p:cNvSpPr/>
          <p:nvPr/>
        </p:nvSpPr>
        <p:spPr>
          <a:xfrm>
            <a:off x="270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9" name="矩形"/>
          <p:cNvSpPr/>
          <p:nvPr/>
        </p:nvSpPr>
        <p:spPr>
          <a:xfrm>
            <a:off x="285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0" name="矩形"/>
          <p:cNvSpPr/>
          <p:nvPr/>
        </p:nvSpPr>
        <p:spPr>
          <a:xfrm>
            <a:off x="300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1" name="矩形"/>
          <p:cNvSpPr/>
          <p:nvPr/>
        </p:nvSpPr>
        <p:spPr>
          <a:xfrm>
            <a:off x="316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2" name="矩形"/>
          <p:cNvSpPr/>
          <p:nvPr/>
        </p:nvSpPr>
        <p:spPr>
          <a:xfrm>
            <a:off x="331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3" name="矩形"/>
          <p:cNvSpPr/>
          <p:nvPr/>
        </p:nvSpPr>
        <p:spPr>
          <a:xfrm>
            <a:off x="346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4" name="矩形"/>
          <p:cNvSpPr/>
          <p:nvPr/>
        </p:nvSpPr>
        <p:spPr>
          <a:xfrm>
            <a:off x="361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5" name="矩形"/>
          <p:cNvSpPr/>
          <p:nvPr/>
        </p:nvSpPr>
        <p:spPr>
          <a:xfrm>
            <a:off x="377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6" name="矩形"/>
          <p:cNvSpPr/>
          <p:nvPr/>
        </p:nvSpPr>
        <p:spPr>
          <a:xfrm>
            <a:off x="392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7" name="矩形"/>
          <p:cNvSpPr/>
          <p:nvPr/>
        </p:nvSpPr>
        <p:spPr>
          <a:xfrm>
            <a:off x="407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8" name="矩形"/>
          <p:cNvSpPr/>
          <p:nvPr/>
        </p:nvSpPr>
        <p:spPr>
          <a:xfrm>
            <a:off x="422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9" name="矩形"/>
          <p:cNvSpPr/>
          <p:nvPr/>
        </p:nvSpPr>
        <p:spPr>
          <a:xfrm>
            <a:off x="438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0" name="矩形"/>
          <p:cNvSpPr/>
          <p:nvPr/>
        </p:nvSpPr>
        <p:spPr>
          <a:xfrm>
            <a:off x="453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1" name="矩形"/>
          <p:cNvSpPr/>
          <p:nvPr/>
        </p:nvSpPr>
        <p:spPr>
          <a:xfrm>
            <a:off x="468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2" name="矩形"/>
          <p:cNvSpPr/>
          <p:nvPr/>
        </p:nvSpPr>
        <p:spPr>
          <a:xfrm>
            <a:off x="483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3" name="矩形"/>
          <p:cNvSpPr/>
          <p:nvPr/>
        </p:nvSpPr>
        <p:spPr>
          <a:xfrm>
            <a:off x="499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4" name="矩形"/>
          <p:cNvSpPr/>
          <p:nvPr/>
        </p:nvSpPr>
        <p:spPr>
          <a:xfrm>
            <a:off x="514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5" name="矩形"/>
          <p:cNvSpPr/>
          <p:nvPr/>
        </p:nvSpPr>
        <p:spPr>
          <a:xfrm>
            <a:off x="529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6" name="矩形"/>
          <p:cNvSpPr/>
          <p:nvPr/>
        </p:nvSpPr>
        <p:spPr>
          <a:xfrm>
            <a:off x="544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7" name="矩形"/>
          <p:cNvSpPr/>
          <p:nvPr/>
        </p:nvSpPr>
        <p:spPr>
          <a:xfrm>
            <a:off x="560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8" name="矩形"/>
          <p:cNvSpPr/>
          <p:nvPr/>
        </p:nvSpPr>
        <p:spPr>
          <a:xfrm>
            <a:off x="575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9" name="矩形"/>
          <p:cNvSpPr/>
          <p:nvPr/>
        </p:nvSpPr>
        <p:spPr>
          <a:xfrm>
            <a:off x="590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0" name="矩形"/>
          <p:cNvSpPr/>
          <p:nvPr/>
        </p:nvSpPr>
        <p:spPr>
          <a:xfrm>
            <a:off x="605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1" name="矩形"/>
          <p:cNvSpPr/>
          <p:nvPr/>
        </p:nvSpPr>
        <p:spPr>
          <a:xfrm>
            <a:off x="621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2" name="矩形"/>
          <p:cNvSpPr/>
          <p:nvPr/>
        </p:nvSpPr>
        <p:spPr>
          <a:xfrm>
            <a:off x="636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3" name="矩形"/>
          <p:cNvSpPr/>
          <p:nvPr/>
        </p:nvSpPr>
        <p:spPr>
          <a:xfrm>
            <a:off x="651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4" name="矩形"/>
          <p:cNvSpPr/>
          <p:nvPr/>
        </p:nvSpPr>
        <p:spPr>
          <a:xfrm>
            <a:off x="6667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5" name="矩形"/>
          <p:cNvSpPr/>
          <p:nvPr/>
        </p:nvSpPr>
        <p:spPr>
          <a:xfrm>
            <a:off x="6819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6" name="矩形"/>
          <p:cNvSpPr/>
          <p:nvPr/>
        </p:nvSpPr>
        <p:spPr>
          <a:xfrm>
            <a:off x="6972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7" name="矩形"/>
          <p:cNvSpPr/>
          <p:nvPr/>
        </p:nvSpPr>
        <p:spPr>
          <a:xfrm>
            <a:off x="7124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8" name="矩形"/>
          <p:cNvSpPr/>
          <p:nvPr/>
        </p:nvSpPr>
        <p:spPr>
          <a:xfrm>
            <a:off x="7277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9" name="矩形"/>
          <p:cNvSpPr/>
          <p:nvPr/>
        </p:nvSpPr>
        <p:spPr>
          <a:xfrm>
            <a:off x="7429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0" name="矩形"/>
          <p:cNvSpPr/>
          <p:nvPr/>
        </p:nvSpPr>
        <p:spPr>
          <a:xfrm>
            <a:off x="7581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1" name="矩形"/>
          <p:cNvSpPr/>
          <p:nvPr/>
        </p:nvSpPr>
        <p:spPr>
          <a:xfrm>
            <a:off x="7734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2" name="矩形"/>
          <p:cNvSpPr/>
          <p:nvPr/>
        </p:nvSpPr>
        <p:spPr>
          <a:xfrm>
            <a:off x="7886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3" name="矩形"/>
          <p:cNvSpPr/>
          <p:nvPr/>
        </p:nvSpPr>
        <p:spPr>
          <a:xfrm>
            <a:off x="8039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4" name="矩形"/>
          <p:cNvSpPr/>
          <p:nvPr/>
        </p:nvSpPr>
        <p:spPr>
          <a:xfrm>
            <a:off x="8191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5" name="矩形"/>
          <p:cNvSpPr/>
          <p:nvPr/>
        </p:nvSpPr>
        <p:spPr>
          <a:xfrm>
            <a:off x="8343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6" name="矩形"/>
          <p:cNvSpPr/>
          <p:nvPr/>
        </p:nvSpPr>
        <p:spPr>
          <a:xfrm>
            <a:off x="8496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7" name="矩形"/>
          <p:cNvSpPr/>
          <p:nvPr/>
        </p:nvSpPr>
        <p:spPr>
          <a:xfrm>
            <a:off x="8648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8" name="矩形"/>
          <p:cNvSpPr/>
          <p:nvPr/>
        </p:nvSpPr>
        <p:spPr>
          <a:xfrm>
            <a:off x="8801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9" name="矩形"/>
          <p:cNvSpPr/>
          <p:nvPr/>
        </p:nvSpPr>
        <p:spPr>
          <a:xfrm>
            <a:off x="8953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0" name="矩形"/>
          <p:cNvSpPr/>
          <p:nvPr/>
        </p:nvSpPr>
        <p:spPr>
          <a:xfrm>
            <a:off x="9105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1" name="矩形"/>
          <p:cNvSpPr/>
          <p:nvPr/>
        </p:nvSpPr>
        <p:spPr>
          <a:xfrm>
            <a:off x="9258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2" name="矩形"/>
          <p:cNvSpPr/>
          <p:nvPr/>
        </p:nvSpPr>
        <p:spPr>
          <a:xfrm>
            <a:off x="9410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3" name="矩形"/>
          <p:cNvSpPr/>
          <p:nvPr/>
        </p:nvSpPr>
        <p:spPr>
          <a:xfrm>
            <a:off x="9563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4" name="矩形"/>
          <p:cNvSpPr/>
          <p:nvPr/>
        </p:nvSpPr>
        <p:spPr>
          <a:xfrm>
            <a:off x="97155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5" name="矩形"/>
          <p:cNvSpPr/>
          <p:nvPr/>
        </p:nvSpPr>
        <p:spPr>
          <a:xfrm>
            <a:off x="98679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6" name="矩形"/>
          <p:cNvSpPr/>
          <p:nvPr/>
        </p:nvSpPr>
        <p:spPr>
          <a:xfrm>
            <a:off x="100203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7" name="矩形"/>
          <p:cNvSpPr/>
          <p:nvPr/>
        </p:nvSpPr>
        <p:spPr>
          <a:xfrm>
            <a:off x="101727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8" name="矩形"/>
          <p:cNvSpPr/>
          <p:nvPr/>
        </p:nvSpPr>
        <p:spPr>
          <a:xfrm>
            <a:off x="10325100" y="6362700"/>
            <a:ext cx="95250" cy="190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779" name="image3.png" descr="image3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050" y="6535384"/>
            <a:ext cx="2000250" cy="19755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782" name="成组"/>
          <p:cNvGrpSpPr/>
          <p:nvPr/>
        </p:nvGrpSpPr>
        <p:grpSpPr>
          <a:xfrm>
            <a:off x="11544300" y="6486524"/>
            <a:ext cx="304800" cy="247651"/>
            <a:chOff x="0" y="0"/>
            <a:chExt cx="304800" cy="247650"/>
          </a:xfrm>
        </p:grpSpPr>
        <p:sp>
          <p:nvSpPr>
            <p:cNvPr id="2780" name="矩形"/>
            <p:cNvSpPr/>
            <p:nvPr/>
          </p:nvSpPr>
          <p:spPr>
            <a:xfrm>
              <a:off x="0" y="0"/>
              <a:ext cx="3048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1" name="21"/>
            <p:cNvSpPr txBox="1"/>
            <p:nvPr/>
          </p:nvSpPr>
          <p:spPr>
            <a:xfrm>
              <a:off x="0" y="-1"/>
              <a:ext cx="3048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300">
                  <a:solidFill>
                    <a:srgbClr val="8A8F98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21</a:t>
              </a:r>
            </a:p>
          </p:txBody>
        </p:sp>
      </p:grpSp>
      <p:sp>
        <p:nvSpPr>
          <p:cNvPr id="2783" name="矩形"/>
          <p:cNvSpPr/>
          <p:nvPr/>
        </p:nvSpPr>
        <p:spPr>
          <a:xfrm>
            <a:off x="857250" y="1428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4" name="矩形"/>
          <p:cNvSpPr/>
          <p:nvPr/>
        </p:nvSpPr>
        <p:spPr>
          <a:xfrm>
            <a:off x="857250" y="1428750"/>
            <a:ext cx="47625" cy="1238250"/>
          </a:xfrm>
          <a:prstGeom prst="rect">
            <a:avLst/>
          </a:prstGeom>
          <a:solidFill>
            <a:srgbClr val="004EA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87" name="成组"/>
          <p:cNvGrpSpPr/>
          <p:nvPr/>
        </p:nvGrpSpPr>
        <p:grpSpPr>
          <a:xfrm>
            <a:off x="1028700" y="1562099"/>
            <a:ext cx="4181475" cy="279401"/>
            <a:chOff x="0" y="0"/>
            <a:chExt cx="4181475" cy="279400"/>
          </a:xfrm>
        </p:grpSpPr>
        <p:sp>
          <p:nvSpPr>
            <p:cNvPr id="2785" name="矩形"/>
            <p:cNvSpPr/>
            <p:nvPr/>
          </p:nvSpPr>
          <p:spPr>
            <a:xfrm>
              <a:off x="0" y="-1"/>
              <a:ext cx="4181475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6" name="扩大任务矩阵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扩大任务矩阵</a:t>
              </a:r>
            </a:p>
          </p:txBody>
        </p:sp>
      </p:grpSp>
      <p:grpSp>
        <p:nvGrpSpPr>
          <p:cNvPr id="2790" name="成组"/>
          <p:cNvGrpSpPr/>
          <p:nvPr/>
        </p:nvGrpSpPr>
        <p:grpSpPr>
          <a:xfrm>
            <a:off x="1028700" y="1885949"/>
            <a:ext cx="4181475" cy="685801"/>
            <a:chOff x="0" y="0"/>
            <a:chExt cx="4181475" cy="685800"/>
          </a:xfrm>
        </p:grpSpPr>
        <p:sp>
          <p:nvSpPr>
            <p:cNvPr id="2788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89" name="引入更多工具不可用、预算冲突、schema 错误、I/O 闭包错误和安全约束冲突任务。"/>
            <p:cNvSpPr txBox="1"/>
            <p:nvPr/>
          </p:nvSpPr>
          <p:spPr>
            <a:xfrm>
              <a:off x="0" y="-1"/>
              <a:ext cx="418147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引入更多工具不可用、预算冲突、schema 错误、I/O 闭包错误和安全约束冲突任务。</a:t>
              </a:r>
            </a:p>
          </p:txBody>
        </p:sp>
      </p:grpSp>
      <p:sp>
        <p:nvSpPr>
          <p:cNvPr id="2791" name="矩形"/>
          <p:cNvSpPr/>
          <p:nvPr/>
        </p:nvSpPr>
        <p:spPr>
          <a:xfrm>
            <a:off x="6096000" y="1428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2" name="矩形"/>
          <p:cNvSpPr/>
          <p:nvPr/>
        </p:nvSpPr>
        <p:spPr>
          <a:xfrm>
            <a:off x="6096000" y="1428750"/>
            <a:ext cx="47625" cy="1238250"/>
          </a:xfrm>
          <a:prstGeom prst="rect">
            <a:avLst/>
          </a:prstGeom>
          <a:solidFill>
            <a:srgbClr val="D8A32D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95" name="成组"/>
          <p:cNvGrpSpPr/>
          <p:nvPr/>
        </p:nvGrpSpPr>
        <p:grpSpPr>
          <a:xfrm>
            <a:off x="6267450" y="1562099"/>
            <a:ext cx="4181475" cy="279401"/>
            <a:chOff x="0" y="0"/>
            <a:chExt cx="4181475" cy="279400"/>
          </a:xfrm>
        </p:grpSpPr>
        <p:sp>
          <p:nvSpPr>
            <p:cNvPr id="2793" name="矩形"/>
            <p:cNvSpPr/>
            <p:nvPr/>
          </p:nvSpPr>
          <p:spPr>
            <a:xfrm>
              <a:off x="0" y="-1"/>
              <a:ext cx="4181475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94" name="强化恢复压力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强化恢复压力</a:t>
              </a:r>
            </a:p>
          </p:txBody>
        </p:sp>
      </p:grpSp>
      <p:grpSp>
        <p:nvGrpSpPr>
          <p:cNvPr id="2798" name="成组"/>
          <p:cNvGrpSpPr/>
          <p:nvPr/>
        </p:nvGrpSpPr>
        <p:grpSpPr>
          <a:xfrm>
            <a:off x="6267450" y="1885949"/>
            <a:ext cx="4181475" cy="685801"/>
            <a:chOff x="0" y="0"/>
            <a:chExt cx="4181475" cy="685800"/>
          </a:xfrm>
        </p:grpSpPr>
        <p:sp>
          <p:nvSpPr>
            <p:cNvPr id="2796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797" name="让 patch_local、suffix_replan、terminal_stop 和 safety block 在批量矩阵中均可观察。"/>
            <p:cNvSpPr txBox="1"/>
            <p:nvPr/>
          </p:nvSpPr>
          <p:spPr>
            <a:xfrm>
              <a:off x="0" y="-1"/>
              <a:ext cx="418147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让 patch_local、suffix_replan、terminal_stop 和 safety block 在批量矩阵中均可观察。</a:t>
              </a:r>
            </a:p>
          </p:txBody>
        </p:sp>
      </p:grpSp>
      <p:sp>
        <p:nvSpPr>
          <p:cNvPr id="2799" name="矩形"/>
          <p:cNvSpPr/>
          <p:nvPr/>
        </p:nvSpPr>
        <p:spPr>
          <a:xfrm>
            <a:off x="857250" y="3333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00" name="矩形"/>
          <p:cNvSpPr/>
          <p:nvPr/>
        </p:nvSpPr>
        <p:spPr>
          <a:xfrm>
            <a:off x="857250" y="3333750"/>
            <a:ext cx="47625" cy="1238250"/>
          </a:xfrm>
          <a:prstGeom prst="rect">
            <a:avLst/>
          </a:prstGeom>
          <a:solidFill>
            <a:srgbClr val="2E9D65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03" name="成组"/>
          <p:cNvGrpSpPr/>
          <p:nvPr/>
        </p:nvGrpSpPr>
        <p:grpSpPr>
          <a:xfrm>
            <a:off x="1028700" y="3467099"/>
            <a:ext cx="4181475" cy="279401"/>
            <a:chOff x="0" y="0"/>
            <a:chExt cx="4181475" cy="279400"/>
          </a:xfrm>
        </p:grpSpPr>
        <p:sp>
          <p:nvSpPr>
            <p:cNvPr id="2801" name="矩形"/>
            <p:cNvSpPr/>
            <p:nvPr/>
          </p:nvSpPr>
          <p:spPr>
            <a:xfrm>
              <a:off x="0" y="-1"/>
              <a:ext cx="4181475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02" name="完善工程底座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完善工程底座</a:t>
              </a:r>
            </a:p>
          </p:txBody>
        </p:sp>
      </p:grpSp>
      <p:grpSp>
        <p:nvGrpSpPr>
          <p:cNvPr id="2806" name="成组"/>
          <p:cNvGrpSpPr/>
          <p:nvPr/>
        </p:nvGrpSpPr>
        <p:grpSpPr>
          <a:xfrm>
            <a:off x="1028700" y="3790949"/>
            <a:ext cx="4181475" cy="685801"/>
            <a:chOff x="0" y="0"/>
            <a:chExt cx="4181475" cy="685800"/>
          </a:xfrm>
        </p:grpSpPr>
        <p:sp>
          <p:nvSpPr>
            <p:cNvPr id="2804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05" name="增强数据库持久化、ProteinToolKG 动态更新、远程服务探活和配额管理。"/>
            <p:cNvSpPr txBox="1"/>
            <p:nvPr/>
          </p:nvSpPr>
          <p:spPr>
            <a:xfrm>
              <a:off x="0" y="-1"/>
              <a:ext cx="418147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增强数据库持久化、ProteinToolKG 动态更新、远程服务探活和配额管理。</a:t>
              </a:r>
            </a:p>
          </p:txBody>
        </p:sp>
      </p:grpSp>
      <p:sp>
        <p:nvSpPr>
          <p:cNvPr id="2807" name="矩形"/>
          <p:cNvSpPr/>
          <p:nvPr/>
        </p:nvSpPr>
        <p:spPr>
          <a:xfrm>
            <a:off x="6096000" y="3333750"/>
            <a:ext cx="4524375" cy="1238250"/>
          </a:xfrm>
          <a:prstGeom prst="rect">
            <a:avLst/>
          </a:prstGeom>
          <a:solidFill>
            <a:srgbClr val="FFFFFF"/>
          </a:solidFill>
          <a:ln>
            <a:solidFill>
              <a:srgbClr val="D8E4F0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08" name="矩形"/>
          <p:cNvSpPr/>
          <p:nvPr/>
        </p:nvSpPr>
        <p:spPr>
          <a:xfrm>
            <a:off x="6096000" y="3333750"/>
            <a:ext cx="47625" cy="1238250"/>
          </a:xfrm>
          <a:prstGeom prst="rect">
            <a:avLst/>
          </a:prstGeom>
          <a:solidFill>
            <a:srgbClr val="1D8FE3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11" name="成组"/>
          <p:cNvGrpSpPr/>
          <p:nvPr/>
        </p:nvGrpSpPr>
        <p:grpSpPr>
          <a:xfrm>
            <a:off x="6267450" y="3467099"/>
            <a:ext cx="4181475" cy="279401"/>
            <a:chOff x="0" y="0"/>
            <a:chExt cx="4181475" cy="279400"/>
          </a:xfrm>
        </p:grpSpPr>
        <p:sp>
          <p:nvSpPr>
            <p:cNvPr id="2809" name="矩形"/>
            <p:cNvSpPr/>
            <p:nvPr/>
          </p:nvSpPr>
          <p:spPr>
            <a:xfrm>
              <a:off x="0" y="-1"/>
              <a:ext cx="4181475" cy="2476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0" name="加入外部比较"/>
            <p:cNvSpPr txBox="1"/>
            <p:nvPr/>
          </p:nvSpPr>
          <p:spPr>
            <a:xfrm>
              <a:off x="0" y="0"/>
              <a:ext cx="4181475" cy="279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加入外部比较</a:t>
              </a:r>
            </a:p>
          </p:txBody>
        </p:sp>
      </p:grpSp>
      <p:grpSp>
        <p:nvGrpSpPr>
          <p:cNvPr id="2814" name="成组"/>
          <p:cNvGrpSpPr/>
          <p:nvPr/>
        </p:nvGrpSpPr>
        <p:grpSpPr>
          <a:xfrm>
            <a:off x="6267450" y="3790949"/>
            <a:ext cx="4181475" cy="685801"/>
            <a:chOff x="0" y="0"/>
            <a:chExt cx="4181475" cy="685800"/>
          </a:xfrm>
        </p:grpSpPr>
        <p:sp>
          <p:nvSpPr>
            <p:cNvPr id="2812" name="矩形"/>
            <p:cNvSpPr/>
            <p:nvPr/>
          </p:nvSpPr>
          <p:spPr>
            <a:xfrm>
              <a:off x="0" y="0"/>
              <a:ext cx="4181475" cy="685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3" name="引入更多 Agent 方法和蛋白质设计前沿方法作为比较对象。"/>
            <p:cNvSpPr txBox="1"/>
            <p:nvPr/>
          </p:nvSpPr>
          <p:spPr>
            <a:xfrm>
              <a:off x="0" y="-1"/>
              <a:ext cx="4181475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526071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引入更多 Agent 方法和蛋白质设计前沿方法作为比较对象。</a:t>
              </a:r>
            </a:p>
          </p:txBody>
        </p:sp>
      </p:grpSp>
      <p:grpSp>
        <p:nvGrpSpPr>
          <p:cNvPr id="2817" name="成组"/>
          <p:cNvGrpSpPr/>
          <p:nvPr/>
        </p:nvGrpSpPr>
        <p:grpSpPr>
          <a:xfrm>
            <a:off x="1047750" y="5619749"/>
            <a:ext cx="9525000" cy="285751"/>
            <a:chOff x="0" y="0"/>
            <a:chExt cx="9525000" cy="285750"/>
          </a:xfrm>
        </p:grpSpPr>
        <p:sp>
          <p:nvSpPr>
            <p:cNvPr id="2815" name="矩形"/>
            <p:cNvSpPr/>
            <p:nvPr/>
          </p:nvSpPr>
          <p:spPr>
            <a:xfrm>
              <a:off x="0" y="0"/>
              <a:ext cx="9525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16" name="改进方向仍服务于同一目标：让高代价科研工作流更可控、更可恢复、更可审计。"/>
            <p:cNvSpPr txBox="1"/>
            <p:nvPr/>
          </p:nvSpPr>
          <p:spPr>
            <a:xfrm>
              <a:off x="0" y="-1"/>
              <a:ext cx="9525000" cy="266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500">
                  <a:solidFill>
                    <a:srgbClr val="092A5E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改进方向仍服务于同一目标：让高代价科研工作流更可控、更可恢复、更可审计。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9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2A5E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20" name="矩形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83B82"/>
              </a:gs>
              <a:gs pos="58000">
                <a:srgbClr val="0869B8"/>
              </a:gs>
              <a:gs pos="100000">
                <a:srgbClr val="0B8ED6"/>
              </a:gs>
            </a:gsLst>
            <a:lin ang="8100000"/>
          </a:gra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21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822" name="image.jpeg" descr="image.jpeg"/>
          <p:cNvPicPr>
            <a:picLocks noChangeAspect="1"/>
          </p:cNvPicPr>
          <p:nvPr/>
        </p:nvPicPr>
        <p:blipFill>
          <a:blip r:embed="rId2">
            <a:extLst/>
          </a:blip>
          <a:srcRect l="23864" t="0" r="23864" b="0"/>
          <a:stretch>
            <a:fillRect/>
          </a:stretch>
        </p:blipFill>
        <p:spPr>
          <a:xfrm>
            <a:off x="-2" y="3714750"/>
            <a:ext cx="2190753" cy="3143250"/>
          </a:xfrm>
          <a:prstGeom prst="rect">
            <a:avLst/>
          </a:prstGeom>
          <a:ln w="12700">
            <a:miter lim="400000"/>
          </a:ln>
        </p:spPr>
      </p:pic>
      <p:sp>
        <p:nvSpPr>
          <p:cNvPr id="2823" name="矩形"/>
          <p:cNvSpPr/>
          <p:nvPr/>
        </p:nvSpPr>
        <p:spPr>
          <a:xfrm>
            <a:off x="0" y="3524250"/>
            <a:ext cx="2190750" cy="3333750"/>
          </a:xfrm>
          <a:prstGeom prst="rect">
            <a:avLst/>
          </a:prstGeom>
          <a:solidFill>
            <a:srgbClr val="063B82">
              <a:alpha val="8000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824" name="image2.png" descr="image2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8979" y="457200"/>
            <a:ext cx="2428877" cy="68179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827" name="成组"/>
          <p:cNvGrpSpPr/>
          <p:nvPr/>
        </p:nvGrpSpPr>
        <p:grpSpPr>
          <a:xfrm>
            <a:off x="3476625" y="2400299"/>
            <a:ext cx="2476500" cy="742951"/>
            <a:chOff x="0" y="0"/>
            <a:chExt cx="2476500" cy="742950"/>
          </a:xfrm>
        </p:grpSpPr>
        <p:sp>
          <p:nvSpPr>
            <p:cNvPr id="2825" name="矩形"/>
            <p:cNvSpPr/>
            <p:nvPr/>
          </p:nvSpPr>
          <p:spPr>
            <a:xfrm>
              <a:off x="0" y="0"/>
              <a:ext cx="2476500" cy="742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7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pPr>
            </a:p>
          </p:txBody>
        </p:sp>
        <p:sp>
          <p:nvSpPr>
            <p:cNvPr id="2826" name="谢谢"/>
            <p:cNvSpPr txBox="1"/>
            <p:nvPr/>
          </p:nvSpPr>
          <p:spPr>
            <a:xfrm>
              <a:off x="0" y="-1"/>
              <a:ext cx="2476500" cy="660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70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  <a:sym typeface="Microsoft YaHei"/>
                </a:defRPr>
              </a:lvl1pPr>
            </a:lstStyle>
            <a:p>
              <a:pPr/>
              <a:r>
                <a:t>谢谢</a:t>
              </a:r>
            </a:p>
          </p:txBody>
        </p:sp>
      </p:grpSp>
      <p:grpSp>
        <p:nvGrpSpPr>
          <p:cNvPr id="2830" name="成组"/>
          <p:cNvGrpSpPr/>
          <p:nvPr/>
        </p:nvGrpSpPr>
        <p:grpSpPr>
          <a:xfrm>
            <a:off x="3124200" y="3600449"/>
            <a:ext cx="3238500" cy="742951"/>
            <a:chOff x="0" y="0"/>
            <a:chExt cx="3238500" cy="742950"/>
          </a:xfrm>
        </p:grpSpPr>
        <p:sp>
          <p:nvSpPr>
            <p:cNvPr id="2828" name="矩形"/>
            <p:cNvSpPr/>
            <p:nvPr/>
          </p:nvSpPr>
          <p:spPr>
            <a:xfrm>
              <a:off x="0" y="0"/>
              <a:ext cx="3238500" cy="742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4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829" name="Thanks"/>
            <p:cNvSpPr txBox="1"/>
            <p:nvPr/>
          </p:nvSpPr>
          <p:spPr>
            <a:xfrm>
              <a:off x="0" y="-1"/>
              <a:ext cx="3238500" cy="5548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40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Thanks</a:t>
              </a:r>
            </a:p>
          </p:txBody>
        </p:sp>
      </p:grpSp>
      <p:grpSp>
        <p:nvGrpSpPr>
          <p:cNvPr id="2833" name="成组"/>
          <p:cNvGrpSpPr/>
          <p:nvPr/>
        </p:nvGrpSpPr>
        <p:grpSpPr>
          <a:xfrm>
            <a:off x="6860757" y="253323"/>
            <a:ext cx="5941230" cy="6820445"/>
            <a:chOff x="0" y="0"/>
            <a:chExt cx="5941229" cy="6820443"/>
          </a:xfrm>
        </p:grpSpPr>
        <p:pic>
          <p:nvPicPr>
            <p:cNvPr id="2831" name="Picture 11" descr="Picture 11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 rot="21439852">
              <a:off x="329473" y="122937"/>
              <a:ext cx="5433097" cy="65745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832" name="Picture 18" descr="Picture 18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 rot="21416039">
              <a:off x="169875" y="152721"/>
              <a:ext cx="5601480" cy="65019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